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19"/>
  </p:notesMasterIdLst>
  <p:handoutMasterIdLst>
    <p:handoutMasterId r:id="rId20"/>
  </p:handoutMasterIdLst>
  <p:sldIdLst>
    <p:sldId id="511" r:id="rId3"/>
    <p:sldId id="529" r:id="rId4"/>
    <p:sldId id="530" r:id="rId5"/>
    <p:sldId id="576" r:id="rId6"/>
    <p:sldId id="533" r:id="rId7"/>
    <p:sldId id="573" r:id="rId8"/>
    <p:sldId id="574" r:id="rId9"/>
    <p:sldId id="575" r:id="rId10"/>
    <p:sldId id="534" r:id="rId11"/>
    <p:sldId id="522" r:id="rId12"/>
    <p:sldId id="538" r:id="rId13"/>
    <p:sldId id="537" r:id="rId14"/>
    <p:sldId id="536" r:id="rId15"/>
    <p:sldId id="541" r:id="rId16"/>
    <p:sldId id="572" r:id="rId17"/>
    <p:sldId id="568" r:id="rId18"/>
  </p:sldIdLst>
  <p:sldSz cx="9144000" cy="5143500" type="screen16x9"/>
  <p:notesSz cx="6858000" cy="9144000"/>
  <p:custDataLst>
    <p:tags r:id="rId21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" userDrawn="1">
          <p15:clr>
            <a:srgbClr val="A4A3A4"/>
          </p15:clr>
        </p15:guide>
        <p15:guide id="2" orient="horz" pos="3039" userDrawn="1">
          <p15:clr>
            <a:srgbClr val="A4A3A4"/>
          </p15:clr>
        </p15:guide>
        <p15:guide id="3" orient="horz" pos="2676" userDrawn="1">
          <p15:clr>
            <a:srgbClr val="A4A3A4"/>
          </p15:clr>
        </p15:guide>
        <p15:guide id="4" orient="horz" pos="2771" userDrawn="1">
          <p15:clr>
            <a:srgbClr val="A4A3A4"/>
          </p15:clr>
        </p15:guide>
        <p15:guide id="5" pos="143" userDrawn="1">
          <p15:clr>
            <a:srgbClr val="A4A3A4"/>
          </p15:clr>
        </p15:guide>
        <p15:guide id="6" pos="5647" userDrawn="1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304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56" autoAdjust="0"/>
  </p:normalViewPr>
  <p:slideViewPr>
    <p:cSldViewPr snapToGrid="0" showGuides="1">
      <p:cViewPr varScale="1">
        <p:scale>
          <a:sx n="137" d="100"/>
          <a:sy n="137" d="100"/>
        </p:scale>
        <p:origin x="92" y="156"/>
      </p:cViewPr>
      <p:guideLst>
        <p:guide orient="horz" pos="284"/>
        <p:guide orient="horz" pos="3039"/>
        <p:guide orient="horz" pos="2676"/>
        <p:guide orient="horz" pos="2771"/>
        <p:guide pos="143"/>
        <p:guide pos="56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2026/06/01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2026/06/01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4B6A-D291-7514-B515-6B6C3959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8A3F3C-E483-786B-7B5B-009755CAC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143DB4-FD5E-CF7A-5EDB-6E5B9F2D3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891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5803146-42E8-4762-AC50-92C136F6EA99}" type="datetimeFigureOut">
              <a:rPr lang="zh-CN" altLang="en-US" smtClean="0"/>
              <a:t>2026/06/01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>
                <a:ea typeface="汉仪雅酷黑 65W" charset="0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55004"/>
            <a:ext cx="9143999" cy="2888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323664" y="1380329"/>
            <a:ext cx="2749826" cy="150333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1"/>
          </p:nvPr>
        </p:nvSpPr>
        <p:spPr>
          <a:xfrm>
            <a:off x="3197087" y="1380328"/>
            <a:ext cx="2749826" cy="150333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2"/>
          </p:nvPr>
        </p:nvSpPr>
        <p:spPr>
          <a:xfrm>
            <a:off x="6070509" y="1380329"/>
            <a:ext cx="2749826" cy="150333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669989D-4831-4E99-B76E-9A53CB0F3A88}" type="datetimeFigureOut">
              <a:rPr lang="zh-CN" altLang="en-US" smtClean="0"/>
              <a:t>2026/06/01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E3F9CDB-1F21-4789-A81E-8FEA25CE194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晏振东-思源3"/>
          <p:cNvPicPr>
            <a:picLocks noChangeAspect="1"/>
          </p:cNvPicPr>
          <p:nvPr/>
        </p:nvPicPr>
        <p:blipFill>
          <a:blip r:embed="rId2"/>
          <a:srcRect t="26246" b="12120"/>
          <a:stretch>
            <a:fillRect/>
          </a:stretch>
        </p:blipFill>
        <p:spPr>
          <a:xfrm>
            <a:off x="0" y="1040418"/>
            <a:ext cx="9144000" cy="410308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762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478568"/>
            <a:ext cx="9144000" cy="36649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6986270" y="283498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5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sp>
        <p:nvSpPr>
          <p:cNvPr id="3" name="椭圆 2"/>
          <p:cNvSpPr/>
          <p:nvPr/>
        </p:nvSpPr>
        <p:spPr>
          <a:xfrm>
            <a:off x="3738489" y="766689"/>
            <a:ext cx="1667021" cy="1667021"/>
          </a:xfrm>
          <a:prstGeom prst="ellipse">
            <a:avLst/>
          </a:prstGeom>
          <a:ln w="57150">
            <a:solidFill>
              <a:srgbClr val="EEF2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 descr="校徽(1)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  <a:alpha val="0"/>
                </a:srgbClr>
              </a:clrTo>
            </a:clrChange>
            <a:lum bright="100000" contrast="-70000"/>
          </a:blip>
          <a:srcRect l="26399" r="24283" b="2118"/>
          <a:stretch>
            <a:fillRect/>
          </a:stretch>
        </p:blipFill>
        <p:spPr>
          <a:xfrm>
            <a:off x="3948430" y="996950"/>
            <a:ext cx="1288415" cy="1177290"/>
          </a:xfrm>
          <a:prstGeom prst="rect">
            <a:avLst/>
          </a:prstGeom>
          <a:effectLst/>
        </p:spPr>
      </p:pic>
      <p:pic>
        <p:nvPicPr>
          <p:cNvPr id="16" name="图片占位符 15" descr="e1e5b2e9-ad9f-4c75-9471-db340264e94a"/>
          <p:cNvPicPr>
            <a:picLocks noGrp="1" noChangeAspect="1"/>
          </p:cNvPicPr>
          <p:nvPr>
            <p:ph type="pic" sz="quarter" idx="20"/>
          </p:nvPr>
        </p:nvPicPr>
        <p:blipFill>
          <a:blip r:embed="rId4">
            <a:lum bright="100000"/>
          </a:blip>
          <a:stretch>
            <a:fillRect/>
          </a:stretch>
        </p:blipFill>
        <p:spPr>
          <a:xfrm>
            <a:off x="7039610" y="472440"/>
            <a:ext cx="1283335" cy="661670"/>
          </a:xfrm>
          <a:prstGeom prst="rect">
            <a:avLst/>
          </a:prstGeom>
        </p:spPr>
      </p:pic>
      <p:pic>
        <p:nvPicPr>
          <p:cNvPr id="17" name="图片占位符 12" descr="4f618d73-2c01-4a2f-a8a4-7c2c53bf0c3d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8316595" y="496570"/>
            <a:ext cx="841375" cy="576580"/>
          </a:xfrm>
          <a:prstGeom prst="rect">
            <a:avLst/>
          </a:prstGeom>
        </p:spPr>
      </p:pic>
      <p:pic>
        <p:nvPicPr>
          <p:cNvPr id="6" name="图片 5" descr="反白稿校标组合-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95" y="283210"/>
            <a:ext cx="1639570" cy="41275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 bwMode="auto">
          <a:xfrm>
            <a:off x="3556338" y="257175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立项答辩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536552" y="3903791"/>
            <a:ext cx="6070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团队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成员：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包宇含 李雪莹 辛铭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 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指导老师：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郑帅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       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学院：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计算机科学与技术学院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CD564C-8C46-3E33-8ACD-E476D5F678CD}"/>
              </a:ext>
            </a:extLst>
          </p:cNvPr>
          <p:cNvSpPr txBox="1"/>
          <p:nvPr/>
        </p:nvSpPr>
        <p:spPr>
          <a:xfrm>
            <a:off x="2172944" y="3573953"/>
            <a:ext cx="4798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项目名称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基于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MLLM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阿里巴巴普惠体"/>
              </a:rPr>
              <a:t>的多智能体协同推理与医疗决策共识机制研究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6985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051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矩形 123"/>
          <p:cNvSpPr/>
          <p:nvPr/>
        </p:nvSpPr>
        <p:spPr bwMode="auto">
          <a:xfrm>
            <a:off x="3893185" y="317500"/>
            <a:ext cx="136271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汉仪旗黑-50S" panose="00020600040101010101" charset="-122"/>
              </a:rPr>
              <a:t>目 录</a:t>
            </a:r>
            <a:endParaRPr lang="en-US" altLang="zh-CN" sz="4000" b="1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cs typeface="汉仪旗黑-50S" panose="00020600040101010101" charset="-122"/>
            </a:endParaRPr>
          </a:p>
        </p:txBody>
      </p:sp>
      <p:sp>
        <p:nvSpPr>
          <p:cNvPr id="133" name="文本框 6"/>
          <p:cNvSpPr txBox="1">
            <a:spLocks noChangeArrowheads="1"/>
          </p:cNvSpPr>
          <p:nvPr/>
        </p:nvSpPr>
        <p:spPr bwMode="auto">
          <a:xfrm>
            <a:off x="1704101" y="225651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项目背景</a:t>
            </a:r>
          </a:p>
        </p:txBody>
      </p:sp>
      <p:sp>
        <p:nvSpPr>
          <p:cNvPr id="131" name="文本框 6"/>
          <p:cNvSpPr txBox="1">
            <a:spLocks noChangeArrowheads="1"/>
          </p:cNvSpPr>
          <p:nvPr/>
        </p:nvSpPr>
        <p:spPr bwMode="auto">
          <a:xfrm>
            <a:off x="5920218" y="225651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项目计划</a:t>
            </a:r>
          </a:p>
        </p:txBody>
      </p:sp>
      <p:sp>
        <p:nvSpPr>
          <p:cNvPr id="142" name="文本框 6"/>
          <p:cNvSpPr txBox="1">
            <a:spLocks noChangeArrowheads="1"/>
          </p:cNvSpPr>
          <p:nvPr/>
        </p:nvSpPr>
        <p:spPr bwMode="auto">
          <a:xfrm>
            <a:off x="1704101" y="356447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项目内容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243753" y="2247631"/>
            <a:ext cx="455286" cy="432340"/>
            <a:chOff x="920911" y="2391806"/>
            <a:chExt cx="455286" cy="432340"/>
          </a:xfrm>
        </p:grpSpPr>
        <p:sp>
          <p:nvSpPr>
            <p:cNvPr id="4" name="椭圆 3"/>
            <p:cNvSpPr/>
            <p:nvPr/>
          </p:nvSpPr>
          <p:spPr>
            <a:xfrm>
              <a:off x="932384" y="2391806"/>
              <a:ext cx="432340" cy="4323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920911" y="2438699"/>
              <a:ext cx="4552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汉仪旗黑-50S" panose="00020600040101010101" charset="-122"/>
                </a:rPr>
                <a:t>01</a:t>
              </a: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1243753" y="3559428"/>
            <a:ext cx="455286" cy="432340"/>
            <a:chOff x="920911" y="2391806"/>
            <a:chExt cx="455286" cy="432340"/>
          </a:xfrm>
        </p:grpSpPr>
        <p:sp>
          <p:nvSpPr>
            <p:cNvPr id="148" name="椭圆 147"/>
            <p:cNvSpPr/>
            <p:nvPr/>
          </p:nvSpPr>
          <p:spPr>
            <a:xfrm>
              <a:off x="932384" y="2391806"/>
              <a:ext cx="432340" cy="4323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920911" y="2438699"/>
              <a:ext cx="4552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汉仪旗黑-50S" panose="00020600040101010101" charset="-122"/>
                </a:rPr>
                <a:t>02</a:t>
              </a: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5465895" y="2247631"/>
            <a:ext cx="455286" cy="432340"/>
            <a:chOff x="920911" y="2391806"/>
            <a:chExt cx="455286" cy="432340"/>
          </a:xfrm>
        </p:grpSpPr>
        <p:sp>
          <p:nvSpPr>
            <p:cNvPr id="151" name="椭圆 150"/>
            <p:cNvSpPr/>
            <p:nvPr/>
          </p:nvSpPr>
          <p:spPr>
            <a:xfrm>
              <a:off x="932384" y="2391806"/>
              <a:ext cx="432340" cy="4323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920911" y="2438699"/>
              <a:ext cx="4552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汉仪旗黑-50S" panose="00020600040101010101" charset="-122"/>
                </a:rPr>
                <a:t>03</a:t>
              </a:r>
            </a:p>
          </p:txBody>
        </p:sp>
      </p:grpSp>
      <p:sp>
        <p:nvSpPr>
          <p:cNvPr id="91" name="矩形 90"/>
          <p:cNvSpPr/>
          <p:nvPr/>
        </p:nvSpPr>
        <p:spPr>
          <a:xfrm>
            <a:off x="6986270" y="251748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5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pic>
        <p:nvPicPr>
          <p:cNvPr id="8" name="图片占位符 7" descr="e1e5b2e9-ad9f-4c75-9471-db340264e94a"/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7039610" y="472440"/>
            <a:ext cx="1283335" cy="661670"/>
          </a:xfrm>
          <a:prstGeom prst="rect">
            <a:avLst/>
          </a:prstGeom>
        </p:spPr>
      </p:pic>
      <p:pic>
        <p:nvPicPr>
          <p:cNvPr id="12" name="图片占位符 12" descr="4f618d73-2c01-4a2f-a8a4-7c2c53bf0c3d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8322945" y="504190"/>
            <a:ext cx="841375" cy="576580"/>
          </a:xfrm>
          <a:prstGeom prst="rect">
            <a:avLst/>
          </a:prstGeom>
        </p:spPr>
      </p:pic>
      <p:pic>
        <p:nvPicPr>
          <p:cNvPr id="6" name="图片 5" descr="反白稿校标组合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5" y="283210"/>
            <a:ext cx="1639570" cy="412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2416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01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351153" y="2617767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cs typeface="汉仪旗黑-50S" panose="00020600040101010101" charset="-122"/>
                <a:sym typeface="汉仪旗黑-50S"/>
              </a:rPr>
              <a:t>项目背景</a:t>
            </a: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第一单元</a:t>
            </a:r>
          </a:p>
        </p:txBody>
      </p:sp>
      <p:sp>
        <p:nvSpPr>
          <p:cNvPr id="91" name="矩形 90"/>
          <p:cNvSpPr/>
          <p:nvPr/>
        </p:nvSpPr>
        <p:spPr>
          <a:xfrm>
            <a:off x="6986270" y="175548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5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pic>
        <p:nvPicPr>
          <p:cNvPr id="6" name="图片占位符 5" descr="e1e5b2e9-ad9f-4c75-9471-db340264e94a"/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7039610" y="472440"/>
            <a:ext cx="1283335" cy="661670"/>
          </a:xfrm>
          <a:prstGeom prst="rect">
            <a:avLst/>
          </a:prstGeom>
        </p:spPr>
      </p:pic>
      <p:pic>
        <p:nvPicPr>
          <p:cNvPr id="12" name="图片占位符 12" descr="4f618d73-2c01-4a2f-a8a4-7c2c53bf0c3d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8316595" y="496570"/>
            <a:ext cx="841375" cy="576580"/>
          </a:xfrm>
          <a:prstGeom prst="rect">
            <a:avLst/>
          </a:prstGeom>
        </p:spPr>
      </p:pic>
      <p:pic>
        <p:nvPicPr>
          <p:cNvPr id="8" name="图片 7" descr="反白稿校标组合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5" y="283210"/>
            <a:ext cx="1639570" cy="412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B6FE-EFC5-E3CC-3B36-D9F54753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5578A2D7-23B6-DF62-89E7-95FAFB35C840}"/>
              </a:ext>
            </a:extLst>
          </p:cNvPr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4D4DCD-3723-99A7-5829-6D901FD6539D}"/>
              </a:ext>
            </a:extLst>
          </p:cNvPr>
          <p:cNvSpPr/>
          <p:nvPr/>
        </p:nvSpPr>
        <p:spPr bwMode="auto">
          <a:xfrm>
            <a:off x="7497984" y="8144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研究背景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852523-041C-B02F-825E-EB8438816FBC}"/>
              </a:ext>
            </a:extLst>
          </p:cNvPr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1A5D02A-07A1-2A42-046C-6D808453A958}"/>
                </a:ext>
              </a:extLst>
            </p:cNvPr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6200279-ACCF-3BCF-EB49-3172540A5B41}"/>
                </a:ext>
              </a:extLst>
            </p:cNvPr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3E35268-AA51-7FF5-FB8B-300B4E3C8ABD}"/>
                </a:ext>
              </a:extLst>
            </p:cNvPr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反白稿校标组合-3">
            <a:extLst>
              <a:ext uri="{FF2B5EF4-FFF2-40B4-BE49-F238E27FC236}">
                <a16:creationId xmlns:a16="http://schemas.microsoft.com/office/drawing/2014/main" id="{19960FD9-F4AE-801D-DAA1-27F73098A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1600"/>
            <a:ext cx="1639570" cy="4127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CFDBE03-1EAB-2F7D-DC5F-A1E4603DD145}"/>
              </a:ext>
            </a:extLst>
          </p:cNvPr>
          <p:cNvSpPr/>
          <p:nvPr/>
        </p:nvSpPr>
        <p:spPr>
          <a:xfrm>
            <a:off x="4172530" y="1406459"/>
            <a:ext cx="1692402" cy="2331567"/>
          </a:xfrm>
          <a:prstGeom prst="rect">
            <a:avLst/>
          </a:prstGeom>
          <a:noFill/>
          <a:ln w="28575">
            <a:solidFill>
              <a:srgbClr val="30437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872DBBE-B494-B335-90A9-9B3267EE9526}"/>
              </a:ext>
            </a:extLst>
          </p:cNvPr>
          <p:cNvGrpSpPr/>
          <p:nvPr/>
        </p:nvGrpSpPr>
        <p:grpSpPr>
          <a:xfrm>
            <a:off x="4376114" y="2028240"/>
            <a:ext cx="1288170" cy="1276300"/>
            <a:chOff x="3738490" y="766690"/>
            <a:chExt cx="1417116" cy="1404058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6BAABC6-09D3-E1A5-2AC2-F4CF0629B23C}"/>
                </a:ext>
              </a:extLst>
            </p:cNvPr>
            <p:cNvSpPr/>
            <p:nvPr/>
          </p:nvSpPr>
          <p:spPr>
            <a:xfrm>
              <a:off x="3738490" y="766690"/>
              <a:ext cx="1404058" cy="1404058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E34BC9D-44C7-BA06-2672-1EE1BC44C73E}"/>
                </a:ext>
              </a:extLst>
            </p:cNvPr>
            <p:cNvSpPr txBox="1"/>
            <p:nvPr/>
          </p:nvSpPr>
          <p:spPr>
            <a:xfrm>
              <a:off x="3738490" y="1282497"/>
              <a:ext cx="1417116" cy="37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汉仪旗黑-50S"/>
                </a:rPr>
                <a:t>单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智能体</a:t>
              </a:r>
            </a:p>
          </p:txBody>
        </p: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AB215C1-4219-B498-D2A1-8DDE64A66E28}"/>
              </a:ext>
            </a:extLst>
          </p:cNvPr>
          <p:cNvCxnSpPr>
            <a:cxnSpLocks/>
          </p:cNvCxnSpPr>
          <p:nvPr/>
        </p:nvCxnSpPr>
        <p:spPr>
          <a:xfrm>
            <a:off x="5014264" y="3282372"/>
            <a:ext cx="8936" cy="613526"/>
          </a:xfrm>
          <a:prstGeom prst="straightConnector1">
            <a:avLst/>
          </a:prstGeom>
          <a:ln w="38100">
            <a:solidFill>
              <a:srgbClr val="30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B0D903A-F526-70C4-35BD-72B1F0CF8247}"/>
              </a:ext>
            </a:extLst>
          </p:cNvPr>
          <p:cNvCxnSpPr>
            <a:cxnSpLocks/>
          </p:cNvCxnSpPr>
          <p:nvPr/>
        </p:nvCxnSpPr>
        <p:spPr>
          <a:xfrm>
            <a:off x="4999329" y="1215210"/>
            <a:ext cx="12164" cy="835198"/>
          </a:xfrm>
          <a:prstGeom prst="straightConnector1">
            <a:avLst/>
          </a:prstGeom>
          <a:ln w="38100">
            <a:solidFill>
              <a:srgbClr val="30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BD405E65-D2DF-6AC9-B0D7-B5AC4877D2B1}"/>
              </a:ext>
            </a:extLst>
          </p:cNvPr>
          <p:cNvSpPr/>
          <p:nvPr/>
        </p:nvSpPr>
        <p:spPr>
          <a:xfrm>
            <a:off x="4376114" y="793563"/>
            <a:ext cx="4407668" cy="428009"/>
          </a:xfrm>
          <a:prstGeom prst="rect">
            <a:avLst/>
          </a:prstGeom>
          <a:noFill/>
          <a:ln w="28575">
            <a:solidFill>
              <a:srgbClr val="30437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BBA078D0-A96A-67D8-3301-F6B2E48DF52A}"/>
              </a:ext>
            </a:extLst>
          </p:cNvPr>
          <p:cNvSpPr/>
          <p:nvPr/>
        </p:nvSpPr>
        <p:spPr>
          <a:xfrm>
            <a:off x="5956444" y="838290"/>
            <a:ext cx="12470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复杂病例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A0B0C2B-FAC2-B43C-C773-3348F3213E9C}"/>
              </a:ext>
            </a:extLst>
          </p:cNvPr>
          <p:cNvSpPr/>
          <p:nvPr/>
        </p:nvSpPr>
        <p:spPr>
          <a:xfrm>
            <a:off x="4376114" y="3897203"/>
            <a:ext cx="1276300" cy="737373"/>
          </a:xfrm>
          <a:prstGeom prst="rect">
            <a:avLst/>
          </a:prstGeom>
          <a:noFill/>
          <a:ln w="28575">
            <a:solidFill>
              <a:srgbClr val="30437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D34B521D-8E96-6B4C-50E6-88A40BFCF1CE}"/>
              </a:ext>
            </a:extLst>
          </p:cNvPr>
          <p:cNvSpPr/>
          <p:nvPr/>
        </p:nvSpPr>
        <p:spPr>
          <a:xfrm>
            <a:off x="4491111" y="4096612"/>
            <a:ext cx="10552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单一结果</a:t>
            </a:r>
          </a:p>
        </p:txBody>
      </p:sp>
      <p:sp>
        <p:nvSpPr>
          <p:cNvPr id="35" name="矩形 34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9AD5FC71-B386-8EB1-F86E-B3BDF622AA24}"/>
              </a:ext>
            </a:extLst>
          </p:cNvPr>
          <p:cNvSpPr/>
          <p:nvPr/>
        </p:nvSpPr>
        <p:spPr>
          <a:xfrm>
            <a:off x="4577437" y="3369699"/>
            <a:ext cx="8825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决策</a:t>
            </a:r>
          </a:p>
        </p:txBody>
      </p:sp>
      <p:sp>
        <p:nvSpPr>
          <p:cNvPr id="36" name="矩形 35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E5D3907B-FDC5-AD58-5CD3-5B8B62FBA5A3}"/>
              </a:ext>
            </a:extLst>
          </p:cNvPr>
          <p:cNvSpPr/>
          <p:nvPr/>
        </p:nvSpPr>
        <p:spPr>
          <a:xfrm>
            <a:off x="4049816" y="1473942"/>
            <a:ext cx="10552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“黑盒”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2DAD5DB-F594-7BCA-6C70-C0BF200F2D4E}"/>
              </a:ext>
            </a:extLst>
          </p:cNvPr>
          <p:cNvSpPr/>
          <p:nvPr/>
        </p:nvSpPr>
        <p:spPr>
          <a:xfrm>
            <a:off x="6051436" y="1406459"/>
            <a:ext cx="2863964" cy="2331567"/>
          </a:xfrm>
          <a:prstGeom prst="rect">
            <a:avLst/>
          </a:prstGeom>
          <a:noFill/>
          <a:ln w="28575">
            <a:solidFill>
              <a:srgbClr val="30437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C946F16-BDF0-29A0-870E-F42D5BDFF90A}"/>
              </a:ext>
            </a:extLst>
          </p:cNvPr>
          <p:cNvGrpSpPr/>
          <p:nvPr/>
        </p:nvGrpSpPr>
        <p:grpSpPr>
          <a:xfrm>
            <a:off x="6122042" y="1522592"/>
            <a:ext cx="915809" cy="915808"/>
            <a:chOff x="3738490" y="766690"/>
            <a:chExt cx="1007481" cy="1007481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8002CA5-6142-39FA-2B12-D1234C5B630F}"/>
                </a:ext>
              </a:extLst>
            </p:cNvPr>
            <p:cNvSpPr/>
            <p:nvPr/>
          </p:nvSpPr>
          <p:spPr>
            <a:xfrm>
              <a:off x="3738490" y="766690"/>
              <a:ext cx="1007481" cy="100748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614A524-AC0A-2C99-8127-F7031C911F3D}"/>
                </a:ext>
              </a:extLst>
            </p:cNvPr>
            <p:cNvSpPr txBox="1"/>
            <p:nvPr/>
          </p:nvSpPr>
          <p:spPr>
            <a:xfrm>
              <a:off x="3784979" y="1084209"/>
              <a:ext cx="914501" cy="37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智能体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BF9CAEE-AE4D-1B61-5FB0-4F20404F6F51}"/>
              </a:ext>
            </a:extLst>
          </p:cNvPr>
          <p:cNvGrpSpPr/>
          <p:nvPr/>
        </p:nvGrpSpPr>
        <p:grpSpPr>
          <a:xfrm>
            <a:off x="7108457" y="1522592"/>
            <a:ext cx="915809" cy="915808"/>
            <a:chOff x="3738490" y="766690"/>
            <a:chExt cx="1007481" cy="1007481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92DCCF0-0C08-4C42-A4F2-2A83C5C8423A}"/>
                </a:ext>
              </a:extLst>
            </p:cNvPr>
            <p:cNvSpPr/>
            <p:nvPr/>
          </p:nvSpPr>
          <p:spPr>
            <a:xfrm>
              <a:off x="3738490" y="766690"/>
              <a:ext cx="1007481" cy="100748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C59D339-5C08-641C-67FB-07A28882B37D}"/>
                </a:ext>
              </a:extLst>
            </p:cNvPr>
            <p:cNvSpPr txBox="1"/>
            <p:nvPr/>
          </p:nvSpPr>
          <p:spPr>
            <a:xfrm>
              <a:off x="3784979" y="1084209"/>
              <a:ext cx="914501" cy="37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智能体</a:t>
              </a:r>
            </a:p>
          </p:txBody>
        </p:sp>
      </p:grpSp>
      <p:sp>
        <p:nvSpPr>
          <p:cNvPr id="46" name="矩形 45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AF4287CD-79F2-DBEF-489F-8B9254E41740}"/>
              </a:ext>
            </a:extLst>
          </p:cNvPr>
          <p:cNvSpPr/>
          <p:nvPr/>
        </p:nvSpPr>
        <p:spPr>
          <a:xfrm>
            <a:off x="7860158" y="1731994"/>
            <a:ext cx="10552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……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旗黑-50S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8A7E2BA-7C17-4464-8689-36C870E7ABA2}"/>
              </a:ext>
            </a:extLst>
          </p:cNvPr>
          <p:cNvCxnSpPr>
            <a:cxnSpLocks/>
          </p:cNvCxnSpPr>
          <p:nvPr/>
        </p:nvCxnSpPr>
        <p:spPr>
          <a:xfrm>
            <a:off x="7526394" y="1221572"/>
            <a:ext cx="6082" cy="184887"/>
          </a:xfrm>
          <a:prstGeom prst="straightConnector1">
            <a:avLst/>
          </a:prstGeom>
          <a:ln w="38100">
            <a:solidFill>
              <a:srgbClr val="30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1450339-4E5C-718C-57EA-42F27DD02653}"/>
              </a:ext>
            </a:extLst>
          </p:cNvPr>
          <p:cNvCxnSpPr>
            <a:cxnSpLocks/>
          </p:cNvCxnSpPr>
          <p:nvPr/>
        </p:nvCxnSpPr>
        <p:spPr>
          <a:xfrm>
            <a:off x="6592089" y="2315146"/>
            <a:ext cx="0" cy="863553"/>
          </a:xfrm>
          <a:prstGeom prst="straightConnector1">
            <a:avLst/>
          </a:prstGeom>
          <a:ln w="38100">
            <a:solidFill>
              <a:srgbClr val="30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25176628-EA76-4B76-4D3A-CCC1016B3C44}"/>
              </a:ext>
            </a:extLst>
          </p:cNvPr>
          <p:cNvSpPr/>
          <p:nvPr/>
        </p:nvSpPr>
        <p:spPr>
          <a:xfrm>
            <a:off x="6155262" y="2549345"/>
            <a:ext cx="8825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决策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0F6B518-DBED-66F6-37BC-2D3AE6E37333}"/>
              </a:ext>
            </a:extLst>
          </p:cNvPr>
          <p:cNvCxnSpPr>
            <a:cxnSpLocks/>
          </p:cNvCxnSpPr>
          <p:nvPr/>
        </p:nvCxnSpPr>
        <p:spPr>
          <a:xfrm>
            <a:off x="7574036" y="2315146"/>
            <a:ext cx="0" cy="863553"/>
          </a:xfrm>
          <a:prstGeom prst="straightConnector1">
            <a:avLst/>
          </a:prstGeom>
          <a:ln w="38100">
            <a:solidFill>
              <a:srgbClr val="30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A0E4496D-4CFE-5E06-554F-E9ABA755EB30}"/>
              </a:ext>
            </a:extLst>
          </p:cNvPr>
          <p:cNvSpPr/>
          <p:nvPr/>
        </p:nvSpPr>
        <p:spPr>
          <a:xfrm>
            <a:off x="7132743" y="2549345"/>
            <a:ext cx="8825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决策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86A7F60-6038-7A26-AD7C-F251660E403A}"/>
              </a:ext>
            </a:extLst>
          </p:cNvPr>
          <p:cNvSpPr/>
          <p:nvPr/>
        </p:nvSpPr>
        <p:spPr>
          <a:xfrm>
            <a:off x="6165636" y="3178699"/>
            <a:ext cx="2516128" cy="428009"/>
          </a:xfrm>
          <a:prstGeom prst="rect">
            <a:avLst/>
          </a:prstGeom>
          <a:noFill/>
          <a:ln w="28575">
            <a:solidFill>
              <a:srgbClr val="30437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EF10BB7C-96CA-0A99-A08B-5FA80A15DB0E}"/>
              </a:ext>
            </a:extLst>
          </p:cNvPr>
          <p:cNvSpPr/>
          <p:nvPr/>
        </p:nvSpPr>
        <p:spPr>
          <a:xfrm>
            <a:off x="6923016" y="3223426"/>
            <a:ext cx="11499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达成共识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B7CFEB6-5817-8368-89EE-C90759EADE85}"/>
              </a:ext>
            </a:extLst>
          </p:cNvPr>
          <p:cNvSpPr/>
          <p:nvPr/>
        </p:nvSpPr>
        <p:spPr>
          <a:xfrm>
            <a:off x="6164300" y="3895898"/>
            <a:ext cx="2544271" cy="737373"/>
          </a:xfrm>
          <a:prstGeom prst="rect">
            <a:avLst/>
          </a:prstGeom>
          <a:noFill/>
          <a:ln w="28575">
            <a:solidFill>
              <a:srgbClr val="30437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0FCBB31E-EB62-18E3-8516-E51E6519AEF3}"/>
              </a:ext>
            </a:extLst>
          </p:cNvPr>
          <p:cNvSpPr/>
          <p:nvPr/>
        </p:nvSpPr>
        <p:spPr>
          <a:xfrm>
            <a:off x="6794061" y="4095307"/>
            <a:ext cx="12470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最终结果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DC4BAD9-95AA-29A7-2168-6A93791F7DB9}"/>
              </a:ext>
            </a:extLst>
          </p:cNvPr>
          <p:cNvCxnSpPr>
            <a:cxnSpLocks/>
            <a:stCxn id="54" idx="2"/>
            <a:endCxn id="58" idx="0"/>
          </p:cNvCxnSpPr>
          <p:nvPr/>
        </p:nvCxnSpPr>
        <p:spPr>
          <a:xfrm>
            <a:off x="7423700" y="3606708"/>
            <a:ext cx="12736" cy="289190"/>
          </a:xfrm>
          <a:prstGeom prst="straightConnector1">
            <a:avLst/>
          </a:prstGeom>
          <a:ln w="38100">
            <a:solidFill>
              <a:srgbClr val="30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>
            <a:extLst>
              <a:ext uri="{FF2B5EF4-FFF2-40B4-BE49-F238E27FC236}">
                <a16:creationId xmlns:a16="http://schemas.microsoft.com/office/drawing/2014/main" id="{3A382C00-72B5-FCA1-DC09-ABDCF15CE674}"/>
              </a:ext>
            </a:extLst>
          </p:cNvPr>
          <p:cNvSpPr/>
          <p:nvPr/>
        </p:nvSpPr>
        <p:spPr>
          <a:xfrm>
            <a:off x="7895461" y="1456335"/>
            <a:ext cx="10552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多智能体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954EFFD-9D87-C4DF-0B7D-7EC45A2F0F35}"/>
              </a:ext>
            </a:extLst>
          </p:cNvPr>
          <p:cNvSpPr txBox="1"/>
          <p:nvPr/>
        </p:nvSpPr>
        <p:spPr>
          <a:xfrm>
            <a:off x="219284" y="1298675"/>
            <a:ext cx="3672317" cy="249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临床痛点：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复杂病例多学科共识难达成，且现有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决策缺乏透明度与全链路可解释性。</a:t>
            </a:r>
          </a:p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技术趋势：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正从“通用大模型”向“架构驱动”转型，模拟临床推理架构成为新突破口。</a:t>
            </a:r>
          </a:p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现有局限：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当前多智能体框架多停留在“简单投票”阶段，缺乏深层逻辑冲突消解能力。</a:t>
            </a:r>
          </a:p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研究定位：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构建基于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MLLM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的多智能体协同框架，通过模拟真实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MDT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流程，提供高可靠、透明化的辅助诊断。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77110D7-1044-EAAC-2C54-456B767D828E}"/>
              </a:ext>
            </a:extLst>
          </p:cNvPr>
          <p:cNvSpPr txBox="1"/>
          <p:nvPr/>
        </p:nvSpPr>
        <p:spPr>
          <a:xfrm>
            <a:off x="230162" y="7825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" dirty="0">
                <a:solidFill>
                  <a:schemeClr val="accent1"/>
                </a:solidFill>
                <a:ea typeface="思源宋体 CN Heavy" pitchFamily="18" charset="-122"/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31461835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919058" y="793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行业研究现状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反白稿校标组合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1600"/>
            <a:ext cx="1639570" cy="4127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4663D0C-848D-BD70-7B9E-0290B89444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40" y="742657"/>
            <a:ext cx="3484292" cy="355749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C3BE52A-FF02-BB4E-7A68-490C1B5181B4}"/>
              </a:ext>
            </a:extLst>
          </p:cNvPr>
          <p:cNvSpPr/>
          <p:nvPr/>
        </p:nvSpPr>
        <p:spPr>
          <a:xfrm>
            <a:off x="120944" y="4263049"/>
            <a:ext cx="3316083" cy="275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Evo-</a:t>
            </a:r>
            <a:r>
              <a:rPr lang="en-US" altLang="zh-CN" sz="9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MedAgent</a:t>
            </a:r>
            <a:r>
              <a:rPr lang="en-US" altLang="zh-CN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在两个胸部</a:t>
            </a:r>
            <a:r>
              <a:rPr lang="en-US" altLang="zh-CN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光病例中的表现展示。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F572C1-D4C4-F4B2-3306-70C8C1AE5BA7}"/>
              </a:ext>
            </a:extLst>
          </p:cNvPr>
          <p:cNvSpPr txBox="1"/>
          <p:nvPr/>
        </p:nvSpPr>
        <p:spPr>
          <a:xfrm>
            <a:off x="3437027" y="1122238"/>
            <a:ext cx="53942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zh-CN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前期失误：</a:t>
            </a:r>
            <a:r>
              <a:rPr lang="zh-CN" altLang="zh-CN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智能体错误地将左侧胸腔积液归因于肺炎；而真实诊断是由肋骨骨刺引起的血胸。</a:t>
            </a:r>
          </a:p>
          <a:p>
            <a:pPr algn="l">
              <a:spcAft>
                <a:spcPts val="600"/>
              </a:spcAft>
            </a:pPr>
            <a:r>
              <a:rPr lang="zh-CN" altLang="zh-CN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记忆进化：</a:t>
            </a:r>
            <a:r>
              <a:rPr lang="zh-CN" altLang="zh-CN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系统通过对过往病例的回顾与反思，识别出此前漏诊了“骨骼检查”这一环节，并从中提炼出两条新的程序性规则。</a:t>
            </a:r>
          </a:p>
          <a:p>
            <a:pPr algn="l">
              <a:spcAft>
                <a:spcPts val="600"/>
              </a:spcAft>
            </a:pPr>
            <a:r>
              <a:rPr lang="zh-CN" altLang="zh-CN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记忆引导：</a:t>
            </a:r>
            <a:r>
              <a:rPr lang="zh-CN" altLang="zh-CN" sz="1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在后续的一个病例中，没有加载记忆模块的智能体将右下肺叶的密度增高影误诊为肺不张；而加载了记忆模块的智能体则成功调用了之前提炼的规则，从而准确识别出了恶性的胸膜基底肿块。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E2659D-50D8-2B12-72B3-1058D0CA4D48}"/>
              </a:ext>
            </a:extLst>
          </p:cNvPr>
          <p:cNvSpPr/>
          <p:nvPr/>
        </p:nvSpPr>
        <p:spPr>
          <a:xfrm>
            <a:off x="3332174" y="778559"/>
            <a:ext cx="33749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记忆架构（</a:t>
            </a:r>
            <a:r>
              <a:rPr lang="zh-CN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Architecture</a:t>
            </a:r>
            <a:r>
              <a:rPr lang="zh-CN" altLang="en-US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3AAEA37-B690-43BD-078F-25FA5ADFA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236" y="2521402"/>
            <a:ext cx="5361245" cy="174823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2950A03-95A0-8409-B605-41B54CB89808}"/>
              </a:ext>
            </a:extLst>
          </p:cNvPr>
          <p:cNvSpPr/>
          <p:nvPr/>
        </p:nvSpPr>
        <p:spPr>
          <a:xfrm>
            <a:off x="4627816" y="4300148"/>
            <a:ext cx="3316083" cy="483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左： </a:t>
            </a:r>
            <a:r>
              <a:rPr lang="en-US" altLang="zh-CN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GPT-5-mini </a:t>
            </a:r>
            <a:r>
              <a:rPr lang="zh-CN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在无工具基线和完整记忆下的表现。</a:t>
            </a:r>
            <a:endParaRPr lang="en-US" altLang="zh-CN" sz="9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右： </a:t>
            </a:r>
            <a:r>
              <a:rPr lang="en-US" altLang="zh-CN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Gemini-3-Flash </a:t>
            </a:r>
            <a:r>
              <a:rPr lang="zh-CN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在启用工具基线和完整记忆下的表现。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A6A80-998D-9787-9240-0B2B5D01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B29E9691-63E2-7B2C-79BD-008E8FACAF44}"/>
              </a:ext>
            </a:extLst>
          </p:cNvPr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0F8BC7-F129-905C-7A1A-2E80FE355469}"/>
              </a:ext>
            </a:extLst>
          </p:cNvPr>
          <p:cNvSpPr/>
          <p:nvPr/>
        </p:nvSpPr>
        <p:spPr bwMode="auto">
          <a:xfrm>
            <a:off x="6919058" y="793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行业研究现状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4851003-0D6B-F52C-FAA0-232BFE947B7F}"/>
              </a:ext>
            </a:extLst>
          </p:cNvPr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54FEA4E-B536-BB3D-ACC9-F1265C3A600C}"/>
                </a:ext>
              </a:extLst>
            </p:cNvPr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1BCE291-2DF1-2E1E-F12C-BBFF32B0AE12}"/>
                </a:ext>
              </a:extLst>
            </p:cNvPr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DDF8D89-4281-B32F-2F74-6A83198283ED}"/>
                </a:ext>
              </a:extLst>
            </p:cNvPr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反白稿校标组合-3">
            <a:extLst>
              <a:ext uri="{FF2B5EF4-FFF2-40B4-BE49-F238E27FC236}">
                <a16:creationId xmlns:a16="http://schemas.microsoft.com/office/drawing/2014/main" id="{F79E0200-C457-3A3E-2A21-B4685E74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1600"/>
            <a:ext cx="1639570" cy="4127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3A3A0B-FFE4-18D6-668C-63AC7B827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7" y="732747"/>
            <a:ext cx="4314399" cy="37474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BD7B54E-9838-3D70-C1B2-8E129509A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76" y="732747"/>
            <a:ext cx="4174947" cy="259587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6EF2DB7-FE7D-FDF8-805F-3BFC4EC48C75}"/>
              </a:ext>
            </a:extLst>
          </p:cNvPr>
          <p:cNvSpPr txBox="1"/>
          <p:nvPr/>
        </p:nvSpPr>
        <p:spPr>
          <a:xfrm>
            <a:off x="4564962" y="3686856"/>
            <a:ext cx="4579038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05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在复杂的多疾病治疗中，单一医生（单智能体）难以做出最优决策，且传统强化学习难以处理多药物组合的复杂性。</a:t>
            </a:r>
          </a:p>
          <a:p>
            <a:pPr algn="l">
              <a:spcAft>
                <a:spcPts val="600"/>
              </a:spcAft>
            </a:pPr>
            <a:r>
              <a:rPr lang="zh-CN" altLang="en-US" sz="105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两个（或多个）智能体进行并行合作。每个智能体代表一位具有不同专业背景的医生，它们基于对患者状态的部分观察，独立做出决策，但最终目标是达成一个统一的团队治疗策略。</a:t>
            </a:r>
            <a:endParaRPr lang="en-US" altLang="zh-CN" sz="105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05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局限性：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虽然效果最好，但其学习速度较慢，探索效率不如层级模型（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HC-M2D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）高。</a:t>
            </a:r>
            <a:endParaRPr lang="zh-CN" altLang="zh-CN" sz="105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988D47-8FF9-94D2-6734-C78F24251B7B}"/>
              </a:ext>
            </a:extLst>
          </p:cNvPr>
          <p:cNvSpPr/>
          <p:nvPr/>
        </p:nvSpPr>
        <p:spPr>
          <a:xfrm>
            <a:off x="4438996" y="3363258"/>
            <a:ext cx="1696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NL-M2D </a:t>
            </a: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9343543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7891-173B-F12A-5052-10D156EA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1A6A8557-E798-44DD-766A-AF72B8945EBA}"/>
              </a:ext>
            </a:extLst>
          </p:cNvPr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23EDCA-AA13-1D5B-BCC9-C018899C1270}"/>
              </a:ext>
            </a:extLst>
          </p:cNvPr>
          <p:cNvSpPr/>
          <p:nvPr/>
        </p:nvSpPr>
        <p:spPr bwMode="auto">
          <a:xfrm>
            <a:off x="6919058" y="793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行业研究现状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60A0FF-E004-039D-2EF9-1499CEAAC879}"/>
              </a:ext>
            </a:extLst>
          </p:cNvPr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FA9BB78-96C8-B5C5-BE88-7D5AEC881C02}"/>
                </a:ext>
              </a:extLst>
            </p:cNvPr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83BB2B3-05BB-03FE-6D99-A801C34B20E9}"/>
                </a:ext>
              </a:extLst>
            </p:cNvPr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ED95DCC-39F9-D3CA-987E-0A0731A7E403}"/>
                </a:ext>
              </a:extLst>
            </p:cNvPr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反白稿校标组合-3">
            <a:extLst>
              <a:ext uri="{FF2B5EF4-FFF2-40B4-BE49-F238E27FC236}">
                <a16:creationId xmlns:a16="http://schemas.microsoft.com/office/drawing/2014/main" id="{CD5220E9-B1F4-CF23-5C3F-D668AE583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1600"/>
            <a:ext cx="1639570" cy="41275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8F7A38F-AB33-A68D-E2CE-4C78B54FFA9C}"/>
              </a:ext>
            </a:extLst>
          </p:cNvPr>
          <p:cNvSpPr/>
          <p:nvPr/>
        </p:nvSpPr>
        <p:spPr>
          <a:xfrm>
            <a:off x="6425464" y="3255442"/>
            <a:ext cx="1696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MDAgents</a:t>
            </a:r>
            <a:endParaRPr lang="zh-CN" altLang="en-US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F56F1D-CCDD-99A9-4658-89B9E6DBA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4" y="662393"/>
            <a:ext cx="4616274" cy="23249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4BB681-F29C-C729-6E67-1585AEA8E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020" y="671755"/>
            <a:ext cx="4148076" cy="231556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09926F2-1FBA-1C6C-083C-A89C58581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867" y="3090910"/>
            <a:ext cx="2176311" cy="172291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40B9CF5-7DE4-58EE-41AA-37A4BD10F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904" y="3090910"/>
            <a:ext cx="4051071" cy="173295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23570FF-9FCD-7EF8-9733-38404975DBCC}"/>
              </a:ext>
            </a:extLst>
          </p:cNvPr>
          <p:cNvSpPr txBox="1"/>
          <p:nvPr/>
        </p:nvSpPr>
        <p:spPr>
          <a:xfrm>
            <a:off x="6648519" y="3603358"/>
            <a:ext cx="234457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多模态任务：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在涉及图像和视频的任务（如 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Path-VQA, PMC-VQA, </a:t>
            </a:r>
            <a:r>
              <a:rPr lang="en-US" altLang="zh-CN" sz="11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MedVidQA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）中，</a:t>
            </a:r>
            <a:r>
              <a:rPr lang="en-US" altLang="zh-CN" sz="11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MDAgents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的表现优于单智能体方法，证明了协作对于复杂信息整合的有效性。</a:t>
            </a:r>
            <a:endParaRPr lang="en-US" altLang="zh-CN" sz="11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12685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73BF-16E7-1A0D-90C2-4FBDF72C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B1CD3C03-F7BC-89D8-3518-05A2E0D38313}"/>
              </a:ext>
            </a:extLst>
          </p:cNvPr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43D27-BB60-105D-F0CC-40DCEE6D00DB}"/>
              </a:ext>
            </a:extLst>
          </p:cNvPr>
          <p:cNvSpPr/>
          <p:nvPr/>
        </p:nvSpPr>
        <p:spPr bwMode="auto">
          <a:xfrm>
            <a:off x="6919058" y="793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行业研究现状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2840DB-254E-177F-CD6C-D419F708B33A}"/>
              </a:ext>
            </a:extLst>
          </p:cNvPr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8A9D305-A104-BD0C-E08C-68B018CFB424}"/>
                </a:ext>
              </a:extLst>
            </p:cNvPr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75D6D4E-1EFE-E148-310E-F489D86D29D0}"/>
                </a:ext>
              </a:extLst>
            </p:cNvPr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4553CDC-CB96-DB63-F307-FD196892722C}"/>
                </a:ext>
              </a:extLst>
            </p:cNvPr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反白稿校标组合-3">
            <a:extLst>
              <a:ext uri="{FF2B5EF4-FFF2-40B4-BE49-F238E27FC236}">
                <a16:creationId xmlns:a16="http://schemas.microsoft.com/office/drawing/2014/main" id="{EDDAB00E-5010-4C1F-1D9A-0B5BE832E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1600"/>
            <a:ext cx="1639570" cy="4127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4BD9C9F-1648-A727-E4A6-1B3B1DFD16E3}"/>
              </a:ext>
            </a:extLst>
          </p:cNvPr>
          <p:cNvSpPr txBox="1"/>
          <p:nvPr/>
        </p:nvSpPr>
        <p:spPr>
          <a:xfrm>
            <a:off x="5203768" y="1286807"/>
            <a:ext cx="38072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100" kern="0" dirty="0" err="1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MedQA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（医学考题）上，</a:t>
            </a:r>
            <a:r>
              <a:rPr lang="en-US" altLang="zh-CN" sz="1100" kern="0" dirty="0" err="1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MDAgents</a:t>
            </a:r>
            <a:r>
              <a:rPr lang="en-US" altLang="zh-CN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(Adaptive) 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得分高达 </a:t>
            </a:r>
            <a:r>
              <a:rPr lang="en-US" altLang="zh-CN" sz="1100" b="1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88.7%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，显著优于单智能体（</a:t>
            </a:r>
            <a:r>
              <a:rPr lang="en-US" altLang="zh-CN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~83.9%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>
              <a:spcAft>
                <a:spcPts val="600"/>
              </a:spcAft>
            </a:pP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100" kern="0" dirty="0" err="1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SymCat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（症状诊断）数据集上，多智能体协作模式</a:t>
            </a:r>
            <a:r>
              <a:rPr lang="zh-CN" altLang="en-US" sz="1100" b="1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100" b="1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91.9%</a:t>
            </a:r>
            <a:r>
              <a:rPr lang="zh-CN" altLang="en-US" sz="1100" b="1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优于单智能体（</a:t>
            </a:r>
            <a:r>
              <a:rPr lang="en-US" altLang="zh-CN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~88.7%</a:t>
            </a:r>
            <a:r>
              <a:rPr lang="zh-CN" altLang="en-US" sz="1100" kern="0" dirty="0">
                <a:solidFill>
                  <a:srgbClr val="8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100" kern="0" dirty="0">
              <a:solidFill>
                <a:srgbClr val="86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成本：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虽然多智能体协作会增加 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调用成本，但 </a:t>
            </a:r>
            <a:r>
              <a:rPr lang="en-US" altLang="zh-CN" sz="11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MDAgents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通过将简单问题分配给单个智能体，实现了性能与成本的平衡。相比固定使用 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个智能体的团队，</a:t>
            </a:r>
            <a:r>
              <a:rPr lang="en-US" altLang="zh-CN" sz="11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MDAgents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的动态策略（通常 </a:t>
            </a:r>
            <a:r>
              <a:rPr lang="en-US" altLang="zh-CN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N=3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）更具经济性。</a:t>
            </a:r>
            <a:endParaRPr lang="zh-CN" altLang="zh-CN" sz="11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D14929-A5A0-A1A6-CE10-05DA28D4EFB6}"/>
              </a:ext>
            </a:extLst>
          </p:cNvPr>
          <p:cNvSpPr/>
          <p:nvPr/>
        </p:nvSpPr>
        <p:spPr>
          <a:xfrm>
            <a:off x="5009905" y="886600"/>
            <a:ext cx="1696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MDAgents</a:t>
            </a:r>
            <a:endParaRPr lang="zh-CN" altLang="en-US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44ABFFD-92F8-D553-7B08-274BBF4F2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61" y="806496"/>
            <a:ext cx="4806533" cy="37457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0D3066-5306-CF18-9777-0AA7CED9B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68" y="3148982"/>
            <a:ext cx="3767672" cy="140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8616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22640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02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351154" y="2617767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项目内容</a:t>
            </a: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第二单元</a:t>
            </a:r>
          </a:p>
        </p:txBody>
      </p:sp>
      <p:sp>
        <p:nvSpPr>
          <p:cNvPr id="91" name="矩形 90"/>
          <p:cNvSpPr/>
          <p:nvPr/>
        </p:nvSpPr>
        <p:spPr>
          <a:xfrm>
            <a:off x="6986270" y="161578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5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pic>
        <p:nvPicPr>
          <p:cNvPr id="6" name="图片占位符 5" descr="e1e5b2e9-ad9f-4c75-9471-db340264e94a"/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7039610" y="472440"/>
            <a:ext cx="1283335" cy="661670"/>
          </a:xfrm>
          <a:prstGeom prst="rect">
            <a:avLst/>
          </a:prstGeom>
        </p:spPr>
      </p:pic>
      <p:pic>
        <p:nvPicPr>
          <p:cNvPr id="12" name="图片占位符 12" descr="4f618d73-2c01-4a2f-a8a4-7c2c53bf0c3d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8316595" y="496570"/>
            <a:ext cx="841375" cy="576580"/>
          </a:xfrm>
          <a:prstGeom prst="rect">
            <a:avLst/>
          </a:prstGeom>
        </p:spPr>
      </p:pic>
      <p:pic>
        <p:nvPicPr>
          <p:cNvPr id="8" name="图片 7" descr="反白稿校标组合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5" y="283210"/>
            <a:ext cx="1639570" cy="412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497984" y="849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研究方案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椭圆 18"/>
          <p:cNvSpPr/>
          <p:nvPr/>
        </p:nvSpPr>
        <p:spPr>
          <a:xfrm>
            <a:off x="346071" y="3280456"/>
            <a:ext cx="428137" cy="4281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247650" y="3143484"/>
            <a:ext cx="4142105" cy="7020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4201" y="3207886"/>
            <a:ext cx="3521956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采用 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React 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与 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Reflection 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混合范式，单体 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Agent 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通过“思考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-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行动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-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观察”循环处理病例</a:t>
            </a:r>
          </a:p>
        </p:txBody>
      </p:sp>
      <p:sp>
        <p:nvSpPr>
          <p:cNvPr id="22" name="椭圆 21"/>
          <p:cNvSpPr/>
          <p:nvPr/>
        </p:nvSpPr>
        <p:spPr>
          <a:xfrm>
            <a:off x="4754245" y="3280456"/>
            <a:ext cx="428137" cy="4281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4655825" y="3143484"/>
            <a:ext cx="4142104" cy="7020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06740" y="3323511"/>
            <a:ext cx="3385475" cy="306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参考 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MCP 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与 </a:t>
            </a:r>
            <a:r>
              <a:rPr lang="en-US" altLang="zh-CN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A2A </a:t>
            </a: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协议设计医疗场景通信规范</a:t>
            </a:r>
          </a:p>
        </p:txBody>
      </p:sp>
      <p:sp>
        <p:nvSpPr>
          <p:cNvPr id="25" name="椭圆 24"/>
          <p:cNvSpPr/>
          <p:nvPr/>
        </p:nvSpPr>
        <p:spPr>
          <a:xfrm>
            <a:off x="346070" y="4128999"/>
            <a:ext cx="428137" cy="4281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247650" y="3992028"/>
            <a:ext cx="4142104" cy="7020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4200" y="4181259"/>
            <a:ext cx="3419840" cy="306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利用强化学习算法进行指令微调与偏好对齐。</a:t>
            </a:r>
          </a:p>
        </p:txBody>
      </p:sp>
      <p:sp>
        <p:nvSpPr>
          <p:cNvPr id="36" name="矩形 35"/>
          <p:cNvSpPr/>
          <p:nvPr/>
        </p:nvSpPr>
        <p:spPr>
          <a:xfrm>
            <a:off x="4655825" y="3942268"/>
            <a:ext cx="4206291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1050" b="1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理论基础：</a:t>
            </a:r>
            <a:r>
              <a:rPr lang="zh-CN" altLang="en-US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多智能体系统（</a:t>
            </a:r>
            <a:r>
              <a:rPr lang="en-US" altLang="zh-CN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MAS</a:t>
            </a:r>
            <a:r>
              <a:rPr lang="zh-CN" altLang="en-US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）理论、大预言模型涌现理论、贝叶斯决策论、</a:t>
            </a:r>
            <a:r>
              <a:rPr lang="en-US" altLang="zh-CN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Agentic-RL</a:t>
            </a:r>
            <a:r>
              <a:rPr lang="zh-CN" altLang="en-US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理论。</a:t>
            </a:r>
            <a:endParaRPr lang="en-US" altLang="zh-CN" sz="1050" kern="0" dirty="0">
              <a:solidFill>
                <a:srgbClr val="30437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汉仪旗黑-50S"/>
            </a:endParaRPr>
          </a:p>
          <a:p>
            <a:pPr defTabSz="914400">
              <a:lnSpc>
                <a:spcPct val="150000"/>
              </a:lnSpc>
              <a:defRPr/>
            </a:pPr>
            <a:r>
              <a:rPr lang="zh-CN" altLang="en-US" sz="1050" b="1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技术路线：</a:t>
            </a:r>
            <a:r>
              <a:rPr lang="zh-CN" altLang="en-US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环境搭建（</a:t>
            </a:r>
            <a:r>
              <a:rPr lang="en-US" altLang="zh-CN" sz="1050" kern="0" dirty="0" err="1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python+LangGraph</a:t>
            </a:r>
            <a:r>
              <a:rPr lang="zh-CN" altLang="en-US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）→记忆与检索（</a:t>
            </a:r>
            <a:r>
              <a:rPr lang="en-US" altLang="zh-CN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RAG</a:t>
            </a:r>
            <a:r>
              <a:rPr lang="zh-CN" altLang="en-US" sz="1050" kern="0" dirty="0">
                <a:solidFill>
                  <a:srgbClr val="30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汉仪旗黑-50S"/>
              </a:rPr>
              <a:t>）→多机协同（动态博弈算法）→性能评估→论文产出、专利申请</a:t>
            </a:r>
          </a:p>
        </p:txBody>
      </p:sp>
      <p:sp>
        <p:nvSpPr>
          <p:cNvPr id="38" name="Freeform 5"/>
          <p:cNvSpPr>
            <a:spLocks noEditPoints="1"/>
          </p:cNvSpPr>
          <p:nvPr/>
        </p:nvSpPr>
        <p:spPr bwMode="auto">
          <a:xfrm>
            <a:off x="471602" y="3382083"/>
            <a:ext cx="177074" cy="224882"/>
          </a:xfrm>
          <a:custGeom>
            <a:avLst/>
            <a:gdLst>
              <a:gd name="T0" fmla="*/ 613 w 623"/>
              <a:gd name="T1" fmla="*/ 84 h 798"/>
              <a:gd name="T2" fmla="*/ 504 w 623"/>
              <a:gd name="T3" fmla="*/ 10 h 798"/>
              <a:gd name="T4" fmla="*/ 423 w 623"/>
              <a:gd name="T5" fmla="*/ 91 h 798"/>
              <a:gd name="T6" fmla="*/ 224 w 623"/>
              <a:gd name="T7" fmla="*/ 291 h 798"/>
              <a:gd name="T8" fmla="*/ 181 w 623"/>
              <a:gd name="T9" fmla="*/ 283 h 798"/>
              <a:gd name="T10" fmla="*/ 181 w 623"/>
              <a:gd name="T11" fmla="*/ 318 h 798"/>
              <a:gd name="T12" fmla="*/ 132 w 623"/>
              <a:gd name="T13" fmla="*/ 383 h 798"/>
              <a:gd name="T14" fmla="*/ 206 w 623"/>
              <a:gd name="T15" fmla="*/ 492 h 798"/>
              <a:gd name="T16" fmla="*/ 241 w 623"/>
              <a:gd name="T17" fmla="*/ 492 h 798"/>
              <a:gd name="T18" fmla="*/ 305 w 623"/>
              <a:gd name="T19" fmla="*/ 443 h 798"/>
              <a:gd name="T20" fmla="*/ 341 w 623"/>
              <a:gd name="T21" fmla="*/ 408 h 798"/>
              <a:gd name="T22" fmla="*/ 446 w 623"/>
              <a:gd name="T23" fmla="*/ 287 h 798"/>
              <a:gd name="T24" fmla="*/ 496 w 623"/>
              <a:gd name="T25" fmla="*/ 268 h 798"/>
              <a:gd name="T26" fmla="*/ 463 w 623"/>
              <a:gd name="T27" fmla="*/ 550 h 798"/>
              <a:gd name="T28" fmla="*/ 75 w 623"/>
              <a:gd name="T29" fmla="*/ 525 h 798"/>
              <a:gd name="T30" fmla="*/ 75 w 623"/>
              <a:gd name="T31" fmla="*/ 574 h 798"/>
              <a:gd name="T32" fmla="*/ 312 w 623"/>
              <a:gd name="T33" fmla="*/ 574 h 798"/>
              <a:gd name="T34" fmla="*/ 298 w 623"/>
              <a:gd name="T35" fmla="*/ 649 h 798"/>
              <a:gd name="T36" fmla="*/ 0 w 623"/>
              <a:gd name="T37" fmla="*/ 674 h 798"/>
              <a:gd name="T38" fmla="*/ 0 w 623"/>
              <a:gd name="T39" fmla="*/ 773 h 798"/>
              <a:gd name="T40" fmla="*/ 25 w 623"/>
              <a:gd name="T41" fmla="*/ 798 h 798"/>
              <a:gd name="T42" fmla="*/ 596 w 623"/>
              <a:gd name="T43" fmla="*/ 773 h 798"/>
              <a:gd name="T44" fmla="*/ 596 w 623"/>
              <a:gd name="T45" fmla="*/ 674 h 798"/>
              <a:gd name="T46" fmla="*/ 571 w 623"/>
              <a:gd name="T47" fmla="*/ 649 h 798"/>
              <a:gd name="T48" fmla="*/ 497 w 623"/>
              <a:gd name="T49" fmla="*/ 624 h 798"/>
              <a:gd name="T50" fmla="*/ 596 w 623"/>
              <a:gd name="T51" fmla="*/ 395 h 798"/>
              <a:gd name="T52" fmla="*/ 525 w 623"/>
              <a:gd name="T53" fmla="*/ 229 h 798"/>
              <a:gd name="T54" fmla="*/ 613 w 623"/>
              <a:gd name="T55" fmla="*/ 120 h 798"/>
              <a:gd name="T56" fmla="*/ 546 w 623"/>
              <a:gd name="T57" fmla="*/ 748 h 798"/>
              <a:gd name="T58" fmla="*/ 50 w 623"/>
              <a:gd name="T59" fmla="*/ 698 h 798"/>
              <a:gd name="T60" fmla="*/ 348 w 623"/>
              <a:gd name="T61" fmla="*/ 649 h 798"/>
              <a:gd name="T62" fmla="*/ 397 w 623"/>
              <a:gd name="T63" fmla="*/ 574 h 798"/>
              <a:gd name="T64" fmla="*/ 447 w 623"/>
              <a:gd name="T65" fmla="*/ 649 h 798"/>
              <a:gd name="T66" fmla="*/ 522 w 623"/>
              <a:gd name="T67" fmla="*/ 63 h 798"/>
              <a:gd name="T68" fmla="*/ 522 w 623"/>
              <a:gd name="T69" fmla="*/ 141 h 798"/>
              <a:gd name="T70" fmla="*/ 516 w 623"/>
              <a:gd name="T71" fmla="*/ 132 h 798"/>
              <a:gd name="T72" fmla="*/ 488 w 623"/>
              <a:gd name="T73" fmla="*/ 105 h 798"/>
              <a:gd name="T74" fmla="*/ 522 w 623"/>
              <a:gd name="T75" fmla="*/ 63 h 798"/>
              <a:gd name="T76" fmla="*/ 184 w 623"/>
              <a:gd name="T77" fmla="*/ 400 h 798"/>
              <a:gd name="T78" fmla="*/ 263 w 623"/>
              <a:gd name="T79" fmla="*/ 400 h 798"/>
              <a:gd name="T80" fmla="*/ 298 w 623"/>
              <a:gd name="T81" fmla="*/ 365 h 798"/>
              <a:gd name="T82" fmla="*/ 348 w 623"/>
              <a:gd name="T83" fmla="*/ 237 h 798"/>
              <a:gd name="T84" fmla="*/ 354 w 623"/>
              <a:gd name="T85" fmla="*/ 246 h 798"/>
              <a:gd name="T86" fmla="*/ 382 w 623"/>
              <a:gd name="T87" fmla="*/ 273 h 798"/>
              <a:gd name="T88" fmla="*/ 298 w 623"/>
              <a:gd name="T89" fmla="*/ 365 h 798"/>
              <a:gd name="T90" fmla="*/ 385 w 623"/>
              <a:gd name="T91" fmla="*/ 189 h 798"/>
              <a:gd name="T92" fmla="*/ 484 w 623"/>
              <a:gd name="T93" fmla="*/ 189 h 798"/>
              <a:gd name="T94" fmla="*/ 435 w 623"/>
              <a:gd name="T95" fmla="*/ 239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3" h="798">
                <a:moveTo>
                  <a:pt x="613" y="120"/>
                </a:moveTo>
                <a:cubicBezTo>
                  <a:pt x="623" y="110"/>
                  <a:pt x="623" y="94"/>
                  <a:pt x="613" y="84"/>
                </a:cubicBezTo>
                <a:cubicBezTo>
                  <a:pt x="539" y="10"/>
                  <a:pt x="539" y="10"/>
                  <a:pt x="539" y="10"/>
                </a:cubicBezTo>
                <a:cubicBezTo>
                  <a:pt x="529" y="0"/>
                  <a:pt x="514" y="0"/>
                  <a:pt x="504" y="10"/>
                </a:cubicBezTo>
                <a:cubicBezTo>
                  <a:pt x="504" y="10"/>
                  <a:pt x="504" y="10"/>
                  <a:pt x="504" y="10"/>
                </a:cubicBezTo>
                <a:cubicBezTo>
                  <a:pt x="423" y="91"/>
                  <a:pt x="423" y="91"/>
                  <a:pt x="423" y="91"/>
                </a:cubicBezTo>
                <a:cubicBezTo>
                  <a:pt x="378" y="96"/>
                  <a:pt x="342" y="132"/>
                  <a:pt x="337" y="178"/>
                </a:cubicBezTo>
                <a:cubicBezTo>
                  <a:pt x="224" y="291"/>
                  <a:pt x="224" y="291"/>
                  <a:pt x="224" y="291"/>
                </a:cubicBezTo>
                <a:cubicBezTo>
                  <a:pt x="216" y="283"/>
                  <a:pt x="216" y="283"/>
                  <a:pt x="216" y="283"/>
                </a:cubicBezTo>
                <a:cubicBezTo>
                  <a:pt x="207" y="274"/>
                  <a:pt x="191" y="274"/>
                  <a:pt x="181" y="283"/>
                </a:cubicBezTo>
                <a:cubicBezTo>
                  <a:pt x="172" y="293"/>
                  <a:pt x="172" y="309"/>
                  <a:pt x="181" y="318"/>
                </a:cubicBezTo>
                <a:cubicBezTo>
                  <a:pt x="181" y="318"/>
                  <a:pt x="181" y="318"/>
                  <a:pt x="181" y="318"/>
                </a:cubicBezTo>
                <a:cubicBezTo>
                  <a:pt x="189" y="326"/>
                  <a:pt x="189" y="326"/>
                  <a:pt x="189" y="326"/>
                </a:cubicBezTo>
                <a:cubicBezTo>
                  <a:pt x="132" y="383"/>
                  <a:pt x="132" y="383"/>
                  <a:pt x="132" y="383"/>
                </a:cubicBezTo>
                <a:cubicBezTo>
                  <a:pt x="122" y="392"/>
                  <a:pt x="122" y="408"/>
                  <a:pt x="132" y="418"/>
                </a:cubicBezTo>
                <a:cubicBezTo>
                  <a:pt x="206" y="492"/>
                  <a:pt x="206" y="492"/>
                  <a:pt x="206" y="492"/>
                </a:cubicBezTo>
                <a:cubicBezTo>
                  <a:pt x="216" y="502"/>
                  <a:pt x="232" y="502"/>
                  <a:pt x="241" y="492"/>
                </a:cubicBezTo>
                <a:cubicBezTo>
                  <a:pt x="241" y="492"/>
                  <a:pt x="241" y="492"/>
                  <a:pt x="241" y="492"/>
                </a:cubicBezTo>
                <a:cubicBezTo>
                  <a:pt x="298" y="435"/>
                  <a:pt x="298" y="435"/>
                  <a:pt x="298" y="435"/>
                </a:cubicBezTo>
                <a:cubicBezTo>
                  <a:pt x="305" y="443"/>
                  <a:pt x="305" y="443"/>
                  <a:pt x="305" y="443"/>
                </a:cubicBezTo>
                <a:cubicBezTo>
                  <a:pt x="315" y="452"/>
                  <a:pt x="331" y="452"/>
                  <a:pt x="341" y="443"/>
                </a:cubicBezTo>
                <a:cubicBezTo>
                  <a:pt x="350" y="433"/>
                  <a:pt x="350" y="417"/>
                  <a:pt x="341" y="408"/>
                </a:cubicBezTo>
                <a:cubicBezTo>
                  <a:pt x="333" y="400"/>
                  <a:pt x="333" y="400"/>
                  <a:pt x="333" y="400"/>
                </a:cubicBezTo>
                <a:cubicBezTo>
                  <a:pt x="446" y="287"/>
                  <a:pt x="446" y="287"/>
                  <a:pt x="446" y="287"/>
                </a:cubicBezTo>
                <a:cubicBezTo>
                  <a:pt x="464" y="285"/>
                  <a:pt x="481" y="278"/>
                  <a:pt x="495" y="267"/>
                </a:cubicBezTo>
                <a:cubicBezTo>
                  <a:pt x="496" y="267"/>
                  <a:pt x="496" y="268"/>
                  <a:pt x="496" y="268"/>
                </a:cubicBezTo>
                <a:cubicBezTo>
                  <a:pt x="528" y="302"/>
                  <a:pt x="546" y="348"/>
                  <a:pt x="546" y="395"/>
                </a:cubicBezTo>
                <a:cubicBezTo>
                  <a:pt x="546" y="457"/>
                  <a:pt x="515" y="514"/>
                  <a:pt x="463" y="550"/>
                </a:cubicBezTo>
                <a:cubicBezTo>
                  <a:pt x="445" y="534"/>
                  <a:pt x="422" y="525"/>
                  <a:pt x="397" y="525"/>
                </a:cubicBezTo>
                <a:cubicBezTo>
                  <a:pt x="75" y="525"/>
                  <a:pt x="75" y="525"/>
                  <a:pt x="75" y="525"/>
                </a:cubicBezTo>
                <a:cubicBezTo>
                  <a:pt x="61" y="525"/>
                  <a:pt x="50" y="536"/>
                  <a:pt x="50" y="549"/>
                </a:cubicBezTo>
                <a:cubicBezTo>
                  <a:pt x="50" y="563"/>
                  <a:pt x="61" y="574"/>
                  <a:pt x="75" y="574"/>
                </a:cubicBezTo>
                <a:cubicBezTo>
                  <a:pt x="75" y="574"/>
                  <a:pt x="75" y="574"/>
                  <a:pt x="75" y="574"/>
                </a:cubicBezTo>
                <a:cubicBezTo>
                  <a:pt x="312" y="574"/>
                  <a:pt x="312" y="574"/>
                  <a:pt x="312" y="574"/>
                </a:cubicBezTo>
                <a:cubicBezTo>
                  <a:pt x="303" y="589"/>
                  <a:pt x="298" y="606"/>
                  <a:pt x="298" y="624"/>
                </a:cubicBezTo>
                <a:cubicBezTo>
                  <a:pt x="298" y="649"/>
                  <a:pt x="298" y="649"/>
                  <a:pt x="298" y="649"/>
                </a:cubicBezTo>
                <a:cubicBezTo>
                  <a:pt x="25" y="649"/>
                  <a:pt x="25" y="649"/>
                  <a:pt x="25" y="649"/>
                </a:cubicBezTo>
                <a:cubicBezTo>
                  <a:pt x="12" y="649"/>
                  <a:pt x="0" y="660"/>
                  <a:pt x="0" y="674"/>
                </a:cubicBezTo>
                <a:cubicBezTo>
                  <a:pt x="0" y="674"/>
                  <a:pt x="0" y="674"/>
                  <a:pt x="0" y="674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787"/>
                  <a:pt x="12" y="798"/>
                  <a:pt x="25" y="798"/>
                </a:cubicBezTo>
                <a:cubicBezTo>
                  <a:pt x="25" y="798"/>
                  <a:pt x="25" y="798"/>
                  <a:pt x="25" y="798"/>
                </a:cubicBezTo>
                <a:cubicBezTo>
                  <a:pt x="571" y="798"/>
                  <a:pt x="571" y="798"/>
                  <a:pt x="571" y="798"/>
                </a:cubicBezTo>
                <a:cubicBezTo>
                  <a:pt x="585" y="798"/>
                  <a:pt x="596" y="787"/>
                  <a:pt x="596" y="773"/>
                </a:cubicBezTo>
                <a:cubicBezTo>
                  <a:pt x="596" y="773"/>
                  <a:pt x="596" y="773"/>
                  <a:pt x="596" y="773"/>
                </a:cubicBezTo>
                <a:cubicBezTo>
                  <a:pt x="596" y="674"/>
                  <a:pt x="596" y="674"/>
                  <a:pt x="596" y="674"/>
                </a:cubicBezTo>
                <a:cubicBezTo>
                  <a:pt x="596" y="660"/>
                  <a:pt x="585" y="649"/>
                  <a:pt x="571" y="649"/>
                </a:cubicBezTo>
                <a:cubicBezTo>
                  <a:pt x="571" y="649"/>
                  <a:pt x="571" y="649"/>
                  <a:pt x="571" y="649"/>
                </a:cubicBezTo>
                <a:cubicBezTo>
                  <a:pt x="497" y="649"/>
                  <a:pt x="497" y="649"/>
                  <a:pt x="497" y="649"/>
                </a:cubicBezTo>
                <a:cubicBezTo>
                  <a:pt x="497" y="624"/>
                  <a:pt x="497" y="624"/>
                  <a:pt x="497" y="624"/>
                </a:cubicBezTo>
                <a:cubicBezTo>
                  <a:pt x="497" y="613"/>
                  <a:pt x="495" y="602"/>
                  <a:pt x="491" y="591"/>
                </a:cubicBezTo>
                <a:cubicBezTo>
                  <a:pt x="557" y="546"/>
                  <a:pt x="596" y="473"/>
                  <a:pt x="596" y="395"/>
                </a:cubicBezTo>
                <a:cubicBezTo>
                  <a:pt x="596" y="335"/>
                  <a:pt x="573" y="278"/>
                  <a:pt x="532" y="234"/>
                </a:cubicBezTo>
                <a:cubicBezTo>
                  <a:pt x="530" y="232"/>
                  <a:pt x="528" y="230"/>
                  <a:pt x="525" y="229"/>
                </a:cubicBezTo>
                <a:cubicBezTo>
                  <a:pt x="529" y="220"/>
                  <a:pt x="532" y="210"/>
                  <a:pt x="533" y="200"/>
                </a:cubicBezTo>
                <a:lnTo>
                  <a:pt x="613" y="120"/>
                </a:lnTo>
                <a:close/>
                <a:moveTo>
                  <a:pt x="546" y="698"/>
                </a:moveTo>
                <a:cubicBezTo>
                  <a:pt x="546" y="748"/>
                  <a:pt x="546" y="748"/>
                  <a:pt x="546" y="748"/>
                </a:cubicBezTo>
                <a:cubicBezTo>
                  <a:pt x="50" y="748"/>
                  <a:pt x="50" y="748"/>
                  <a:pt x="50" y="748"/>
                </a:cubicBezTo>
                <a:cubicBezTo>
                  <a:pt x="50" y="698"/>
                  <a:pt x="50" y="698"/>
                  <a:pt x="50" y="698"/>
                </a:cubicBezTo>
                <a:lnTo>
                  <a:pt x="546" y="698"/>
                </a:lnTo>
                <a:close/>
                <a:moveTo>
                  <a:pt x="348" y="649"/>
                </a:moveTo>
                <a:cubicBezTo>
                  <a:pt x="348" y="624"/>
                  <a:pt x="348" y="624"/>
                  <a:pt x="348" y="624"/>
                </a:cubicBezTo>
                <a:cubicBezTo>
                  <a:pt x="348" y="597"/>
                  <a:pt x="370" y="574"/>
                  <a:pt x="397" y="574"/>
                </a:cubicBezTo>
                <a:cubicBezTo>
                  <a:pt x="425" y="574"/>
                  <a:pt x="447" y="597"/>
                  <a:pt x="447" y="624"/>
                </a:cubicBezTo>
                <a:cubicBezTo>
                  <a:pt x="447" y="649"/>
                  <a:pt x="447" y="649"/>
                  <a:pt x="447" y="649"/>
                </a:cubicBezTo>
                <a:lnTo>
                  <a:pt x="348" y="649"/>
                </a:lnTo>
                <a:close/>
                <a:moveTo>
                  <a:pt x="522" y="63"/>
                </a:moveTo>
                <a:cubicBezTo>
                  <a:pt x="561" y="102"/>
                  <a:pt x="561" y="102"/>
                  <a:pt x="561" y="102"/>
                </a:cubicBezTo>
                <a:cubicBezTo>
                  <a:pt x="522" y="141"/>
                  <a:pt x="522" y="141"/>
                  <a:pt x="522" y="141"/>
                </a:cubicBezTo>
                <a:cubicBezTo>
                  <a:pt x="521" y="139"/>
                  <a:pt x="519" y="138"/>
                  <a:pt x="518" y="136"/>
                </a:cubicBezTo>
                <a:cubicBezTo>
                  <a:pt x="517" y="135"/>
                  <a:pt x="517" y="133"/>
                  <a:pt x="516" y="132"/>
                </a:cubicBezTo>
                <a:cubicBezTo>
                  <a:pt x="509" y="123"/>
                  <a:pt x="501" y="114"/>
                  <a:pt x="492" y="108"/>
                </a:cubicBezTo>
                <a:cubicBezTo>
                  <a:pt x="490" y="107"/>
                  <a:pt x="489" y="106"/>
                  <a:pt x="488" y="105"/>
                </a:cubicBezTo>
                <a:cubicBezTo>
                  <a:pt x="486" y="104"/>
                  <a:pt x="484" y="103"/>
                  <a:pt x="482" y="102"/>
                </a:cubicBezTo>
                <a:lnTo>
                  <a:pt x="522" y="63"/>
                </a:lnTo>
                <a:close/>
                <a:moveTo>
                  <a:pt x="224" y="440"/>
                </a:moveTo>
                <a:cubicBezTo>
                  <a:pt x="184" y="400"/>
                  <a:pt x="184" y="400"/>
                  <a:pt x="184" y="400"/>
                </a:cubicBezTo>
                <a:cubicBezTo>
                  <a:pt x="224" y="361"/>
                  <a:pt x="224" y="361"/>
                  <a:pt x="224" y="361"/>
                </a:cubicBezTo>
                <a:cubicBezTo>
                  <a:pt x="263" y="400"/>
                  <a:pt x="263" y="400"/>
                  <a:pt x="263" y="400"/>
                </a:cubicBezTo>
                <a:lnTo>
                  <a:pt x="224" y="440"/>
                </a:lnTo>
                <a:close/>
                <a:moveTo>
                  <a:pt x="298" y="365"/>
                </a:moveTo>
                <a:cubicBezTo>
                  <a:pt x="259" y="326"/>
                  <a:pt x="259" y="326"/>
                  <a:pt x="259" y="326"/>
                </a:cubicBezTo>
                <a:cubicBezTo>
                  <a:pt x="348" y="237"/>
                  <a:pt x="348" y="237"/>
                  <a:pt x="348" y="237"/>
                </a:cubicBezTo>
                <a:cubicBezTo>
                  <a:pt x="349" y="239"/>
                  <a:pt x="350" y="240"/>
                  <a:pt x="351" y="242"/>
                </a:cubicBezTo>
                <a:cubicBezTo>
                  <a:pt x="352" y="243"/>
                  <a:pt x="353" y="245"/>
                  <a:pt x="354" y="246"/>
                </a:cubicBezTo>
                <a:cubicBezTo>
                  <a:pt x="360" y="255"/>
                  <a:pt x="368" y="264"/>
                  <a:pt x="378" y="270"/>
                </a:cubicBezTo>
                <a:cubicBezTo>
                  <a:pt x="379" y="271"/>
                  <a:pt x="380" y="272"/>
                  <a:pt x="382" y="273"/>
                </a:cubicBezTo>
                <a:cubicBezTo>
                  <a:pt x="384" y="274"/>
                  <a:pt x="385" y="275"/>
                  <a:pt x="387" y="276"/>
                </a:cubicBezTo>
                <a:lnTo>
                  <a:pt x="298" y="365"/>
                </a:lnTo>
                <a:close/>
                <a:moveTo>
                  <a:pt x="435" y="239"/>
                </a:moveTo>
                <a:cubicBezTo>
                  <a:pt x="407" y="239"/>
                  <a:pt x="385" y="217"/>
                  <a:pt x="385" y="189"/>
                </a:cubicBezTo>
                <a:cubicBezTo>
                  <a:pt x="385" y="162"/>
                  <a:pt x="407" y="139"/>
                  <a:pt x="435" y="139"/>
                </a:cubicBezTo>
                <a:cubicBezTo>
                  <a:pt x="462" y="139"/>
                  <a:pt x="484" y="161"/>
                  <a:pt x="484" y="189"/>
                </a:cubicBezTo>
                <a:cubicBezTo>
                  <a:pt x="484" y="189"/>
                  <a:pt x="484" y="189"/>
                  <a:pt x="484" y="189"/>
                </a:cubicBezTo>
                <a:cubicBezTo>
                  <a:pt x="484" y="216"/>
                  <a:pt x="462" y="239"/>
                  <a:pt x="435" y="2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Freeform 9"/>
          <p:cNvSpPr>
            <a:spLocks noEditPoints="1"/>
          </p:cNvSpPr>
          <p:nvPr/>
        </p:nvSpPr>
        <p:spPr bwMode="auto">
          <a:xfrm>
            <a:off x="460392" y="4243629"/>
            <a:ext cx="199493" cy="198877"/>
          </a:xfrm>
          <a:custGeom>
            <a:avLst/>
            <a:gdLst>
              <a:gd name="T0" fmla="*/ 623 w 797"/>
              <a:gd name="T1" fmla="*/ 324 h 797"/>
              <a:gd name="T2" fmla="*/ 672 w 797"/>
              <a:gd name="T3" fmla="*/ 373 h 797"/>
              <a:gd name="T4" fmla="*/ 423 w 797"/>
              <a:gd name="T5" fmla="*/ 324 h 797"/>
              <a:gd name="T6" fmla="*/ 374 w 797"/>
              <a:gd name="T7" fmla="*/ 373 h 797"/>
              <a:gd name="T8" fmla="*/ 423 w 797"/>
              <a:gd name="T9" fmla="*/ 324 h 797"/>
              <a:gd name="T10" fmla="*/ 125 w 797"/>
              <a:gd name="T11" fmla="*/ 324 h 797"/>
              <a:gd name="T12" fmla="*/ 174 w 797"/>
              <a:gd name="T13" fmla="*/ 373 h 797"/>
              <a:gd name="T14" fmla="*/ 747 w 797"/>
              <a:gd name="T15" fmla="*/ 249 h 797"/>
              <a:gd name="T16" fmla="*/ 722 w 797"/>
              <a:gd name="T17" fmla="*/ 0 h 797"/>
              <a:gd name="T18" fmla="*/ 573 w 797"/>
              <a:gd name="T19" fmla="*/ 0 h 797"/>
              <a:gd name="T20" fmla="*/ 548 w 797"/>
              <a:gd name="T21" fmla="*/ 25 h 797"/>
              <a:gd name="T22" fmla="*/ 498 w 797"/>
              <a:gd name="T23" fmla="*/ 249 h 797"/>
              <a:gd name="T24" fmla="*/ 473 w 797"/>
              <a:gd name="T25" fmla="*/ 0 h 797"/>
              <a:gd name="T26" fmla="*/ 324 w 797"/>
              <a:gd name="T27" fmla="*/ 0 h 797"/>
              <a:gd name="T28" fmla="*/ 299 w 797"/>
              <a:gd name="T29" fmla="*/ 25 h 797"/>
              <a:gd name="T30" fmla="*/ 249 w 797"/>
              <a:gd name="T31" fmla="*/ 249 h 797"/>
              <a:gd name="T32" fmla="*/ 224 w 797"/>
              <a:gd name="T33" fmla="*/ 0 h 797"/>
              <a:gd name="T34" fmla="*/ 75 w 797"/>
              <a:gd name="T35" fmla="*/ 0 h 797"/>
              <a:gd name="T36" fmla="*/ 50 w 797"/>
              <a:gd name="T37" fmla="*/ 25 h 797"/>
              <a:gd name="T38" fmla="*/ 0 w 797"/>
              <a:gd name="T39" fmla="*/ 299 h 797"/>
              <a:gd name="T40" fmla="*/ 50 w 797"/>
              <a:gd name="T41" fmla="*/ 448 h 797"/>
              <a:gd name="T42" fmla="*/ 149 w 797"/>
              <a:gd name="T43" fmla="*/ 797 h 797"/>
              <a:gd name="T44" fmla="*/ 249 w 797"/>
              <a:gd name="T45" fmla="*/ 448 h 797"/>
              <a:gd name="T46" fmla="*/ 299 w 797"/>
              <a:gd name="T47" fmla="*/ 697 h 797"/>
              <a:gd name="T48" fmla="*/ 498 w 797"/>
              <a:gd name="T49" fmla="*/ 697 h 797"/>
              <a:gd name="T50" fmla="*/ 548 w 797"/>
              <a:gd name="T51" fmla="*/ 448 h 797"/>
              <a:gd name="T52" fmla="*/ 647 w 797"/>
              <a:gd name="T53" fmla="*/ 797 h 797"/>
              <a:gd name="T54" fmla="*/ 747 w 797"/>
              <a:gd name="T55" fmla="*/ 448 h 797"/>
              <a:gd name="T56" fmla="*/ 797 w 797"/>
              <a:gd name="T57" fmla="*/ 299 h 797"/>
              <a:gd name="T58" fmla="*/ 598 w 797"/>
              <a:gd name="T59" fmla="*/ 50 h 797"/>
              <a:gd name="T60" fmla="*/ 697 w 797"/>
              <a:gd name="T61" fmla="*/ 99 h 797"/>
              <a:gd name="T62" fmla="*/ 598 w 797"/>
              <a:gd name="T63" fmla="*/ 50 h 797"/>
              <a:gd name="T64" fmla="*/ 697 w 797"/>
              <a:gd name="T65" fmla="*/ 149 h 797"/>
              <a:gd name="T66" fmla="*/ 598 w 797"/>
              <a:gd name="T67" fmla="*/ 249 h 797"/>
              <a:gd name="T68" fmla="*/ 349 w 797"/>
              <a:gd name="T69" fmla="*/ 50 h 797"/>
              <a:gd name="T70" fmla="*/ 448 w 797"/>
              <a:gd name="T71" fmla="*/ 99 h 797"/>
              <a:gd name="T72" fmla="*/ 349 w 797"/>
              <a:gd name="T73" fmla="*/ 50 h 797"/>
              <a:gd name="T74" fmla="*/ 448 w 797"/>
              <a:gd name="T75" fmla="*/ 149 h 797"/>
              <a:gd name="T76" fmla="*/ 349 w 797"/>
              <a:gd name="T77" fmla="*/ 249 h 797"/>
              <a:gd name="T78" fmla="*/ 100 w 797"/>
              <a:gd name="T79" fmla="*/ 50 h 797"/>
              <a:gd name="T80" fmla="*/ 199 w 797"/>
              <a:gd name="T81" fmla="*/ 99 h 797"/>
              <a:gd name="T82" fmla="*/ 100 w 797"/>
              <a:gd name="T83" fmla="*/ 50 h 797"/>
              <a:gd name="T84" fmla="*/ 199 w 797"/>
              <a:gd name="T85" fmla="*/ 149 h 797"/>
              <a:gd name="T86" fmla="*/ 100 w 797"/>
              <a:gd name="T87" fmla="*/ 249 h 797"/>
              <a:gd name="T88" fmla="*/ 199 w 797"/>
              <a:gd name="T89" fmla="*/ 697 h 797"/>
              <a:gd name="T90" fmla="*/ 100 w 797"/>
              <a:gd name="T91" fmla="*/ 697 h 797"/>
              <a:gd name="T92" fmla="*/ 199 w 797"/>
              <a:gd name="T93" fmla="*/ 448 h 797"/>
              <a:gd name="T94" fmla="*/ 448 w 797"/>
              <a:gd name="T95" fmla="*/ 697 h 797"/>
              <a:gd name="T96" fmla="*/ 349 w 797"/>
              <a:gd name="T97" fmla="*/ 697 h 797"/>
              <a:gd name="T98" fmla="*/ 448 w 797"/>
              <a:gd name="T99" fmla="*/ 448 h 797"/>
              <a:gd name="T100" fmla="*/ 697 w 797"/>
              <a:gd name="T101" fmla="*/ 697 h 797"/>
              <a:gd name="T102" fmla="*/ 598 w 797"/>
              <a:gd name="T103" fmla="*/ 697 h 797"/>
              <a:gd name="T104" fmla="*/ 697 w 797"/>
              <a:gd name="T105" fmla="*/ 448 h 797"/>
              <a:gd name="T106" fmla="*/ 747 w 797"/>
              <a:gd name="T107" fmla="*/ 398 h 797"/>
              <a:gd name="T108" fmla="*/ 50 w 797"/>
              <a:gd name="T109" fmla="*/ 299 h 797"/>
              <a:gd name="T110" fmla="*/ 747 w 797"/>
              <a:gd name="T111" fmla="*/ 398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97" h="797">
                <a:moveTo>
                  <a:pt x="672" y="324"/>
                </a:moveTo>
                <a:cubicBezTo>
                  <a:pt x="623" y="324"/>
                  <a:pt x="623" y="324"/>
                  <a:pt x="623" y="324"/>
                </a:cubicBezTo>
                <a:cubicBezTo>
                  <a:pt x="623" y="373"/>
                  <a:pt x="623" y="373"/>
                  <a:pt x="623" y="373"/>
                </a:cubicBezTo>
                <a:cubicBezTo>
                  <a:pt x="672" y="373"/>
                  <a:pt x="672" y="373"/>
                  <a:pt x="672" y="373"/>
                </a:cubicBezTo>
                <a:lnTo>
                  <a:pt x="672" y="324"/>
                </a:lnTo>
                <a:close/>
                <a:moveTo>
                  <a:pt x="423" y="324"/>
                </a:moveTo>
                <a:cubicBezTo>
                  <a:pt x="374" y="324"/>
                  <a:pt x="374" y="324"/>
                  <a:pt x="374" y="324"/>
                </a:cubicBezTo>
                <a:cubicBezTo>
                  <a:pt x="374" y="373"/>
                  <a:pt x="374" y="373"/>
                  <a:pt x="374" y="373"/>
                </a:cubicBezTo>
                <a:cubicBezTo>
                  <a:pt x="423" y="373"/>
                  <a:pt x="423" y="373"/>
                  <a:pt x="423" y="373"/>
                </a:cubicBezTo>
                <a:lnTo>
                  <a:pt x="423" y="324"/>
                </a:lnTo>
                <a:close/>
                <a:moveTo>
                  <a:pt x="174" y="324"/>
                </a:moveTo>
                <a:cubicBezTo>
                  <a:pt x="125" y="324"/>
                  <a:pt x="125" y="324"/>
                  <a:pt x="125" y="324"/>
                </a:cubicBezTo>
                <a:cubicBezTo>
                  <a:pt x="125" y="373"/>
                  <a:pt x="125" y="373"/>
                  <a:pt x="125" y="373"/>
                </a:cubicBezTo>
                <a:cubicBezTo>
                  <a:pt x="174" y="373"/>
                  <a:pt x="174" y="373"/>
                  <a:pt x="174" y="373"/>
                </a:cubicBezTo>
                <a:lnTo>
                  <a:pt x="174" y="324"/>
                </a:lnTo>
                <a:close/>
                <a:moveTo>
                  <a:pt x="747" y="249"/>
                </a:moveTo>
                <a:cubicBezTo>
                  <a:pt x="747" y="25"/>
                  <a:pt x="747" y="25"/>
                  <a:pt x="747" y="25"/>
                </a:cubicBezTo>
                <a:cubicBezTo>
                  <a:pt x="747" y="11"/>
                  <a:pt x="736" y="0"/>
                  <a:pt x="722" y="0"/>
                </a:cubicBezTo>
                <a:cubicBezTo>
                  <a:pt x="722" y="0"/>
                  <a:pt x="722" y="0"/>
                  <a:pt x="722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59" y="0"/>
                  <a:pt x="548" y="11"/>
                  <a:pt x="548" y="25"/>
                </a:cubicBezTo>
                <a:cubicBezTo>
                  <a:pt x="548" y="25"/>
                  <a:pt x="548" y="25"/>
                  <a:pt x="548" y="25"/>
                </a:cubicBezTo>
                <a:cubicBezTo>
                  <a:pt x="548" y="249"/>
                  <a:pt x="548" y="249"/>
                  <a:pt x="548" y="249"/>
                </a:cubicBezTo>
                <a:cubicBezTo>
                  <a:pt x="498" y="249"/>
                  <a:pt x="498" y="249"/>
                  <a:pt x="498" y="249"/>
                </a:cubicBezTo>
                <a:cubicBezTo>
                  <a:pt x="498" y="25"/>
                  <a:pt x="498" y="25"/>
                  <a:pt x="498" y="25"/>
                </a:cubicBezTo>
                <a:cubicBezTo>
                  <a:pt x="498" y="11"/>
                  <a:pt x="487" y="0"/>
                  <a:pt x="473" y="0"/>
                </a:cubicBezTo>
                <a:cubicBezTo>
                  <a:pt x="473" y="0"/>
                  <a:pt x="473" y="0"/>
                  <a:pt x="473" y="0"/>
                </a:cubicBezTo>
                <a:cubicBezTo>
                  <a:pt x="324" y="0"/>
                  <a:pt x="324" y="0"/>
                  <a:pt x="324" y="0"/>
                </a:cubicBezTo>
                <a:cubicBezTo>
                  <a:pt x="310" y="0"/>
                  <a:pt x="299" y="11"/>
                  <a:pt x="299" y="25"/>
                </a:cubicBezTo>
                <a:cubicBezTo>
                  <a:pt x="299" y="25"/>
                  <a:pt x="299" y="25"/>
                  <a:pt x="299" y="25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49" y="249"/>
                  <a:pt x="249" y="249"/>
                  <a:pt x="249" y="249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11"/>
                  <a:pt x="238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61" y="0"/>
                  <a:pt x="50" y="11"/>
                  <a:pt x="50" y="25"/>
                </a:cubicBezTo>
                <a:cubicBezTo>
                  <a:pt x="50" y="25"/>
                  <a:pt x="50" y="25"/>
                  <a:pt x="50" y="25"/>
                </a:cubicBezTo>
                <a:cubicBezTo>
                  <a:pt x="50" y="249"/>
                  <a:pt x="50" y="249"/>
                  <a:pt x="50" y="249"/>
                </a:cubicBezTo>
                <a:cubicBezTo>
                  <a:pt x="22" y="249"/>
                  <a:pt x="0" y="271"/>
                  <a:pt x="0" y="299"/>
                </a:cubicBezTo>
                <a:cubicBezTo>
                  <a:pt x="0" y="398"/>
                  <a:pt x="0" y="398"/>
                  <a:pt x="0" y="398"/>
                </a:cubicBezTo>
                <a:cubicBezTo>
                  <a:pt x="0" y="426"/>
                  <a:pt x="22" y="448"/>
                  <a:pt x="50" y="448"/>
                </a:cubicBezTo>
                <a:cubicBezTo>
                  <a:pt x="50" y="697"/>
                  <a:pt x="50" y="697"/>
                  <a:pt x="50" y="697"/>
                </a:cubicBezTo>
                <a:cubicBezTo>
                  <a:pt x="50" y="752"/>
                  <a:pt x="94" y="797"/>
                  <a:pt x="149" y="797"/>
                </a:cubicBezTo>
                <a:cubicBezTo>
                  <a:pt x="204" y="797"/>
                  <a:pt x="249" y="752"/>
                  <a:pt x="249" y="697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99" y="448"/>
                  <a:pt x="299" y="448"/>
                  <a:pt x="299" y="448"/>
                </a:cubicBezTo>
                <a:cubicBezTo>
                  <a:pt x="299" y="697"/>
                  <a:pt x="299" y="697"/>
                  <a:pt x="299" y="697"/>
                </a:cubicBezTo>
                <a:cubicBezTo>
                  <a:pt x="299" y="752"/>
                  <a:pt x="343" y="797"/>
                  <a:pt x="398" y="797"/>
                </a:cubicBezTo>
                <a:cubicBezTo>
                  <a:pt x="453" y="797"/>
                  <a:pt x="498" y="752"/>
                  <a:pt x="498" y="697"/>
                </a:cubicBezTo>
                <a:cubicBezTo>
                  <a:pt x="498" y="448"/>
                  <a:pt x="498" y="448"/>
                  <a:pt x="498" y="448"/>
                </a:cubicBezTo>
                <a:cubicBezTo>
                  <a:pt x="548" y="448"/>
                  <a:pt x="548" y="448"/>
                  <a:pt x="548" y="448"/>
                </a:cubicBezTo>
                <a:cubicBezTo>
                  <a:pt x="548" y="697"/>
                  <a:pt x="548" y="697"/>
                  <a:pt x="548" y="697"/>
                </a:cubicBezTo>
                <a:cubicBezTo>
                  <a:pt x="548" y="752"/>
                  <a:pt x="592" y="797"/>
                  <a:pt x="647" y="797"/>
                </a:cubicBezTo>
                <a:cubicBezTo>
                  <a:pt x="702" y="797"/>
                  <a:pt x="747" y="752"/>
                  <a:pt x="747" y="697"/>
                </a:cubicBezTo>
                <a:cubicBezTo>
                  <a:pt x="747" y="448"/>
                  <a:pt x="747" y="448"/>
                  <a:pt x="747" y="448"/>
                </a:cubicBezTo>
                <a:cubicBezTo>
                  <a:pt x="775" y="448"/>
                  <a:pt x="797" y="426"/>
                  <a:pt x="797" y="398"/>
                </a:cubicBezTo>
                <a:cubicBezTo>
                  <a:pt x="797" y="299"/>
                  <a:pt x="797" y="299"/>
                  <a:pt x="797" y="299"/>
                </a:cubicBezTo>
                <a:cubicBezTo>
                  <a:pt x="797" y="271"/>
                  <a:pt x="775" y="249"/>
                  <a:pt x="747" y="249"/>
                </a:cubicBezTo>
                <a:close/>
                <a:moveTo>
                  <a:pt x="598" y="50"/>
                </a:moveTo>
                <a:cubicBezTo>
                  <a:pt x="697" y="50"/>
                  <a:pt x="697" y="50"/>
                  <a:pt x="697" y="50"/>
                </a:cubicBezTo>
                <a:cubicBezTo>
                  <a:pt x="697" y="99"/>
                  <a:pt x="697" y="99"/>
                  <a:pt x="697" y="99"/>
                </a:cubicBezTo>
                <a:cubicBezTo>
                  <a:pt x="598" y="99"/>
                  <a:pt x="598" y="99"/>
                  <a:pt x="598" y="99"/>
                </a:cubicBezTo>
                <a:lnTo>
                  <a:pt x="598" y="50"/>
                </a:lnTo>
                <a:close/>
                <a:moveTo>
                  <a:pt x="598" y="149"/>
                </a:moveTo>
                <a:cubicBezTo>
                  <a:pt x="697" y="149"/>
                  <a:pt x="697" y="149"/>
                  <a:pt x="697" y="149"/>
                </a:cubicBezTo>
                <a:cubicBezTo>
                  <a:pt x="697" y="249"/>
                  <a:pt x="697" y="249"/>
                  <a:pt x="697" y="249"/>
                </a:cubicBezTo>
                <a:cubicBezTo>
                  <a:pt x="598" y="249"/>
                  <a:pt x="598" y="249"/>
                  <a:pt x="598" y="249"/>
                </a:cubicBezTo>
                <a:lnTo>
                  <a:pt x="598" y="149"/>
                </a:lnTo>
                <a:close/>
                <a:moveTo>
                  <a:pt x="349" y="50"/>
                </a:moveTo>
                <a:cubicBezTo>
                  <a:pt x="448" y="50"/>
                  <a:pt x="448" y="50"/>
                  <a:pt x="448" y="50"/>
                </a:cubicBezTo>
                <a:cubicBezTo>
                  <a:pt x="448" y="99"/>
                  <a:pt x="448" y="99"/>
                  <a:pt x="448" y="99"/>
                </a:cubicBezTo>
                <a:cubicBezTo>
                  <a:pt x="349" y="99"/>
                  <a:pt x="349" y="99"/>
                  <a:pt x="349" y="99"/>
                </a:cubicBezTo>
                <a:lnTo>
                  <a:pt x="349" y="50"/>
                </a:lnTo>
                <a:close/>
                <a:moveTo>
                  <a:pt x="349" y="149"/>
                </a:moveTo>
                <a:cubicBezTo>
                  <a:pt x="448" y="149"/>
                  <a:pt x="448" y="149"/>
                  <a:pt x="448" y="149"/>
                </a:cubicBezTo>
                <a:cubicBezTo>
                  <a:pt x="448" y="249"/>
                  <a:pt x="448" y="249"/>
                  <a:pt x="448" y="249"/>
                </a:cubicBezTo>
                <a:cubicBezTo>
                  <a:pt x="349" y="249"/>
                  <a:pt x="349" y="249"/>
                  <a:pt x="349" y="249"/>
                </a:cubicBezTo>
                <a:lnTo>
                  <a:pt x="349" y="149"/>
                </a:lnTo>
                <a:close/>
                <a:moveTo>
                  <a:pt x="100" y="50"/>
                </a:moveTo>
                <a:cubicBezTo>
                  <a:pt x="199" y="50"/>
                  <a:pt x="199" y="50"/>
                  <a:pt x="199" y="50"/>
                </a:cubicBezTo>
                <a:cubicBezTo>
                  <a:pt x="199" y="99"/>
                  <a:pt x="199" y="99"/>
                  <a:pt x="199" y="99"/>
                </a:cubicBezTo>
                <a:cubicBezTo>
                  <a:pt x="100" y="99"/>
                  <a:pt x="100" y="99"/>
                  <a:pt x="100" y="99"/>
                </a:cubicBezTo>
                <a:lnTo>
                  <a:pt x="100" y="50"/>
                </a:lnTo>
                <a:close/>
                <a:moveTo>
                  <a:pt x="100" y="149"/>
                </a:moveTo>
                <a:cubicBezTo>
                  <a:pt x="199" y="149"/>
                  <a:pt x="199" y="149"/>
                  <a:pt x="199" y="149"/>
                </a:cubicBezTo>
                <a:cubicBezTo>
                  <a:pt x="199" y="249"/>
                  <a:pt x="199" y="249"/>
                  <a:pt x="199" y="249"/>
                </a:cubicBezTo>
                <a:cubicBezTo>
                  <a:pt x="100" y="249"/>
                  <a:pt x="100" y="249"/>
                  <a:pt x="100" y="249"/>
                </a:cubicBezTo>
                <a:lnTo>
                  <a:pt x="100" y="149"/>
                </a:lnTo>
                <a:close/>
                <a:moveTo>
                  <a:pt x="199" y="697"/>
                </a:moveTo>
                <a:cubicBezTo>
                  <a:pt x="199" y="725"/>
                  <a:pt x="177" y="747"/>
                  <a:pt x="149" y="747"/>
                </a:cubicBezTo>
                <a:cubicBezTo>
                  <a:pt x="122" y="747"/>
                  <a:pt x="100" y="725"/>
                  <a:pt x="100" y="697"/>
                </a:cubicBezTo>
                <a:cubicBezTo>
                  <a:pt x="100" y="448"/>
                  <a:pt x="100" y="448"/>
                  <a:pt x="100" y="448"/>
                </a:cubicBezTo>
                <a:cubicBezTo>
                  <a:pt x="199" y="448"/>
                  <a:pt x="199" y="448"/>
                  <a:pt x="199" y="448"/>
                </a:cubicBezTo>
                <a:lnTo>
                  <a:pt x="199" y="697"/>
                </a:lnTo>
                <a:close/>
                <a:moveTo>
                  <a:pt x="448" y="697"/>
                </a:moveTo>
                <a:cubicBezTo>
                  <a:pt x="448" y="725"/>
                  <a:pt x="426" y="747"/>
                  <a:pt x="398" y="747"/>
                </a:cubicBezTo>
                <a:cubicBezTo>
                  <a:pt x="371" y="747"/>
                  <a:pt x="349" y="725"/>
                  <a:pt x="349" y="697"/>
                </a:cubicBezTo>
                <a:cubicBezTo>
                  <a:pt x="349" y="448"/>
                  <a:pt x="349" y="448"/>
                  <a:pt x="349" y="448"/>
                </a:cubicBezTo>
                <a:cubicBezTo>
                  <a:pt x="448" y="448"/>
                  <a:pt x="448" y="448"/>
                  <a:pt x="448" y="448"/>
                </a:cubicBezTo>
                <a:lnTo>
                  <a:pt x="448" y="697"/>
                </a:lnTo>
                <a:close/>
                <a:moveTo>
                  <a:pt x="697" y="697"/>
                </a:moveTo>
                <a:cubicBezTo>
                  <a:pt x="697" y="725"/>
                  <a:pt x="675" y="747"/>
                  <a:pt x="647" y="747"/>
                </a:cubicBezTo>
                <a:cubicBezTo>
                  <a:pt x="620" y="747"/>
                  <a:pt x="598" y="725"/>
                  <a:pt x="598" y="697"/>
                </a:cubicBezTo>
                <a:cubicBezTo>
                  <a:pt x="598" y="448"/>
                  <a:pt x="598" y="448"/>
                  <a:pt x="598" y="448"/>
                </a:cubicBezTo>
                <a:cubicBezTo>
                  <a:pt x="697" y="448"/>
                  <a:pt x="697" y="448"/>
                  <a:pt x="697" y="448"/>
                </a:cubicBezTo>
                <a:lnTo>
                  <a:pt x="697" y="697"/>
                </a:lnTo>
                <a:close/>
                <a:moveTo>
                  <a:pt x="747" y="398"/>
                </a:moveTo>
                <a:cubicBezTo>
                  <a:pt x="50" y="398"/>
                  <a:pt x="50" y="398"/>
                  <a:pt x="50" y="398"/>
                </a:cubicBezTo>
                <a:cubicBezTo>
                  <a:pt x="50" y="299"/>
                  <a:pt x="50" y="299"/>
                  <a:pt x="50" y="299"/>
                </a:cubicBezTo>
                <a:cubicBezTo>
                  <a:pt x="747" y="299"/>
                  <a:pt x="747" y="299"/>
                  <a:pt x="747" y="299"/>
                </a:cubicBezTo>
                <a:lnTo>
                  <a:pt x="747" y="3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Freeform 13"/>
          <p:cNvSpPr>
            <a:spLocks noEditPoints="1"/>
          </p:cNvSpPr>
          <p:nvPr/>
        </p:nvSpPr>
        <p:spPr bwMode="auto">
          <a:xfrm>
            <a:off x="4879776" y="3377161"/>
            <a:ext cx="177075" cy="234727"/>
          </a:xfrm>
          <a:custGeom>
            <a:avLst/>
            <a:gdLst>
              <a:gd name="T0" fmla="*/ 598 w 598"/>
              <a:gd name="T1" fmla="*/ 287 h 797"/>
              <a:gd name="T2" fmla="*/ 299 w 598"/>
              <a:gd name="T3" fmla="*/ 0 h 797"/>
              <a:gd name="T4" fmla="*/ 0 w 598"/>
              <a:gd name="T5" fmla="*/ 287 h 797"/>
              <a:gd name="T6" fmla="*/ 167 w 598"/>
              <a:gd name="T7" fmla="*/ 543 h 797"/>
              <a:gd name="T8" fmla="*/ 163 w 598"/>
              <a:gd name="T9" fmla="*/ 623 h 797"/>
              <a:gd name="T10" fmla="*/ 150 w 598"/>
              <a:gd name="T11" fmla="*/ 660 h 797"/>
              <a:gd name="T12" fmla="*/ 212 w 598"/>
              <a:gd name="T13" fmla="*/ 723 h 797"/>
              <a:gd name="T14" fmla="*/ 225 w 598"/>
              <a:gd name="T15" fmla="*/ 723 h 797"/>
              <a:gd name="T16" fmla="*/ 299 w 598"/>
              <a:gd name="T17" fmla="*/ 797 h 797"/>
              <a:gd name="T18" fmla="*/ 374 w 598"/>
              <a:gd name="T19" fmla="*/ 723 h 797"/>
              <a:gd name="T20" fmla="*/ 386 w 598"/>
              <a:gd name="T21" fmla="*/ 723 h 797"/>
              <a:gd name="T22" fmla="*/ 449 w 598"/>
              <a:gd name="T23" fmla="*/ 660 h 797"/>
              <a:gd name="T24" fmla="*/ 436 w 598"/>
              <a:gd name="T25" fmla="*/ 623 h 797"/>
              <a:gd name="T26" fmla="*/ 432 w 598"/>
              <a:gd name="T27" fmla="*/ 543 h 797"/>
              <a:gd name="T28" fmla="*/ 598 w 598"/>
              <a:gd name="T29" fmla="*/ 287 h 797"/>
              <a:gd name="T30" fmla="*/ 225 w 598"/>
              <a:gd name="T31" fmla="*/ 355 h 797"/>
              <a:gd name="T32" fmla="*/ 249 w 598"/>
              <a:gd name="T33" fmla="*/ 305 h 797"/>
              <a:gd name="T34" fmla="*/ 277 w 598"/>
              <a:gd name="T35" fmla="*/ 360 h 797"/>
              <a:gd name="T36" fmla="*/ 322 w 598"/>
              <a:gd name="T37" fmla="*/ 360 h 797"/>
              <a:gd name="T38" fmla="*/ 349 w 598"/>
              <a:gd name="T39" fmla="*/ 305 h 797"/>
              <a:gd name="T40" fmla="*/ 374 w 598"/>
              <a:gd name="T41" fmla="*/ 355 h 797"/>
              <a:gd name="T42" fmla="*/ 374 w 598"/>
              <a:gd name="T43" fmla="*/ 512 h 797"/>
              <a:gd name="T44" fmla="*/ 225 w 598"/>
              <a:gd name="T45" fmla="*/ 512 h 797"/>
              <a:gd name="T46" fmla="*/ 225 w 598"/>
              <a:gd name="T47" fmla="*/ 355 h 797"/>
              <a:gd name="T48" fmla="*/ 200 w 598"/>
              <a:gd name="T49" fmla="*/ 586 h 797"/>
              <a:gd name="T50" fmla="*/ 212 w 598"/>
              <a:gd name="T51" fmla="*/ 573 h 797"/>
              <a:gd name="T52" fmla="*/ 386 w 598"/>
              <a:gd name="T53" fmla="*/ 573 h 797"/>
              <a:gd name="T54" fmla="*/ 399 w 598"/>
              <a:gd name="T55" fmla="*/ 586 h 797"/>
              <a:gd name="T56" fmla="*/ 386 w 598"/>
              <a:gd name="T57" fmla="*/ 598 h 797"/>
              <a:gd name="T58" fmla="*/ 212 w 598"/>
              <a:gd name="T59" fmla="*/ 598 h 797"/>
              <a:gd name="T60" fmla="*/ 200 w 598"/>
              <a:gd name="T61" fmla="*/ 586 h 797"/>
              <a:gd name="T62" fmla="*/ 299 w 598"/>
              <a:gd name="T63" fmla="*/ 747 h 797"/>
              <a:gd name="T64" fmla="*/ 274 w 598"/>
              <a:gd name="T65" fmla="*/ 723 h 797"/>
              <a:gd name="T66" fmla="*/ 324 w 598"/>
              <a:gd name="T67" fmla="*/ 723 h 797"/>
              <a:gd name="T68" fmla="*/ 299 w 598"/>
              <a:gd name="T69" fmla="*/ 747 h 797"/>
              <a:gd name="T70" fmla="*/ 386 w 598"/>
              <a:gd name="T71" fmla="*/ 673 h 797"/>
              <a:gd name="T72" fmla="*/ 212 w 598"/>
              <a:gd name="T73" fmla="*/ 673 h 797"/>
              <a:gd name="T74" fmla="*/ 200 w 598"/>
              <a:gd name="T75" fmla="*/ 660 h 797"/>
              <a:gd name="T76" fmla="*/ 212 w 598"/>
              <a:gd name="T77" fmla="*/ 648 h 797"/>
              <a:gd name="T78" fmla="*/ 386 w 598"/>
              <a:gd name="T79" fmla="*/ 648 h 797"/>
              <a:gd name="T80" fmla="*/ 399 w 598"/>
              <a:gd name="T81" fmla="*/ 660 h 797"/>
              <a:gd name="T82" fmla="*/ 386 w 598"/>
              <a:gd name="T83" fmla="*/ 673 h 797"/>
              <a:gd name="T84" fmla="*/ 424 w 598"/>
              <a:gd name="T85" fmla="*/ 491 h 797"/>
              <a:gd name="T86" fmla="*/ 424 w 598"/>
              <a:gd name="T87" fmla="*/ 355 h 797"/>
              <a:gd name="T88" fmla="*/ 471 w 598"/>
              <a:gd name="T89" fmla="*/ 261 h 797"/>
              <a:gd name="T90" fmla="*/ 460 w 598"/>
              <a:gd name="T91" fmla="*/ 227 h 797"/>
              <a:gd name="T92" fmla="*/ 426 w 598"/>
              <a:gd name="T93" fmla="*/ 238 h 797"/>
              <a:gd name="T94" fmla="*/ 399 w 598"/>
              <a:gd name="T95" fmla="*/ 293 h 797"/>
              <a:gd name="T96" fmla="*/ 371 w 598"/>
              <a:gd name="T97" fmla="*/ 238 h 797"/>
              <a:gd name="T98" fmla="*/ 327 w 598"/>
              <a:gd name="T99" fmla="*/ 238 h 797"/>
              <a:gd name="T100" fmla="*/ 299 w 598"/>
              <a:gd name="T101" fmla="*/ 293 h 797"/>
              <a:gd name="T102" fmla="*/ 272 w 598"/>
              <a:gd name="T103" fmla="*/ 238 h 797"/>
              <a:gd name="T104" fmla="*/ 227 w 598"/>
              <a:gd name="T105" fmla="*/ 238 h 797"/>
              <a:gd name="T106" fmla="*/ 200 w 598"/>
              <a:gd name="T107" fmla="*/ 293 h 797"/>
              <a:gd name="T108" fmla="*/ 172 w 598"/>
              <a:gd name="T109" fmla="*/ 238 h 797"/>
              <a:gd name="T110" fmla="*/ 139 w 598"/>
              <a:gd name="T111" fmla="*/ 227 h 797"/>
              <a:gd name="T112" fmla="*/ 128 w 598"/>
              <a:gd name="T113" fmla="*/ 261 h 797"/>
              <a:gd name="T114" fmla="*/ 175 w 598"/>
              <a:gd name="T115" fmla="*/ 355 h 797"/>
              <a:gd name="T116" fmla="*/ 175 w 598"/>
              <a:gd name="T117" fmla="*/ 491 h 797"/>
              <a:gd name="T118" fmla="*/ 50 w 598"/>
              <a:gd name="T119" fmla="*/ 287 h 797"/>
              <a:gd name="T120" fmla="*/ 299 w 598"/>
              <a:gd name="T121" fmla="*/ 50 h 797"/>
              <a:gd name="T122" fmla="*/ 548 w 598"/>
              <a:gd name="T123" fmla="*/ 287 h 797"/>
              <a:gd name="T124" fmla="*/ 424 w 598"/>
              <a:gd name="T125" fmla="*/ 49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8" h="797">
                <a:moveTo>
                  <a:pt x="598" y="287"/>
                </a:moveTo>
                <a:cubicBezTo>
                  <a:pt x="598" y="129"/>
                  <a:pt x="464" y="0"/>
                  <a:pt x="299" y="0"/>
                </a:cubicBezTo>
                <a:cubicBezTo>
                  <a:pt x="134" y="0"/>
                  <a:pt x="0" y="129"/>
                  <a:pt x="0" y="287"/>
                </a:cubicBezTo>
                <a:cubicBezTo>
                  <a:pt x="0" y="399"/>
                  <a:pt x="68" y="496"/>
                  <a:pt x="167" y="543"/>
                </a:cubicBezTo>
                <a:cubicBezTo>
                  <a:pt x="146" y="565"/>
                  <a:pt x="144" y="599"/>
                  <a:pt x="163" y="623"/>
                </a:cubicBezTo>
                <a:cubicBezTo>
                  <a:pt x="154" y="634"/>
                  <a:pt x="150" y="647"/>
                  <a:pt x="150" y="660"/>
                </a:cubicBezTo>
                <a:cubicBezTo>
                  <a:pt x="150" y="695"/>
                  <a:pt x="178" y="723"/>
                  <a:pt x="212" y="723"/>
                </a:cubicBezTo>
                <a:cubicBezTo>
                  <a:pt x="225" y="723"/>
                  <a:pt x="225" y="723"/>
                  <a:pt x="225" y="723"/>
                </a:cubicBezTo>
                <a:cubicBezTo>
                  <a:pt x="225" y="764"/>
                  <a:pt x="258" y="797"/>
                  <a:pt x="299" y="797"/>
                </a:cubicBezTo>
                <a:cubicBezTo>
                  <a:pt x="340" y="797"/>
                  <a:pt x="374" y="764"/>
                  <a:pt x="374" y="723"/>
                </a:cubicBezTo>
                <a:cubicBezTo>
                  <a:pt x="386" y="723"/>
                  <a:pt x="386" y="723"/>
                  <a:pt x="386" y="723"/>
                </a:cubicBezTo>
                <a:cubicBezTo>
                  <a:pt x="421" y="723"/>
                  <a:pt x="449" y="695"/>
                  <a:pt x="449" y="660"/>
                </a:cubicBezTo>
                <a:cubicBezTo>
                  <a:pt x="449" y="647"/>
                  <a:pt x="444" y="634"/>
                  <a:pt x="436" y="623"/>
                </a:cubicBezTo>
                <a:cubicBezTo>
                  <a:pt x="454" y="599"/>
                  <a:pt x="453" y="565"/>
                  <a:pt x="432" y="543"/>
                </a:cubicBezTo>
                <a:cubicBezTo>
                  <a:pt x="530" y="496"/>
                  <a:pt x="598" y="399"/>
                  <a:pt x="598" y="287"/>
                </a:cubicBezTo>
                <a:close/>
                <a:moveTo>
                  <a:pt x="225" y="355"/>
                </a:moveTo>
                <a:cubicBezTo>
                  <a:pt x="249" y="305"/>
                  <a:pt x="249" y="305"/>
                  <a:pt x="249" y="305"/>
                </a:cubicBezTo>
                <a:cubicBezTo>
                  <a:pt x="277" y="360"/>
                  <a:pt x="277" y="360"/>
                  <a:pt x="277" y="360"/>
                </a:cubicBezTo>
                <a:cubicBezTo>
                  <a:pt x="285" y="377"/>
                  <a:pt x="313" y="377"/>
                  <a:pt x="322" y="360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74" y="355"/>
                  <a:pt x="374" y="355"/>
                  <a:pt x="374" y="355"/>
                </a:cubicBezTo>
                <a:cubicBezTo>
                  <a:pt x="374" y="512"/>
                  <a:pt x="374" y="512"/>
                  <a:pt x="374" y="512"/>
                </a:cubicBezTo>
                <a:cubicBezTo>
                  <a:pt x="325" y="527"/>
                  <a:pt x="273" y="527"/>
                  <a:pt x="225" y="512"/>
                </a:cubicBezTo>
                <a:lnTo>
                  <a:pt x="225" y="355"/>
                </a:lnTo>
                <a:close/>
                <a:moveTo>
                  <a:pt x="200" y="586"/>
                </a:moveTo>
                <a:cubicBezTo>
                  <a:pt x="200" y="579"/>
                  <a:pt x="205" y="573"/>
                  <a:pt x="212" y="573"/>
                </a:cubicBezTo>
                <a:cubicBezTo>
                  <a:pt x="386" y="573"/>
                  <a:pt x="386" y="573"/>
                  <a:pt x="386" y="573"/>
                </a:cubicBezTo>
                <a:cubicBezTo>
                  <a:pt x="393" y="573"/>
                  <a:pt x="399" y="579"/>
                  <a:pt x="399" y="586"/>
                </a:cubicBezTo>
                <a:cubicBezTo>
                  <a:pt x="399" y="593"/>
                  <a:pt x="393" y="598"/>
                  <a:pt x="386" y="598"/>
                </a:cubicBezTo>
                <a:cubicBezTo>
                  <a:pt x="212" y="598"/>
                  <a:pt x="212" y="598"/>
                  <a:pt x="212" y="598"/>
                </a:cubicBezTo>
                <a:cubicBezTo>
                  <a:pt x="205" y="598"/>
                  <a:pt x="200" y="592"/>
                  <a:pt x="200" y="586"/>
                </a:cubicBezTo>
                <a:close/>
                <a:moveTo>
                  <a:pt x="299" y="747"/>
                </a:moveTo>
                <a:cubicBezTo>
                  <a:pt x="285" y="747"/>
                  <a:pt x="274" y="736"/>
                  <a:pt x="274" y="723"/>
                </a:cubicBezTo>
                <a:cubicBezTo>
                  <a:pt x="324" y="723"/>
                  <a:pt x="324" y="723"/>
                  <a:pt x="324" y="723"/>
                </a:cubicBezTo>
                <a:cubicBezTo>
                  <a:pt x="324" y="736"/>
                  <a:pt x="313" y="747"/>
                  <a:pt x="299" y="747"/>
                </a:cubicBezTo>
                <a:close/>
                <a:moveTo>
                  <a:pt x="386" y="673"/>
                </a:moveTo>
                <a:cubicBezTo>
                  <a:pt x="212" y="673"/>
                  <a:pt x="212" y="673"/>
                  <a:pt x="212" y="673"/>
                </a:cubicBezTo>
                <a:cubicBezTo>
                  <a:pt x="205" y="673"/>
                  <a:pt x="200" y="667"/>
                  <a:pt x="200" y="660"/>
                </a:cubicBezTo>
                <a:cubicBezTo>
                  <a:pt x="200" y="653"/>
                  <a:pt x="205" y="648"/>
                  <a:pt x="212" y="648"/>
                </a:cubicBezTo>
                <a:cubicBezTo>
                  <a:pt x="386" y="648"/>
                  <a:pt x="386" y="648"/>
                  <a:pt x="386" y="648"/>
                </a:cubicBezTo>
                <a:cubicBezTo>
                  <a:pt x="393" y="648"/>
                  <a:pt x="399" y="654"/>
                  <a:pt x="399" y="660"/>
                </a:cubicBezTo>
                <a:cubicBezTo>
                  <a:pt x="399" y="667"/>
                  <a:pt x="393" y="673"/>
                  <a:pt x="386" y="673"/>
                </a:cubicBezTo>
                <a:close/>
                <a:moveTo>
                  <a:pt x="424" y="491"/>
                </a:moveTo>
                <a:cubicBezTo>
                  <a:pt x="424" y="355"/>
                  <a:pt x="424" y="355"/>
                  <a:pt x="424" y="355"/>
                </a:cubicBezTo>
                <a:cubicBezTo>
                  <a:pt x="471" y="261"/>
                  <a:pt x="471" y="261"/>
                  <a:pt x="471" y="261"/>
                </a:cubicBezTo>
                <a:cubicBezTo>
                  <a:pt x="477" y="248"/>
                  <a:pt x="472" y="233"/>
                  <a:pt x="460" y="227"/>
                </a:cubicBezTo>
                <a:cubicBezTo>
                  <a:pt x="447" y="221"/>
                  <a:pt x="433" y="226"/>
                  <a:pt x="426" y="23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71" y="238"/>
                  <a:pt x="371" y="238"/>
                  <a:pt x="371" y="238"/>
                </a:cubicBezTo>
                <a:cubicBezTo>
                  <a:pt x="363" y="221"/>
                  <a:pt x="335" y="221"/>
                  <a:pt x="327" y="238"/>
                </a:cubicBezTo>
                <a:cubicBezTo>
                  <a:pt x="299" y="293"/>
                  <a:pt x="299" y="293"/>
                  <a:pt x="299" y="293"/>
                </a:cubicBezTo>
                <a:cubicBezTo>
                  <a:pt x="272" y="238"/>
                  <a:pt x="272" y="238"/>
                  <a:pt x="272" y="238"/>
                </a:cubicBezTo>
                <a:cubicBezTo>
                  <a:pt x="263" y="221"/>
                  <a:pt x="236" y="221"/>
                  <a:pt x="227" y="238"/>
                </a:cubicBezTo>
                <a:cubicBezTo>
                  <a:pt x="200" y="293"/>
                  <a:pt x="200" y="293"/>
                  <a:pt x="200" y="293"/>
                </a:cubicBezTo>
                <a:cubicBezTo>
                  <a:pt x="172" y="238"/>
                  <a:pt x="172" y="238"/>
                  <a:pt x="172" y="238"/>
                </a:cubicBezTo>
                <a:cubicBezTo>
                  <a:pt x="166" y="226"/>
                  <a:pt x="151" y="221"/>
                  <a:pt x="139" y="227"/>
                </a:cubicBezTo>
                <a:cubicBezTo>
                  <a:pt x="126" y="234"/>
                  <a:pt x="122" y="248"/>
                  <a:pt x="128" y="261"/>
                </a:cubicBezTo>
                <a:cubicBezTo>
                  <a:pt x="175" y="355"/>
                  <a:pt x="175" y="355"/>
                  <a:pt x="175" y="355"/>
                </a:cubicBezTo>
                <a:cubicBezTo>
                  <a:pt x="175" y="491"/>
                  <a:pt x="175" y="491"/>
                  <a:pt x="175" y="491"/>
                </a:cubicBezTo>
                <a:cubicBezTo>
                  <a:pt x="100" y="450"/>
                  <a:pt x="50" y="374"/>
                  <a:pt x="50" y="287"/>
                </a:cubicBezTo>
                <a:cubicBezTo>
                  <a:pt x="50" y="156"/>
                  <a:pt x="162" y="50"/>
                  <a:pt x="299" y="50"/>
                </a:cubicBezTo>
                <a:cubicBezTo>
                  <a:pt x="437" y="50"/>
                  <a:pt x="548" y="156"/>
                  <a:pt x="548" y="287"/>
                </a:cubicBezTo>
                <a:cubicBezTo>
                  <a:pt x="548" y="374"/>
                  <a:pt x="498" y="450"/>
                  <a:pt x="424" y="4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反白稿校标组合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1600"/>
            <a:ext cx="1639570" cy="4127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F597E8D-BB1B-FBB0-4E9A-FD7DB3406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49" y="703581"/>
            <a:ext cx="7530301" cy="229763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22640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03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351157" y="2617767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项目计划</a:t>
            </a: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第三单元</a:t>
            </a:r>
          </a:p>
        </p:txBody>
      </p:sp>
      <p:sp>
        <p:nvSpPr>
          <p:cNvPr id="91" name="矩形 90"/>
          <p:cNvSpPr/>
          <p:nvPr/>
        </p:nvSpPr>
        <p:spPr>
          <a:xfrm>
            <a:off x="6986270" y="169198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5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pic>
        <p:nvPicPr>
          <p:cNvPr id="6" name="图片占位符 5" descr="e1e5b2e9-ad9f-4c75-9471-db340264e94a"/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7039610" y="472440"/>
            <a:ext cx="1283335" cy="661670"/>
          </a:xfrm>
          <a:prstGeom prst="rect">
            <a:avLst/>
          </a:prstGeom>
        </p:spPr>
      </p:pic>
      <p:pic>
        <p:nvPicPr>
          <p:cNvPr id="12" name="图片占位符 12" descr="4f618d73-2c01-4a2f-a8a4-7c2c53bf0c3d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8316595" y="496570"/>
            <a:ext cx="841375" cy="576580"/>
          </a:xfrm>
          <a:prstGeom prst="rect">
            <a:avLst/>
          </a:prstGeom>
        </p:spPr>
      </p:pic>
      <p:pic>
        <p:nvPicPr>
          <p:cNvPr id="8" name="图片 7" descr="反白稿校标组合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5" y="283210"/>
            <a:ext cx="1639570" cy="412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0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985023" y="80645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项目时间计划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 descr="反白稿校标组合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80645"/>
            <a:ext cx="1639570" cy="412750"/>
          </a:xfrm>
          <a:prstGeom prst="rect">
            <a:avLst/>
          </a:prstGeom>
        </p:spPr>
      </p:pic>
      <p:grpSp>
        <p:nvGrpSpPr>
          <p:cNvPr id="183" name="图形 8">
            <a:extLst>
              <a:ext uri="{FF2B5EF4-FFF2-40B4-BE49-F238E27FC236}">
                <a16:creationId xmlns:a16="http://schemas.microsoft.com/office/drawing/2014/main" id="{489D10E2-39DD-38BE-6D7F-F80FC7A9F909}"/>
              </a:ext>
            </a:extLst>
          </p:cNvPr>
          <p:cNvGrpSpPr/>
          <p:nvPr/>
        </p:nvGrpSpPr>
        <p:grpSpPr>
          <a:xfrm>
            <a:off x="8200462" y="1429734"/>
            <a:ext cx="465106" cy="3082897"/>
            <a:chOff x="8576767" y="1664668"/>
            <a:chExt cx="465106" cy="2213908"/>
          </a:xfrm>
        </p:grpSpPr>
        <p:sp>
          <p:nvSpPr>
            <p:cNvPr id="184" name="任意多边形: 形状 183">
              <a:extLst>
                <a:ext uri="{FF2B5EF4-FFF2-40B4-BE49-F238E27FC236}">
                  <a16:creationId xmlns:a16="http://schemas.microsoft.com/office/drawing/2014/main" id="{D727339C-460E-4E96-0B10-199B945580E6}"/>
                </a:ext>
              </a:extLst>
            </p:cNvPr>
            <p:cNvSpPr/>
            <p:nvPr/>
          </p:nvSpPr>
          <p:spPr>
            <a:xfrm rot="5400000">
              <a:off x="770236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3790F82D-1A11-3893-EB8E-FD5C633C7E53}"/>
                </a:ext>
              </a:extLst>
            </p:cNvPr>
            <p:cNvSpPr/>
            <p:nvPr/>
          </p:nvSpPr>
          <p:spPr>
            <a:xfrm rot="5400000">
              <a:off x="7748876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186" name="任意多边形: 形状 185">
              <a:extLst>
                <a:ext uri="{FF2B5EF4-FFF2-40B4-BE49-F238E27FC236}">
                  <a16:creationId xmlns:a16="http://schemas.microsoft.com/office/drawing/2014/main" id="{974533FB-352A-F25B-EE67-C7C249125276}"/>
                </a:ext>
              </a:extLst>
            </p:cNvPr>
            <p:cNvSpPr/>
            <p:nvPr/>
          </p:nvSpPr>
          <p:spPr>
            <a:xfrm rot="5400000">
              <a:off x="770236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69273417-2E4C-8176-7F4C-42EAAFD6B44F}"/>
              </a:ext>
            </a:extLst>
          </p:cNvPr>
          <p:cNvSpPr/>
          <p:nvPr/>
        </p:nvSpPr>
        <p:spPr>
          <a:xfrm rot="10800000">
            <a:off x="473537" y="1416779"/>
            <a:ext cx="1489538" cy="518133"/>
          </a:xfrm>
          <a:custGeom>
            <a:avLst/>
            <a:gdLst>
              <a:gd name="csX0" fmla="*/ 1 w 2232512"/>
              <a:gd name="csY0" fmla="*/ 1 h 372085"/>
              <a:gd name="csX1" fmla="*/ 2046471 w 2232512"/>
              <a:gd name="csY1" fmla="*/ 1 h 372085"/>
              <a:gd name="csX2" fmla="*/ 2232513 w 2232512"/>
              <a:gd name="csY2" fmla="*/ 186043 h 372085"/>
              <a:gd name="csX3" fmla="*/ 2046471 w 2232512"/>
              <a:gd name="csY3" fmla="*/ 372086 h 372085"/>
              <a:gd name="csX4" fmla="*/ 1 w 2232512"/>
              <a:gd name="csY4" fmla="*/ 372086 h 372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2512" h="372085">
                <a:moveTo>
                  <a:pt x="1" y="1"/>
                </a:moveTo>
                <a:lnTo>
                  <a:pt x="2046471" y="1"/>
                </a:lnTo>
                <a:cubicBezTo>
                  <a:pt x="2170499" y="1"/>
                  <a:pt x="2232513" y="62015"/>
                  <a:pt x="2232513" y="186043"/>
                </a:cubicBezTo>
                <a:cubicBezTo>
                  <a:pt x="2232513" y="310072"/>
                  <a:pt x="2170499" y="372086"/>
                  <a:pt x="2046471" y="372086"/>
                </a:cubicBezTo>
                <a:lnTo>
                  <a:pt x="1" y="372086"/>
                </a:lnTo>
                <a:close/>
              </a:path>
            </a:pathLst>
          </a:custGeom>
          <a:solidFill>
            <a:srgbClr val="304371"/>
          </a:solidFill>
          <a:ln w="9302" cap="flat">
            <a:noFill/>
            <a:prstDash val="solid"/>
            <a:miter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ECD7B358-33F6-DD30-2CDD-4A5327E6DD49}"/>
              </a:ext>
            </a:extLst>
          </p:cNvPr>
          <p:cNvSpPr/>
          <p:nvPr/>
        </p:nvSpPr>
        <p:spPr>
          <a:xfrm rot="10800000">
            <a:off x="473537" y="2064446"/>
            <a:ext cx="1489538" cy="518133"/>
          </a:xfrm>
          <a:custGeom>
            <a:avLst/>
            <a:gdLst>
              <a:gd name="csX0" fmla="*/ 1 w 2232512"/>
              <a:gd name="csY0" fmla="*/ 1 h 372085"/>
              <a:gd name="csX1" fmla="*/ 2046471 w 2232512"/>
              <a:gd name="csY1" fmla="*/ 1 h 372085"/>
              <a:gd name="csX2" fmla="*/ 2232513 w 2232512"/>
              <a:gd name="csY2" fmla="*/ 186043 h 372085"/>
              <a:gd name="csX3" fmla="*/ 2046471 w 2232512"/>
              <a:gd name="csY3" fmla="*/ 372086 h 372085"/>
              <a:gd name="csX4" fmla="*/ 1 w 2232512"/>
              <a:gd name="csY4" fmla="*/ 372086 h 372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2512" h="372085">
                <a:moveTo>
                  <a:pt x="1" y="1"/>
                </a:moveTo>
                <a:lnTo>
                  <a:pt x="2046471" y="1"/>
                </a:lnTo>
                <a:cubicBezTo>
                  <a:pt x="2170499" y="1"/>
                  <a:pt x="2232513" y="62015"/>
                  <a:pt x="2232513" y="186043"/>
                </a:cubicBezTo>
                <a:cubicBezTo>
                  <a:pt x="2232513" y="310072"/>
                  <a:pt x="2170499" y="372086"/>
                  <a:pt x="2046471" y="372086"/>
                </a:cubicBezTo>
                <a:lnTo>
                  <a:pt x="1" y="372086"/>
                </a:lnTo>
                <a:close/>
              </a:path>
            </a:pathLst>
          </a:custGeom>
          <a:solidFill>
            <a:srgbClr val="304371"/>
          </a:solidFill>
          <a:ln w="9302" cap="flat">
            <a:noFill/>
            <a:prstDash val="solid"/>
            <a:miter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C82518A2-74BA-77D3-2BF3-03E463FBF663}"/>
              </a:ext>
            </a:extLst>
          </p:cNvPr>
          <p:cNvSpPr/>
          <p:nvPr/>
        </p:nvSpPr>
        <p:spPr>
          <a:xfrm rot="10800000">
            <a:off x="473537" y="2712113"/>
            <a:ext cx="1489538" cy="518133"/>
          </a:xfrm>
          <a:custGeom>
            <a:avLst/>
            <a:gdLst>
              <a:gd name="csX0" fmla="*/ 1 w 2232512"/>
              <a:gd name="csY0" fmla="*/ 1 h 372085"/>
              <a:gd name="csX1" fmla="*/ 2046471 w 2232512"/>
              <a:gd name="csY1" fmla="*/ 1 h 372085"/>
              <a:gd name="csX2" fmla="*/ 2232513 w 2232512"/>
              <a:gd name="csY2" fmla="*/ 186043 h 372085"/>
              <a:gd name="csX3" fmla="*/ 2046471 w 2232512"/>
              <a:gd name="csY3" fmla="*/ 372086 h 372085"/>
              <a:gd name="csX4" fmla="*/ 1 w 2232512"/>
              <a:gd name="csY4" fmla="*/ 372086 h 372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2512" h="372085">
                <a:moveTo>
                  <a:pt x="1" y="1"/>
                </a:moveTo>
                <a:lnTo>
                  <a:pt x="2046471" y="1"/>
                </a:lnTo>
                <a:cubicBezTo>
                  <a:pt x="2170499" y="1"/>
                  <a:pt x="2232513" y="62015"/>
                  <a:pt x="2232513" y="186043"/>
                </a:cubicBezTo>
                <a:cubicBezTo>
                  <a:pt x="2232513" y="310072"/>
                  <a:pt x="2170499" y="372086"/>
                  <a:pt x="2046471" y="372086"/>
                </a:cubicBezTo>
                <a:lnTo>
                  <a:pt x="1" y="372086"/>
                </a:lnTo>
                <a:close/>
              </a:path>
            </a:pathLst>
          </a:custGeom>
          <a:solidFill>
            <a:srgbClr val="304371"/>
          </a:solidFill>
          <a:ln w="9302" cap="flat">
            <a:noFill/>
            <a:prstDash val="solid"/>
            <a:miter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B403AC2A-A847-FD4D-6420-377427CD028A}"/>
              </a:ext>
            </a:extLst>
          </p:cNvPr>
          <p:cNvSpPr/>
          <p:nvPr/>
        </p:nvSpPr>
        <p:spPr>
          <a:xfrm rot="10800000">
            <a:off x="473537" y="3359783"/>
            <a:ext cx="1489538" cy="518133"/>
          </a:xfrm>
          <a:custGeom>
            <a:avLst/>
            <a:gdLst>
              <a:gd name="csX0" fmla="*/ 1 w 2232512"/>
              <a:gd name="csY0" fmla="*/ 1 h 372085"/>
              <a:gd name="csX1" fmla="*/ 2046471 w 2232512"/>
              <a:gd name="csY1" fmla="*/ 1 h 372085"/>
              <a:gd name="csX2" fmla="*/ 2232513 w 2232512"/>
              <a:gd name="csY2" fmla="*/ 186043 h 372085"/>
              <a:gd name="csX3" fmla="*/ 2046471 w 2232512"/>
              <a:gd name="csY3" fmla="*/ 372086 h 372085"/>
              <a:gd name="csX4" fmla="*/ 1 w 2232512"/>
              <a:gd name="csY4" fmla="*/ 372086 h 372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2512" h="372085">
                <a:moveTo>
                  <a:pt x="1" y="1"/>
                </a:moveTo>
                <a:lnTo>
                  <a:pt x="2046471" y="1"/>
                </a:lnTo>
                <a:cubicBezTo>
                  <a:pt x="2170499" y="1"/>
                  <a:pt x="2232513" y="62015"/>
                  <a:pt x="2232513" y="186043"/>
                </a:cubicBezTo>
                <a:cubicBezTo>
                  <a:pt x="2232513" y="310072"/>
                  <a:pt x="2170499" y="372086"/>
                  <a:pt x="2046471" y="372086"/>
                </a:cubicBezTo>
                <a:lnTo>
                  <a:pt x="1" y="372086"/>
                </a:lnTo>
                <a:close/>
              </a:path>
            </a:pathLst>
          </a:custGeom>
          <a:solidFill>
            <a:srgbClr val="304371"/>
          </a:solidFill>
          <a:ln w="9302" cap="flat">
            <a:noFill/>
            <a:prstDash val="solid"/>
            <a:miter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301FCBF5-2C38-0B95-6A15-00FF27D7B71A}"/>
              </a:ext>
            </a:extLst>
          </p:cNvPr>
          <p:cNvSpPr/>
          <p:nvPr/>
        </p:nvSpPr>
        <p:spPr>
          <a:xfrm rot="10800000">
            <a:off x="473537" y="4007451"/>
            <a:ext cx="1489538" cy="518133"/>
          </a:xfrm>
          <a:custGeom>
            <a:avLst/>
            <a:gdLst>
              <a:gd name="csX0" fmla="*/ 1 w 2232512"/>
              <a:gd name="csY0" fmla="*/ 1 h 372085"/>
              <a:gd name="csX1" fmla="*/ 2046471 w 2232512"/>
              <a:gd name="csY1" fmla="*/ 1 h 372085"/>
              <a:gd name="csX2" fmla="*/ 2232513 w 2232512"/>
              <a:gd name="csY2" fmla="*/ 186043 h 372085"/>
              <a:gd name="csX3" fmla="*/ 2046471 w 2232512"/>
              <a:gd name="csY3" fmla="*/ 372086 h 372085"/>
              <a:gd name="csX4" fmla="*/ 1 w 2232512"/>
              <a:gd name="csY4" fmla="*/ 372086 h 372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2512" h="372085">
                <a:moveTo>
                  <a:pt x="1" y="1"/>
                </a:moveTo>
                <a:lnTo>
                  <a:pt x="2046471" y="1"/>
                </a:lnTo>
                <a:cubicBezTo>
                  <a:pt x="2170499" y="1"/>
                  <a:pt x="2232513" y="62015"/>
                  <a:pt x="2232513" y="186043"/>
                </a:cubicBezTo>
                <a:cubicBezTo>
                  <a:pt x="2232513" y="310072"/>
                  <a:pt x="2170499" y="372086"/>
                  <a:pt x="2046471" y="372086"/>
                </a:cubicBezTo>
                <a:lnTo>
                  <a:pt x="1" y="372086"/>
                </a:lnTo>
                <a:close/>
              </a:path>
            </a:pathLst>
          </a:custGeom>
          <a:solidFill>
            <a:srgbClr val="304371"/>
          </a:solidFill>
          <a:ln w="9302" cap="flat">
            <a:noFill/>
            <a:prstDash val="solid"/>
            <a:miter/>
          </a:ln>
        </p:spPr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CBDAD3BC-29A6-49F9-CA80-68DD50E05164}"/>
              </a:ext>
            </a:extLst>
          </p:cNvPr>
          <p:cNvSpPr txBox="1"/>
          <p:nvPr/>
        </p:nvSpPr>
        <p:spPr>
          <a:xfrm>
            <a:off x="741252" y="1445012"/>
            <a:ext cx="954107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前期调研与</a:t>
            </a:r>
            <a:endParaRPr lang="en-US" altLang="zh-CN" sz="1200" spc="0" baseline="0" dirty="0">
              <a:ln/>
              <a:solidFill>
                <a:schemeClr val="bg1"/>
              </a:solidFill>
              <a:latin typeface="微软雅黑"/>
              <a:ea typeface="微软雅黑"/>
              <a:sym typeface="微软雅黑"/>
              <a:rtl val="0"/>
            </a:endParaRPr>
          </a:p>
          <a:p>
            <a:pPr algn="ctr"/>
            <a:r>
              <a:rPr lang="zh-CN" altLang="en-US" sz="12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方案设计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42761906-A234-0A6A-B8B0-102F6BE40967}"/>
              </a:ext>
            </a:extLst>
          </p:cNvPr>
          <p:cNvSpPr txBox="1"/>
          <p:nvPr/>
        </p:nvSpPr>
        <p:spPr>
          <a:xfrm>
            <a:off x="654690" y="2115764"/>
            <a:ext cx="112723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专项智能体搭建</a:t>
            </a:r>
            <a:endParaRPr lang="en-US" altLang="zh-CN" sz="1050" spc="0" baseline="0" dirty="0">
              <a:ln/>
              <a:solidFill>
                <a:schemeClr val="bg1"/>
              </a:solidFill>
              <a:latin typeface="微软雅黑"/>
              <a:ea typeface="微软雅黑"/>
              <a:sym typeface="微软雅黑"/>
              <a:rtl val="0"/>
            </a:endParaRPr>
          </a:p>
          <a:p>
            <a:pPr algn="ctr"/>
            <a:r>
              <a:rPr lang="zh-CN" altLang="en-US" sz="105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与交互规则开发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09E0B23-4DD6-2D9F-A848-2F4DD9BDEC8B}"/>
              </a:ext>
            </a:extLst>
          </p:cNvPr>
          <p:cNvSpPr txBox="1"/>
          <p:nvPr/>
        </p:nvSpPr>
        <p:spPr>
          <a:xfrm>
            <a:off x="561716" y="2755735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可解释推理模块</a:t>
            </a:r>
            <a:endParaRPr lang="en-US" altLang="zh-CN" sz="1100" spc="0" baseline="0" dirty="0">
              <a:ln/>
              <a:solidFill>
                <a:schemeClr val="bg1"/>
              </a:solidFill>
              <a:latin typeface="微软雅黑"/>
              <a:ea typeface="微软雅黑"/>
              <a:sym typeface="微软雅黑"/>
              <a:rtl val="0"/>
            </a:endParaRPr>
          </a:p>
          <a:p>
            <a:pPr algn="ctr"/>
            <a:r>
              <a:rPr lang="zh-CN" altLang="en-US" sz="11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开发与全链路联调</a:t>
            </a: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64DE77BA-4828-82B2-0F6D-1D88FC3B2F79}"/>
              </a:ext>
            </a:extLst>
          </p:cNvPr>
          <p:cNvSpPr txBox="1"/>
          <p:nvPr/>
        </p:nvSpPr>
        <p:spPr>
          <a:xfrm>
            <a:off x="587364" y="412801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成果整理与总结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69A2A41C-F16F-B052-2515-6AC66E4D641F}"/>
              </a:ext>
            </a:extLst>
          </p:cNvPr>
          <p:cNvSpPr txBox="1"/>
          <p:nvPr/>
        </p:nvSpPr>
        <p:spPr>
          <a:xfrm>
            <a:off x="491184" y="3403405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对比测试、效果检验</a:t>
            </a:r>
            <a:endParaRPr lang="en-US" altLang="zh-CN" sz="1100" spc="0" baseline="0" dirty="0">
              <a:ln/>
              <a:solidFill>
                <a:schemeClr val="bg1"/>
              </a:solidFill>
              <a:latin typeface="微软雅黑"/>
              <a:ea typeface="微软雅黑"/>
              <a:sym typeface="微软雅黑"/>
              <a:rtl val="0"/>
            </a:endParaRPr>
          </a:p>
          <a:p>
            <a:pPr algn="ctr"/>
            <a:r>
              <a:rPr lang="zh-CN" altLang="en-US" sz="11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rPr>
              <a:t>与迭代优化</a:t>
            </a:r>
          </a:p>
        </p:txBody>
      </p:sp>
      <p:grpSp>
        <p:nvGrpSpPr>
          <p:cNvPr id="207" name="图形 8">
            <a:extLst>
              <a:ext uri="{FF2B5EF4-FFF2-40B4-BE49-F238E27FC236}">
                <a16:creationId xmlns:a16="http://schemas.microsoft.com/office/drawing/2014/main" id="{F4E1CC53-E7A3-E058-8836-B31F20915F4E}"/>
              </a:ext>
            </a:extLst>
          </p:cNvPr>
          <p:cNvGrpSpPr/>
          <p:nvPr/>
        </p:nvGrpSpPr>
        <p:grpSpPr>
          <a:xfrm>
            <a:off x="2061052" y="1429734"/>
            <a:ext cx="465106" cy="3082897"/>
            <a:chOff x="2437357" y="1664668"/>
            <a:chExt cx="465106" cy="2213908"/>
          </a:xfrm>
        </p:grpSpPr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4CF94AA0-712D-D7D9-BE4E-366CD962F2A3}"/>
                </a:ext>
              </a:extLst>
            </p:cNvPr>
            <p:cNvSpPr/>
            <p:nvPr/>
          </p:nvSpPr>
          <p:spPr>
            <a:xfrm rot="5400000">
              <a:off x="156295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5A8774F2-C849-D1A3-F869-00D98DCBB04C}"/>
                </a:ext>
              </a:extLst>
            </p:cNvPr>
            <p:cNvSpPr/>
            <p:nvPr/>
          </p:nvSpPr>
          <p:spPr>
            <a:xfrm rot="5400000">
              <a:off x="1609467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43336957-ABBA-CB02-2770-BA9FF88983BA}"/>
                </a:ext>
              </a:extLst>
            </p:cNvPr>
            <p:cNvSpPr/>
            <p:nvPr/>
          </p:nvSpPr>
          <p:spPr>
            <a:xfrm rot="5400000">
              <a:off x="156295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11" name="图形 8">
            <a:extLst>
              <a:ext uri="{FF2B5EF4-FFF2-40B4-BE49-F238E27FC236}">
                <a16:creationId xmlns:a16="http://schemas.microsoft.com/office/drawing/2014/main" id="{835FD73D-3639-3D02-C0F0-E5473261C109}"/>
              </a:ext>
            </a:extLst>
          </p:cNvPr>
          <p:cNvGrpSpPr/>
          <p:nvPr/>
        </p:nvGrpSpPr>
        <p:grpSpPr>
          <a:xfrm>
            <a:off x="2572669" y="1429734"/>
            <a:ext cx="465106" cy="3082897"/>
            <a:chOff x="2948974" y="1664668"/>
            <a:chExt cx="465106" cy="2213908"/>
          </a:xfrm>
        </p:grpSpPr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F7CFC273-2380-86DD-3BBB-B3C764C380D8}"/>
                </a:ext>
              </a:extLst>
            </p:cNvPr>
            <p:cNvSpPr/>
            <p:nvPr/>
          </p:nvSpPr>
          <p:spPr>
            <a:xfrm rot="5400000">
              <a:off x="2074573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E659B581-14A0-A6D7-F75E-74DA8CD42506}"/>
                </a:ext>
              </a:extLst>
            </p:cNvPr>
            <p:cNvSpPr/>
            <p:nvPr/>
          </p:nvSpPr>
          <p:spPr>
            <a:xfrm rot="5400000">
              <a:off x="2121084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59C235E6-52A0-415C-BBD1-73A8B187DE45}"/>
                </a:ext>
              </a:extLst>
            </p:cNvPr>
            <p:cNvSpPr/>
            <p:nvPr/>
          </p:nvSpPr>
          <p:spPr>
            <a:xfrm rot="5400000">
              <a:off x="2074573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15" name="图形 8">
            <a:extLst>
              <a:ext uri="{FF2B5EF4-FFF2-40B4-BE49-F238E27FC236}">
                <a16:creationId xmlns:a16="http://schemas.microsoft.com/office/drawing/2014/main" id="{7DA8DC4B-8F31-AC0F-7AC4-3DBB2FB9BB74}"/>
              </a:ext>
            </a:extLst>
          </p:cNvPr>
          <p:cNvGrpSpPr/>
          <p:nvPr/>
        </p:nvGrpSpPr>
        <p:grpSpPr>
          <a:xfrm>
            <a:off x="3084287" y="1429734"/>
            <a:ext cx="465106" cy="3082897"/>
            <a:chOff x="3460592" y="1664668"/>
            <a:chExt cx="465106" cy="2213908"/>
          </a:xfrm>
        </p:grpSpPr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C02CACDB-1DAC-4583-A8A0-99A27D25B947}"/>
                </a:ext>
              </a:extLst>
            </p:cNvPr>
            <p:cNvSpPr/>
            <p:nvPr/>
          </p:nvSpPr>
          <p:spPr>
            <a:xfrm rot="5400000">
              <a:off x="2586191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068D701F-3119-2DBB-6F10-37EF9473544A}"/>
                </a:ext>
              </a:extLst>
            </p:cNvPr>
            <p:cNvSpPr/>
            <p:nvPr/>
          </p:nvSpPr>
          <p:spPr>
            <a:xfrm rot="5400000">
              <a:off x="2632702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432A7D3E-57CA-BE15-A369-56C61E07996B}"/>
                </a:ext>
              </a:extLst>
            </p:cNvPr>
            <p:cNvSpPr/>
            <p:nvPr/>
          </p:nvSpPr>
          <p:spPr>
            <a:xfrm rot="5400000">
              <a:off x="2586191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19" name="图形 8">
            <a:extLst>
              <a:ext uri="{FF2B5EF4-FFF2-40B4-BE49-F238E27FC236}">
                <a16:creationId xmlns:a16="http://schemas.microsoft.com/office/drawing/2014/main" id="{C214A7EC-F6C8-FD9B-E09F-7A2928DA8DE7}"/>
              </a:ext>
            </a:extLst>
          </p:cNvPr>
          <p:cNvGrpSpPr/>
          <p:nvPr/>
        </p:nvGrpSpPr>
        <p:grpSpPr>
          <a:xfrm>
            <a:off x="3595904" y="1429734"/>
            <a:ext cx="465106" cy="3082897"/>
            <a:chOff x="3972209" y="1664668"/>
            <a:chExt cx="465106" cy="2213908"/>
          </a:xfrm>
        </p:grpSpPr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62959F17-589D-4FC2-7D71-B10E4B4C3BFE}"/>
                </a:ext>
              </a:extLst>
            </p:cNvPr>
            <p:cNvSpPr/>
            <p:nvPr/>
          </p:nvSpPr>
          <p:spPr>
            <a:xfrm rot="5400000">
              <a:off x="3097808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7778F4A9-1A1E-26A5-5213-72AC3D5AC371}"/>
                </a:ext>
              </a:extLst>
            </p:cNvPr>
            <p:cNvSpPr/>
            <p:nvPr/>
          </p:nvSpPr>
          <p:spPr>
            <a:xfrm rot="5400000">
              <a:off x="3144319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22" name="任意多边形: 形状 221">
              <a:extLst>
                <a:ext uri="{FF2B5EF4-FFF2-40B4-BE49-F238E27FC236}">
                  <a16:creationId xmlns:a16="http://schemas.microsoft.com/office/drawing/2014/main" id="{4F4246F8-56CC-2A47-460D-E78E16B7EA5D}"/>
                </a:ext>
              </a:extLst>
            </p:cNvPr>
            <p:cNvSpPr/>
            <p:nvPr/>
          </p:nvSpPr>
          <p:spPr>
            <a:xfrm rot="5400000">
              <a:off x="3097808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23" name="图形 8">
            <a:extLst>
              <a:ext uri="{FF2B5EF4-FFF2-40B4-BE49-F238E27FC236}">
                <a16:creationId xmlns:a16="http://schemas.microsoft.com/office/drawing/2014/main" id="{DFA1275F-5EEE-BFCB-C15B-79134ABFB455}"/>
              </a:ext>
            </a:extLst>
          </p:cNvPr>
          <p:cNvGrpSpPr/>
          <p:nvPr/>
        </p:nvGrpSpPr>
        <p:grpSpPr>
          <a:xfrm>
            <a:off x="4107522" y="1429734"/>
            <a:ext cx="465106" cy="3082897"/>
            <a:chOff x="4483827" y="1664668"/>
            <a:chExt cx="465106" cy="2213908"/>
          </a:xfrm>
        </p:grpSpPr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E88527E0-F6BF-FC7E-456A-B33ABE6493CA}"/>
                </a:ext>
              </a:extLst>
            </p:cNvPr>
            <p:cNvSpPr/>
            <p:nvPr/>
          </p:nvSpPr>
          <p:spPr>
            <a:xfrm rot="5400000">
              <a:off x="360942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25" name="任意多边形: 形状 224">
              <a:extLst>
                <a:ext uri="{FF2B5EF4-FFF2-40B4-BE49-F238E27FC236}">
                  <a16:creationId xmlns:a16="http://schemas.microsoft.com/office/drawing/2014/main" id="{B33D833A-91AE-12B0-68F0-6498B227D991}"/>
                </a:ext>
              </a:extLst>
            </p:cNvPr>
            <p:cNvSpPr/>
            <p:nvPr/>
          </p:nvSpPr>
          <p:spPr>
            <a:xfrm rot="5400000">
              <a:off x="3655937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26" name="任意多边形: 形状 225">
              <a:extLst>
                <a:ext uri="{FF2B5EF4-FFF2-40B4-BE49-F238E27FC236}">
                  <a16:creationId xmlns:a16="http://schemas.microsoft.com/office/drawing/2014/main" id="{F67FF8A3-A2C8-9572-BC7A-4C3B462F2454}"/>
                </a:ext>
              </a:extLst>
            </p:cNvPr>
            <p:cNvSpPr/>
            <p:nvPr/>
          </p:nvSpPr>
          <p:spPr>
            <a:xfrm rot="5400000">
              <a:off x="360942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27" name="图形 8">
            <a:extLst>
              <a:ext uri="{FF2B5EF4-FFF2-40B4-BE49-F238E27FC236}">
                <a16:creationId xmlns:a16="http://schemas.microsoft.com/office/drawing/2014/main" id="{809614E1-08E8-E247-D0F2-48CF3983F45D}"/>
              </a:ext>
            </a:extLst>
          </p:cNvPr>
          <p:cNvGrpSpPr/>
          <p:nvPr/>
        </p:nvGrpSpPr>
        <p:grpSpPr>
          <a:xfrm>
            <a:off x="4619139" y="1429734"/>
            <a:ext cx="465106" cy="3082897"/>
            <a:chOff x="4995444" y="1664668"/>
            <a:chExt cx="465106" cy="2213908"/>
          </a:xfrm>
        </p:grpSpPr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2E54B1D8-991A-18F6-72AA-AF4423A4937F}"/>
                </a:ext>
              </a:extLst>
            </p:cNvPr>
            <p:cNvSpPr/>
            <p:nvPr/>
          </p:nvSpPr>
          <p:spPr>
            <a:xfrm rot="5400000">
              <a:off x="4121043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29" name="任意多边形: 形状 228">
              <a:extLst>
                <a:ext uri="{FF2B5EF4-FFF2-40B4-BE49-F238E27FC236}">
                  <a16:creationId xmlns:a16="http://schemas.microsoft.com/office/drawing/2014/main" id="{D4FA8560-383D-6B09-2B4B-50599D7067D4}"/>
                </a:ext>
              </a:extLst>
            </p:cNvPr>
            <p:cNvSpPr/>
            <p:nvPr/>
          </p:nvSpPr>
          <p:spPr>
            <a:xfrm rot="5400000">
              <a:off x="4167554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30" name="任意多边形: 形状 229">
              <a:extLst>
                <a:ext uri="{FF2B5EF4-FFF2-40B4-BE49-F238E27FC236}">
                  <a16:creationId xmlns:a16="http://schemas.microsoft.com/office/drawing/2014/main" id="{C5CBC352-3C18-A42E-3EA8-B17BF241D8D3}"/>
                </a:ext>
              </a:extLst>
            </p:cNvPr>
            <p:cNvSpPr/>
            <p:nvPr/>
          </p:nvSpPr>
          <p:spPr>
            <a:xfrm rot="5400000">
              <a:off x="4121043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31" name="图形 8">
            <a:extLst>
              <a:ext uri="{FF2B5EF4-FFF2-40B4-BE49-F238E27FC236}">
                <a16:creationId xmlns:a16="http://schemas.microsoft.com/office/drawing/2014/main" id="{E7BB46CB-16E8-68D5-FE5B-5F5C5C46B991}"/>
              </a:ext>
            </a:extLst>
          </p:cNvPr>
          <p:cNvGrpSpPr/>
          <p:nvPr/>
        </p:nvGrpSpPr>
        <p:grpSpPr>
          <a:xfrm>
            <a:off x="5130757" y="1429734"/>
            <a:ext cx="465106" cy="3082897"/>
            <a:chOff x="5507062" y="1664668"/>
            <a:chExt cx="465106" cy="2213908"/>
          </a:xfrm>
        </p:grpSpPr>
        <p:sp>
          <p:nvSpPr>
            <p:cNvPr id="232" name="任意多边形: 形状 231">
              <a:extLst>
                <a:ext uri="{FF2B5EF4-FFF2-40B4-BE49-F238E27FC236}">
                  <a16:creationId xmlns:a16="http://schemas.microsoft.com/office/drawing/2014/main" id="{5A3BFC4C-6776-EF73-16E0-516B7F4640B6}"/>
                </a:ext>
              </a:extLst>
            </p:cNvPr>
            <p:cNvSpPr/>
            <p:nvPr/>
          </p:nvSpPr>
          <p:spPr>
            <a:xfrm rot="5400000">
              <a:off x="4632661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33" name="任意多边形: 形状 232">
              <a:extLst>
                <a:ext uri="{FF2B5EF4-FFF2-40B4-BE49-F238E27FC236}">
                  <a16:creationId xmlns:a16="http://schemas.microsoft.com/office/drawing/2014/main" id="{00515187-6C81-0034-1860-DAB87AC06F2A}"/>
                </a:ext>
              </a:extLst>
            </p:cNvPr>
            <p:cNvSpPr/>
            <p:nvPr/>
          </p:nvSpPr>
          <p:spPr>
            <a:xfrm rot="5400000">
              <a:off x="4679171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34" name="任意多边形: 形状 233">
              <a:extLst>
                <a:ext uri="{FF2B5EF4-FFF2-40B4-BE49-F238E27FC236}">
                  <a16:creationId xmlns:a16="http://schemas.microsoft.com/office/drawing/2014/main" id="{25879D7D-E930-4647-4ECE-4C160A261052}"/>
                </a:ext>
              </a:extLst>
            </p:cNvPr>
            <p:cNvSpPr/>
            <p:nvPr/>
          </p:nvSpPr>
          <p:spPr>
            <a:xfrm rot="5400000">
              <a:off x="4632661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35" name="图形 8">
            <a:extLst>
              <a:ext uri="{FF2B5EF4-FFF2-40B4-BE49-F238E27FC236}">
                <a16:creationId xmlns:a16="http://schemas.microsoft.com/office/drawing/2014/main" id="{D790DECF-3E94-B094-E61A-8A8CCC8CDE02}"/>
              </a:ext>
            </a:extLst>
          </p:cNvPr>
          <p:cNvGrpSpPr/>
          <p:nvPr/>
        </p:nvGrpSpPr>
        <p:grpSpPr>
          <a:xfrm>
            <a:off x="5642374" y="1429734"/>
            <a:ext cx="465106" cy="3082897"/>
            <a:chOff x="6018679" y="1664668"/>
            <a:chExt cx="465106" cy="2213908"/>
          </a:xfrm>
        </p:grpSpPr>
        <p:sp>
          <p:nvSpPr>
            <p:cNvPr id="236" name="任意多边形: 形状 235">
              <a:extLst>
                <a:ext uri="{FF2B5EF4-FFF2-40B4-BE49-F238E27FC236}">
                  <a16:creationId xmlns:a16="http://schemas.microsoft.com/office/drawing/2014/main" id="{D2C82D32-59F5-39F4-8694-A29E1E04217E}"/>
                </a:ext>
              </a:extLst>
            </p:cNvPr>
            <p:cNvSpPr/>
            <p:nvPr/>
          </p:nvSpPr>
          <p:spPr>
            <a:xfrm rot="5400000">
              <a:off x="5144278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37" name="任意多边形: 形状 236">
              <a:extLst>
                <a:ext uri="{FF2B5EF4-FFF2-40B4-BE49-F238E27FC236}">
                  <a16:creationId xmlns:a16="http://schemas.microsoft.com/office/drawing/2014/main" id="{9E58BB7E-A3C8-568E-F3E6-2BAAB60A4785}"/>
                </a:ext>
              </a:extLst>
            </p:cNvPr>
            <p:cNvSpPr/>
            <p:nvPr/>
          </p:nvSpPr>
          <p:spPr>
            <a:xfrm rot="5400000">
              <a:off x="5190789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38" name="任意多边形: 形状 237">
              <a:extLst>
                <a:ext uri="{FF2B5EF4-FFF2-40B4-BE49-F238E27FC236}">
                  <a16:creationId xmlns:a16="http://schemas.microsoft.com/office/drawing/2014/main" id="{829EAFCE-5CDF-985D-DCA4-D8B4007ACDC6}"/>
                </a:ext>
              </a:extLst>
            </p:cNvPr>
            <p:cNvSpPr/>
            <p:nvPr/>
          </p:nvSpPr>
          <p:spPr>
            <a:xfrm rot="5400000">
              <a:off x="5144278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39" name="图形 8">
            <a:extLst>
              <a:ext uri="{FF2B5EF4-FFF2-40B4-BE49-F238E27FC236}">
                <a16:creationId xmlns:a16="http://schemas.microsoft.com/office/drawing/2014/main" id="{A9D7205D-6347-8A31-66B8-9253916A19A3}"/>
              </a:ext>
            </a:extLst>
          </p:cNvPr>
          <p:cNvGrpSpPr/>
          <p:nvPr/>
        </p:nvGrpSpPr>
        <p:grpSpPr>
          <a:xfrm>
            <a:off x="6153992" y="1429734"/>
            <a:ext cx="465106" cy="3082897"/>
            <a:chOff x="6530297" y="1664668"/>
            <a:chExt cx="465106" cy="2213908"/>
          </a:xfrm>
        </p:grpSpPr>
        <p:sp>
          <p:nvSpPr>
            <p:cNvPr id="240" name="任意多边形: 形状 239">
              <a:extLst>
                <a:ext uri="{FF2B5EF4-FFF2-40B4-BE49-F238E27FC236}">
                  <a16:creationId xmlns:a16="http://schemas.microsoft.com/office/drawing/2014/main" id="{17313F0E-E0F3-6B57-61B0-5B1490C0C055}"/>
                </a:ext>
              </a:extLst>
            </p:cNvPr>
            <p:cNvSpPr/>
            <p:nvPr/>
          </p:nvSpPr>
          <p:spPr>
            <a:xfrm rot="5400000">
              <a:off x="565589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693D5420-B0E7-07F3-FF43-D4F07BD1DAC9}"/>
                </a:ext>
              </a:extLst>
            </p:cNvPr>
            <p:cNvSpPr/>
            <p:nvPr/>
          </p:nvSpPr>
          <p:spPr>
            <a:xfrm rot="5400000">
              <a:off x="5702406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42" name="任意多边形: 形状 241">
              <a:extLst>
                <a:ext uri="{FF2B5EF4-FFF2-40B4-BE49-F238E27FC236}">
                  <a16:creationId xmlns:a16="http://schemas.microsoft.com/office/drawing/2014/main" id="{F56A4DE7-23CD-0885-8AF2-F214E648D009}"/>
                </a:ext>
              </a:extLst>
            </p:cNvPr>
            <p:cNvSpPr/>
            <p:nvPr/>
          </p:nvSpPr>
          <p:spPr>
            <a:xfrm rot="5400000">
              <a:off x="5655896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43" name="图形 8">
            <a:extLst>
              <a:ext uri="{FF2B5EF4-FFF2-40B4-BE49-F238E27FC236}">
                <a16:creationId xmlns:a16="http://schemas.microsoft.com/office/drawing/2014/main" id="{8D1B13B4-1777-93A9-5E75-9C122CB6D4DC}"/>
              </a:ext>
            </a:extLst>
          </p:cNvPr>
          <p:cNvGrpSpPr/>
          <p:nvPr/>
        </p:nvGrpSpPr>
        <p:grpSpPr>
          <a:xfrm>
            <a:off x="6665609" y="1429734"/>
            <a:ext cx="465106" cy="3082897"/>
            <a:chOff x="7041914" y="1664668"/>
            <a:chExt cx="465106" cy="2213908"/>
          </a:xfrm>
        </p:grpSpPr>
        <p:sp>
          <p:nvSpPr>
            <p:cNvPr id="244" name="任意多边形: 形状 243">
              <a:extLst>
                <a:ext uri="{FF2B5EF4-FFF2-40B4-BE49-F238E27FC236}">
                  <a16:creationId xmlns:a16="http://schemas.microsoft.com/office/drawing/2014/main" id="{3358AA3C-6EE5-5FFF-24DE-D69EB90FD67B}"/>
                </a:ext>
              </a:extLst>
            </p:cNvPr>
            <p:cNvSpPr/>
            <p:nvPr/>
          </p:nvSpPr>
          <p:spPr>
            <a:xfrm rot="5400000">
              <a:off x="6167513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00377DC5-58F2-FE2C-8E0B-FD4358F33F2C}"/>
                </a:ext>
              </a:extLst>
            </p:cNvPr>
            <p:cNvSpPr/>
            <p:nvPr/>
          </p:nvSpPr>
          <p:spPr>
            <a:xfrm rot="5400000">
              <a:off x="6214024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46" name="任意多边形: 形状 245">
              <a:extLst>
                <a:ext uri="{FF2B5EF4-FFF2-40B4-BE49-F238E27FC236}">
                  <a16:creationId xmlns:a16="http://schemas.microsoft.com/office/drawing/2014/main" id="{56111FF8-BA62-9B7B-EB6D-34E7A74D4FFA}"/>
                </a:ext>
              </a:extLst>
            </p:cNvPr>
            <p:cNvSpPr/>
            <p:nvPr/>
          </p:nvSpPr>
          <p:spPr>
            <a:xfrm rot="5400000">
              <a:off x="6167513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47" name="图形 8">
            <a:extLst>
              <a:ext uri="{FF2B5EF4-FFF2-40B4-BE49-F238E27FC236}">
                <a16:creationId xmlns:a16="http://schemas.microsoft.com/office/drawing/2014/main" id="{992D6DA5-6728-2EEA-287E-10771AB12737}"/>
              </a:ext>
            </a:extLst>
          </p:cNvPr>
          <p:cNvGrpSpPr/>
          <p:nvPr/>
        </p:nvGrpSpPr>
        <p:grpSpPr>
          <a:xfrm>
            <a:off x="7177227" y="1429734"/>
            <a:ext cx="465106" cy="3082897"/>
            <a:chOff x="7553532" y="1664668"/>
            <a:chExt cx="465106" cy="2213908"/>
          </a:xfrm>
        </p:grpSpPr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D4B37CB5-8D74-6BDD-FDD2-B95ACBBF3369}"/>
                </a:ext>
              </a:extLst>
            </p:cNvPr>
            <p:cNvSpPr/>
            <p:nvPr/>
          </p:nvSpPr>
          <p:spPr>
            <a:xfrm rot="5400000">
              <a:off x="6679131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FFD147E8-9B80-38F2-3D5E-8A317307C395}"/>
                </a:ext>
              </a:extLst>
            </p:cNvPr>
            <p:cNvSpPr/>
            <p:nvPr/>
          </p:nvSpPr>
          <p:spPr>
            <a:xfrm rot="5400000">
              <a:off x="6725641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8F9DC70A-BE1A-FADE-A14C-8A7B273559B3}"/>
                </a:ext>
              </a:extLst>
            </p:cNvPr>
            <p:cNvSpPr/>
            <p:nvPr/>
          </p:nvSpPr>
          <p:spPr>
            <a:xfrm rot="5400000">
              <a:off x="6679131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51" name="图形 8">
            <a:extLst>
              <a:ext uri="{FF2B5EF4-FFF2-40B4-BE49-F238E27FC236}">
                <a16:creationId xmlns:a16="http://schemas.microsoft.com/office/drawing/2014/main" id="{1498168E-0DAB-C842-7748-C786B42477F3}"/>
              </a:ext>
            </a:extLst>
          </p:cNvPr>
          <p:cNvGrpSpPr/>
          <p:nvPr/>
        </p:nvGrpSpPr>
        <p:grpSpPr>
          <a:xfrm>
            <a:off x="7688844" y="1429734"/>
            <a:ext cx="465106" cy="3082897"/>
            <a:chOff x="8065149" y="1664668"/>
            <a:chExt cx="465106" cy="2213908"/>
          </a:xfrm>
        </p:grpSpPr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6AD7E00C-D254-6D8A-5435-FCCF9F76BFBC}"/>
                </a:ext>
              </a:extLst>
            </p:cNvPr>
            <p:cNvSpPr/>
            <p:nvPr/>
          </p:nvSpPr>
          <p:spPr>
            <a:xfrm rot="5400000">
              <a:off x="7190748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 w="9302" cap="flat">
              <a:noFill/>
              <a:prstDash val="solid"/>
              <a:miter/>
            </a:ln>
          </p:spPr>
        </p:sp>
        <p:sp>
          <p:nvSpPr>
            <p:cNvPr id="253" name="任意多边形: 形状 252">
              <a:extLst>
                <a:ext uri="{FF2B5EF4-FFF2-40B4-BE49-F238E27FC236}">
                  <a16:creationId xmlns:a16="http://schemas.microsoft.com/office/drawing/2014/main" id="{AFA316D4-B1AE-1EC0-4AA2-C53FB8BD387E}"/>
                </a:ext>
              </a:extLst>
            </p:cNvPr>
            <p:cNvSpPr/>
            <p:nvPr/>
          </p:nvSpPr>
          <p:spPr>
            <a:xfrm rot="5400000">
              <a:off x="7237259" y="2585579"/>
              <a:ext cx="2120887" cy="372085"/>
            </a:xfrm>
            <a:custGeom>
              <a:avLst/>
              <a:gdLst>
                <a:gd name="csX0" fmla="*/ 1 w 2120887"/>
                <a:gd name="csY0" fmla="*/ 1 h 372085"/>
                <a:gd name="csX1" fmla="*/ 1 w 2120887"/>
                <a:gd name="csY1" fmla="*/ 372086 h 372085"/>
                <a:gd name="csX2" fmla="*/ 1 w 2120887"/>
                <a:gd name="csY2" fmla="*/ 372086 h 372085"/>
                <a:gd name="csX3" fmla="*/ 2120888 w 2120887"/>
                <a:gd name="csY3" fmla="*/ 372086 h 372085"/>
                <a:gd name="csX4" fmla="*/ 2120888 w 2120887"/>
                <a:gd name="csY4" fmla="*/ 1 h 372085"/>
                <a:gd name="csX5" fmla="*/ 1 w 2120887"/>
                <a:gd name="csY5" fmla="*/ 1 h 37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20887" h="372085">
                  <a:moveTo>
                    <a:pt x="1" y="1"/>
                  </a:moveTo>
                  <a:lnTo>
                    <a:pt x="1" y="372086"/>
                  </a:lnTo>
                  <a:lnTo>
                    <a:pt x="1" y="372086"/>
                  </a:lnTo>
                  <a:lnTo>
                    <a:pt x="2120888" y="372086"/>
                  </a:lnTo>
                  <a:lnTo>
                    <a:pt x="2120888" y="1"/>
                  </a:lnTo>
                  <a:lnTo>
                    <a:pt x="1" y="1"/>
                  </a:lnTo>
                </a:path>
              </a:pathLst>
            </a:custGeom>
            <a:solidFill>
              <a:schemeClr val="bg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54" name="任意多边形: 形状 253">
              <a:extLst>
                <a:ext uri="{FF2B5EF4-FFF2-40B4-BE49-F238E27FC236}">
                  <a16:creationId xmlns:a16="http://schemas.microsoft.com/office/drawing/2014/main" id="{6F9F9C44-7BD0-CCE9-F675-E92CC3869375}"/>
                </a:ext>
              </a:extLst>
            </p:cNvPr>
            <p:cNvSpPr/>
            <p:nvPr/>
          </p:nvSpPr>
          <p:spPr>
            <a:xfrm rot="5400000">
              <a:off x="7190748" y="2539069"/>
              <a:ext cx="2213908" cy="465106"/>
            </a:xfrm>
            <a:custGeom>
              <a:avLst/>
              <a:gdLst>
                <a:gd name="csX0" fmla="*/ 1 w 2213908"/>
                <a:gd name="csY0" fmla="*/ 1 h 465106"/>
                <a:gd name="csX1" fmla="*/ 2213909 w 2213908"/>
                <a:gd name="csY1" fmla="*/ 1 h 465106"/>
                <a:gd name="csX2" fmla="*/ 2213909 w 2213908"/>
                <a:gd name="csY2" fmla="*/ 465107 h 465106"/>
                <a:gd name="csX3" fmla="*/ 1 w 2213908"/>
                <a:gd name="csY3" fmla="*/ 465107 h 465106"/>
                <a:gd name="csX4" fmla="*/ 1 w 2213908"/>
                <a:gd name="csY4" fmla="*/ 1 h 465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13908" h="465106">
                  <a:moveTo>
                    <a:pt x="1" y="1"/>
                  </a:moveTo>
                  <a:lnTo>
                    <a:pt x="2213909" y="1"/>
                  </a:lnTo>
                  <a:lnTo>
                    <a:pt x="2213909" y="465107"/>
                  </a:lnTo>
                  <a:lnTo>
                    <a:pt x="1" y="46510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302" cap="flat">
              <a:noFill/>
              <a:prstDash val="solid"/>
              <a:miter/>
            </a:ln>
          </p:spPr>
        </p:sp>
      </p:grpSp>
      <p:grpSp>
        <p:nvGrpSpPr>
          <p:cNvPr id="255" name="图形 8">
            <a:extLst>
              <a:ext uri="{FF2B5EF4-FFF2-40B4-BE49-F238E27FC236}">
                <a16:creationId xmlns:a16="http://schemas.microsoft.com/office/drawing/2014/main" id="{653C04E0-6A26-3FC3-A0DF-BA99F26B5599}"/>
              </a:ext>
            </a:extLst>
          </p:cNvPr>
          <p:cNvGrpSpPr/>
          <p:nvPr/>
        </p:nvGrpSpPr>
        <p:grpSpPr>
          <a:xfrm>
            <a:off x="2569463" y="1028180"/>
            <a:ext cx="473206" cy="388600"/>
            <a:chOff x="2945768" y="1376302"/>
            <a:chExt cx="473206" cy="279064"/>
          </a:xfrm>
        </p:grpSpPr>
        <p:sp>
          <p:nvSpPr>
            <p:cNvPr id="256" name="矩形: 圆角 255">
              <a:extLst>
                <a:ext uri="{FF2B5EF4-FFF2-40B4-BE49-F238E27FC236}">
                  <a16:creationId xmlns:a16="http://schemas.microsoft.com/office/drawing/2014/main" id="{ACD067B0-8DCC-A509-8B1E-6DA26A29FB0A}"/>
                </a:ext>
              </a:extLst>
            </p:cNvPr>
            <p:cNvSpPr/>
            <p:nvPr/>
          </p:nvSpPr>
          <p:spPr>
            <a:xfrm>
              <a:off x="2948974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B940A3FA-7D25-CEBD-361D-BBC0749E2B5D}"/>
                </a:ext>
              </a:extLst>
            </p:cNvPr>
            <p:cNvSpPr txBox="1"/>
            <p:nvPr/>
          </p:nvSpPr>
          <p:spPr>
            <a:xfrm>
              <a:off x="2945768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26/06</a:t>
              </a:r>
            </a:p>
          </p:txBody>
        </p:sp>
      </p:grpSp>
      <p:grpSp>
        <p:nvGrpSpPr>
          <p:cNvPr id="258" name="图形 8">
            <a:extLst>
              <a:ext uri="{FF2B5EF4-FFF2-40B4-BE49-F238E27FC236}">
                <a16:creationId xmlns:a16="http://schemas.microsoft.com/office/drawing/2014/main" id="{9ECA8C77-DFF2-FBEA-EE7A-7BFF860EF2EC}"/>
              </a:ext>
            </a:extLst>
          </p:cNvPr>
          <p:cNvGrpSpPr/>
          <p:nvPr/>
        </p:nvGrpSpPr>
        <p:grpSpPr>
          <a:xfrm>
            <a:off x="2057846" y="1028180"/>
            <a:ext cx="473206" cy="388600"/>
            <a:chOff x="2434151" y="1376302"/>
            <a:chExt cx="473206" cy="279064"/>
          </a:xfrm>
        </p:grpSpPr>
        <p:sp>
          <p:nvSpPr>
            <p:cNvPr id="259" name="矩形: 圆角 258">
              <a:extLst>
                <a:ext uri="{FF2B5EF4-FFF2-40B4-BE49-F238E27FC236}">
                  <a16:creationId xmlns:a16="http://schemas.microsoft.com/office/drawing/2014/main" id="{9D9FD5FA-59D7-1396-A585-74A788CFF893}"/>
                </a:ext>
              </a:extLst>
            </p:cNvPr>
            <p:cNvSpPr/>
            <p:nvPr/>
          </p:nvSpPr>
          <p:spPr>
            <a:xfrm>
              <a:off x="2437357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E2EE2458-FE55-A490-E197-F93F9DCB11F1}"/>
                </a:ext>
              </a:extLst>
            </p:cNvPr>
            <p:cNvSpPr txBox="1"/>
            <p:nvPr/>
          </p:nvSpPr>
          <p:spPr>
            <a:xfrm>
              <a:off x="2434151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26/05</a:t>
              </a:r>
            </a:p>
          </p:txBody>
        </p:sp>
      </p:grpSp>
      <p:grpSp>
        <p:nvGrpSpPr>
          <p:cNvPr id="261" name="图形 8">
            <a:extLst>
              <a:ext uri="{FF2B5EF4-FFF2-40B4-BE49-F238E27FC236}">
                <a16:creationId xmlns:a16="http://schemas.microsoft.com/office/drawing/2014/main" id="{F50C65AF-3214-8C76-8084-0DF7D865ABC0}"/>
              </a:ext>
            </a:extLst>
          </p:cNvPr>
          <p:cNvGrpSpPr/>
          <p:nvPr/>
        </p:nvGrpSpPr>
        <p:grpSpPr>
          <a:xfrm>
            <a:off x="3592698" y="1028180"/>
            <a:ext cx="473206" cy="388600"/>
            <a:chOff x="3969003" y="1376302"/>
            <a:chExt cx="473206" cy="279064"/>
          </a:xfrm>
        </p:grpSpPr>
        <p:sp>
          <p:nvSpPr>
            <p:cNvPr id="262" name="矩形: 圆角 261">
              <a:extLst>
                <a:ext uri="{FF2B5EF4-FFF2-40B4-BE49-F238E27FC236}">
                  <a16:creationId xmlns:a16="http://schemas.microsoft.com/office/drawing/2014/main" id="{75E6130E-1CA5-6E86-FDE6-2EAFFDD9A334}"/>
                </a:ext>
              </a:extLst>
            </p:cNvPr>
            <p:cNvSpPr/>
            <p:nvPr/>
          </p:nvSpPr>
          <p:spPr>
            <a:xfrm>
              <a:off x="3972209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63" name="文本框 262">
              <a:extLst>
                <a:ext uri="{FF2B5EF4-FFF2-40B4-BE49-F238E27FC236}">
                  <a16:creationId xmlns:a16="http://schemas.microsoft.com/office/drawing/2014/main" id="{0AF8C58A-3DED-11A1-2657-3B280318DBEE}"/>
                </a:ext>
              </a:extLst>
            </p:cNvPr>
            <p:cNvSpPr txBox="1"/>
            <p:nvPr/>
          </p:nvSpPr>
          <p:spPr>
            <a:xfrm>
              <a:off x="3969003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26/08</a:t>
              </a:r>
            </a:p>
          </p:txBody>
        </p:sp>
      </p:grpSp>
      <p:grpSp>
        <p:nvGrpSpPr>
          <p:cNvPr id="264" name="图形 8">
            <a:extLst>
              <a:ext uri="{FF2B5EF4-FFF2-40B4-BE49-F238E27FC236}">
                <a16:creationId xmlns:a16="http://schemas.microsoft.com/office/drawing/2014/main" id="{D08E6B87-51E8-79A8-8BCD-8C07F28EBA44}"/>
              </a:ext>
            </a:extLst>
          </p:cNvPr>
          <p:cNvGrpSpPr/>
          <p:nvPr/>
        </p:nvGrpSpPr>
        <p:grpSpPr>
          <a:xfrm>
            <a:off x="3081081" y="1028180"/>
            <a:ext cx="473206" cy="388600"/>
            <a:chOff x="3457386" y="1376302"/>
            <a:chExt cx="473206" cy="279064"/>
          </a:xfrm>
        </p:grpSpPr>
        <p:sp>
          <p:nvSpPr>
            <p:cNvPr id="265" name="矩形: 圆角 264">
              <a:extLst>
                <a:ext uri="{FF2B5EF4-FFF2-40B4-BE49-F238E27FC236}">
                  <a16:creationId xmlns:a16="http://schemas.microsoft.com/office/drawing/2014/main" id="{7F87AF9E-897E-08C0-12B7-BE4B9EC4CB89}"/>
                </a:ext>
              </a:extLst>
            </p:cNvPr>
            <p:cNvSpPr/>
            <p:nvPr/>
          </p:nvSpPr>
          <p:spPr>
            <a:xfrm>
              <a:off x="3460592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BFEEF7AF-0E1F-B230-FD86-C644835D2EC7}"/>
                </a:ext>
              </a:extLst>
            </p:cNvPr>
            <p:cNvSpPr txBox="1"/>
            <p:nvPr/>
          </p:nvSpPr>
          <p:spPr>
            <a:xfrm>
              <a:off x="3457386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26/07</a:t>
              </a:r>
            </a:p>
          </p:txBody>
        </p:sp>
      </p:grpSp>
      <p:grpSp>
        <p:nvGrpSpPr>
          <p:cNvPr id="267" name="图形 8">
            <a:extLst>
              <a:ext uri="{FF2B5EF4-FFF2-40B4-BE49-F238E27FC236}">
                <a16:creationId xmlns:a16="http://schemas.microsoft.com/office/drawing/2014/main" id="{82FB447C-B327-80FF-DD46-9EB91C6EB0D3}"/>
              </a:ext>
            </a:extLst>
          </p:cNvPr>
          <p:cNvGrpSpPr/>
          <p:nvPr/>
        </p:nvGrpSpPr>
        <p:grpSpPr>
          <a:xfrm>
            <a:off x="4615933" y="1028180"/>
            <a:ext cx="473206" cy="388600"/>
            <a:chOff x="4992238" y="1376302"/>
            <a:chExt cx="473206" cy="279064"/>
          </a:xfrm>
        </p:grpSpPr>
        <p:sp>
          <p:nvSpPr>
            <p:cNvPr id="268" name="矩形: 圆角 267">
              <a:extLst>
                <a:ext uri="{FF2B5EF4-FFF2-40B4-BE49-F238E27FC236}">
                  <a16:creationId xmlns:a16="http://schemas.microsoft.com/office/drawing/2014/main" id="{AF2BA97D-52C9-F44B-77BC-CC12B1612CA5}"/>
                </a:ext>
              </a:extLst>
            </p:cNvPr>
            <p:cNvSpPr/>
            <p:nvPr/>
          </p:nvSpPr>
          <p:spPr>
            <a:xfrm>
              <a:off x="4995444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332EF777-10A5-B2B0-EECB-30287C0A3DC2}"/>
                </a:ext>
              </a:extLst>
            </p:cNvPr>
            <p:cNvSpPr txBox="1"/>
            <p:nvPr/>
          </p:nvSpPr>
          <p:spPr>
            <a:xfrm>
              <a:off x="4992238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26/10</a:t>
              </a:r>
            </a:p>
          </p:txBody>
        </p:sp>
      </p:grpSp>
      <p:grpSp>
        <p:nvGrpSpPr>
          <p:cNvPr id="270" name="图形 8">
            <a:extLst>
              <a:ext uri="{FF2B5EF4-FFF2-40B4-BE49-F238E27FC236}">
                <a16:creationId xmlns:a16="http://schemas.microsoft.com/office/drawing/2014/main" id="{6038BBEA-3550-2566-4698-A120CB07DB49}"/>
              </a:ext>
            </a:extLst>
          </p:cNvPr>
          <p:cNvGrpSpPr/>
          <p:nvPr/>
        </p:nvGrpSpPr>
        <p:grpSpPr>
          <a:xfrm>
            <a:off x="4104316" y="1028180"/>
            <a:ext cx="473206" cy="388600"/>
            <a:chOff x="4480621" y="1376302"/>
            <a:chExt cx="473206" cy="279064"/>
          </a:xfrm>
        </p:grpSpPr>
        <p:sp>
          <p:nvSpPr>
            <p:cNvPr id="271" name="矩形: 圆角 270">
              <a:extLst>
                <a:ext uri="{FF2B5EF4-FFF2-40B4-BE49-F238E27FC236}">
                  <a16:creationId xmlns:a16="http://schemas.microsoft.com/office/drawing/2014/main" id="{12121538-C761-1374-5383-45AC7AF33D48}"/>
                </a:ext>
              </a:extLst>
            </p:cNvPr>
            <p:cNvSpPr/>
            <p:nvPr/>
          </p:nvSpPr>
          <p:spPr>
            <a:xfrm>
              <a:off x="4483827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72" name="文本框 271">
              <a:extLst>
                <a:ext uri="{FF2B5EF4-FFF2-40B4-BE49-F238E27FC236}">
                  <a16:creationId xmlns:a16="http://schemas.microsoft.com/office/drawing/2014/main" id="{E2809534-0FF3-0B58-BAC5-ADEFF4C3BB6A}"/>
                </a:ext>
              </a:extLst>
            </p:cNvPr>
            <p:cNvSpPr txBox="1"/>
            <p:nvPr/>
          </p:nvSpPr>
          <p:spPr>
            <a:xfrm>
              <a:off x="4480621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26/09</a:t>
              </a:r>
            </a:p>
          </p:txBody>
        </p:sp>
      </p:grpSp>
      <p:grpSp>
        <p:nvGrpSpPr>
          <p:cNvPr id="273" name="图形 8">
            <a:extLst>
              <a:ext uri="{FF2B5EF4-FFF2-40B4-BE49-F238E27FC236}">
                <a16:creationId xmlns:a16="http://schemas.microsoft.com/office/drawing/2014/main" id="{655659B2-3685-DF04-4C08-A8FB62CCF79A}"/>
              </a:ext>
            </a:extLst>
          </p:cNvPr>
          <p:cNvGrpSpPr/>
          <p:nvPr/>
        </p:nvGrpSpPr>
        <p:grpSpPr>
          <a:xfrm>
            <a:off x="5639168" y="1028180"/>
            <a:ext cx="473206" cy="388600"/>
            <a:chOff x="6015473" y="1376302"/>
            <a:chExt cx="473206" cy="279064"/>
          </a:xfrm>
        </p:grpSpPr>
        <p:sp>
          <p:nvSpPr>
            <p:cNvPr id="274" name="矩形: 圆角 273">
              <a:extLst>
                <a:ext uri="{FF2B5EF4-FFF2-40B4-BE49-F238E27FC236}">
                  <a16:creationId xmlns:a16="http://schemas.microsoft.com/office/drawing/2014/main" id="{7C944D2D-2971-F008-2831-FA32477557E8}"/>
                </a:ext>
              </a:extLst>
            </p:cNvPr>
            <p:cNvSpPr/>
            <p:nvPr/>
          </p:nvSpPr>
          <p:spPr>
            <a:xfrm>
              <a:off x="6018679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77A51B24-EBD2-F76D-E5C0-129735D6B5AD}"/>
                </a:ext>
              </a:extLst>
            </p:cNvPr>
            <p:cNvSpPr txBox="1"/>
            <p:nvPr/>
          </p:nvSpPr>
          <p:spPr>
            <a:xfrm>
              <a:off x="6015473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26/12</a:t>
              </a:r>
            </a:p>
          </p:txBody>
        </p:sp>
      </p:grpSp>
      <p:grpSp>
        <p:nvGrpSpPr>
          <p:cNvPr id="276" name="图形 8">
            <a:extLst>
              <a:ext uri="{FF2B5EF4-FFF2-40B4-BE49-F238E27FC236}">
                <a16:creationId xmlns:a16="http://schemas.microsoft.com/office/drawing/2014/main" id="{369B066C-3927-4589-AA59-1476BFE2BFEB}"/>
              </a:ext>
            </a:extLst>
          </p:cNvPr>
          <p:cNvGrpSpPr/>
          <p:nvPr/>
        </p:nvGrpSpPr>
        <p:grpSpPr>
          <a:xfrm>
            <a:off x="6662403" y="1028180"/>
            <a:ext cx="473206" cy="388600"/>
            <a:chOff x="7038708" y="1376302"/>
            <a:chExt cx="473206" cy="279064"/>
          </a:xfrm>
        </p:grpSpPr>
        <p:sp>
          <p:nvSpPr>
            <p:cNvPr id="277" name="矩形: 圆角 276">
              <a:extLst>
                <a:ext uri="{FF2B5EF4-FFF2-40B4-BE49-F238E27FC236}">
                  <a16:creationId xmlns:a16="http://schemas.microsoft.com/office/drawing/2014/main" id="{79C51798-0BB4-845B-8CAF-67DE9BB66F2D}"/>
                </a:ext>
              </a:extLst>
            </p:cNvPr>
            <p:cNvSpPr/>
            <p:nvPr/>
          </p:nvSpPr>
          <p:spPr>
            <a:xfrm>
              <a:off x="7041914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78" name="文本框 277">
              <a:extLst>
                <a:ext uri="{FF2B5EF4-FFF2-40B4-BE49-F238E27FC236}">
                  <a16:creationId xmlns:a16="http://schemas.microsoft.com/office/drawing/2014/main" id="{EBE42310-80E0-6784-2ED1-D39FF8A216B7}"/>
                </a:ext>
              </a:extLst>
            </p:cNvPr>
            <p:cNvSpPr txBox="1"/>
            <p:nvPr/>
          </p:nvSpPr>
          <p:spPr>
            <a:xfrm>
              <a:off x="7038708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27/02</a:t>
              </a:r>
            </a:p>
          </p:txBody>
        </p:sp>
      </p:grpSp>
      <p:grpSp>
        <p:nvGrpSpPr>
          <p:cNvPr id="279" name="图形 8">
            <a:extLst>
              <a:ext uri="{FF2B5EF4-FFF2-40B4-BE49-F238E27FC236}">
                <a16:creationId xmlns:a16="http://schemas.microsoft.com/office/drawing/2014/main" id="{29C824E2-769C-E0AC-2E24-D6C22E874A45}"/>
              </a:ext>
            </a:extLst>
          </p:cNvPr>
          <p:cNvGrpSpPr/>
          <p:nvPr/>
        </p:nvGrpSpPr>
        <p:grpSpPr>
          <a:xfrm>
            <a:off x="6150786" y="1028180"/>
            <a:ext cx="473206" cy="388600"/>
            <a:chOff x="6527091" y="1376302"/>
            <a:chExt cx="473206" cy="279064"/>
          </a:xfrm>
        </p:grpSpPr>
        <p:sp>
          <p:nvSpPr>
            <p:cNvPr id="280" name="矩形: 圆角 279">
              <a:extLst>
                <a:ext uri="{FF2B5EF4-FFF2-40B4-BE49-F238E27FC236}">
                  <a16:creationId xmlns:a16="http://schemas.microsoft.com/office/drawing/2014/main" id="{91187660-DC3B-C795-1E7E-3EEC79AB6D75}"/>
                </a:ext>
              </a:extLst>
            </p:cNvPr>
            <p:cNvSpPr/>
            <p:nvPr/>
          </p:nvSpPr>
          <p:spPr>
            <a:xfrm>
              <a:off x="6530297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B152AC35-3242-7342-876E-4772F481EFF1}"/>
                </a:ext>
              </a:extLst>
            </p:cNvPr>
            <p:cNvSpPr txBox="1"/>
            <p:nvPr/>
          </p:nvSpPr>
          <p:spPr>
            <a:xfrm>
              <a:off x="6527091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27/01</a:t>
              </a:r>
            </a:p>
          </p:txBody>
        </p:sp>
      </p:grpSp>
      <p:grpSp>
        <p:nvGrpSpPr>
          <p:cNvPr id="282" name="图形 8">
            <a:extLst>
              <a:ext uri="{FF2B5EF4-FFF2-40B4-BE49-F238E27FC236}">
                <a16:creationId xmlns:a16="http://schemas.microsoft.com/office/drawing/2014/main" id="{7DFF05DA-55E6-2D74-453D-28C799DF5FBC}"/>
              </a:ext>
            </a:extLst>
          </p:cNvPr>
          <p:cNvGrpSpPr/>
          <p:nvPr/>
        </p:nvGrpSpPr>
        <p:grpSpPr>
          <a:xfrm>
            <a:off x="7685638" y="1028180"/>
            <a:ext cx="473206" cy="388600"/>
            <a:chOff x="8061943" y="1376302"/>
            <a:chExt cx="473206" cy="279064"/>
          </a:xfrm>
        </p:grpSpPr>
        <p:sp>
          <p:nvSpPr>
            <p:cNvPr id="283" name="矩形: 圆角 282">
              <a:extLst>
                <a:ext uri="{FF2B5EF4-FFF2-40B4-BE49-F238E27FC236}">
                  <a16:creationId xmlns:a16="http://schemas.microsoft.com/office/drawing/2014/main" id="{445F1971-3A56-34F0-9993-FE21765E476E}"/>
                </a:ext>
              </a:extLst>
            </p:cNvPr>
            <p:cNvSpPr/>
            <p:nvPr/>
          </p:nvSpPr>
          <p:spPr>
            <a:xfrm>
              <a:off x="8065149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1D47B11F-681F-4BFE-175F-9F7FA6FB6935}"/>
                </a:ext>
              </a:extLst>
            </p:cNvPr>
            <p:cNvSpPr txBox="1"/>
            <p:nvPr/>
          </p:nvSpPr>
          <p:spPr>
            <a:xfrm>
              <a:off x="8061943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27/04</a:t>
              </a:r>
            </a:p>
          </p:txBody>
        </p:sp>
      </p:grpSp>
      <p:grpSp>
        <p:nvGrpSpPr>
          <p:cNvPr id="285" name="图形 8">
            <a:extLst>
              <a:ext uri="{FF2B5EF4-FFF2-40B4-BE49-F238E27FC236}">
                <a16:creationId xmlns:a16="http://schemas.microsoft.com/office/drawing/2014/main" id="{6AE9E474-F72F-1FE1-E1D0-79AE52FA4789}"/>
              </a:ext>
            </a:extLst>
          </p:cNvPr>
          <p:cNvGrpSpPr/>
          <p:nvPr/>
        </p:nvGrpSpPr>
        <p:grpSpPr>
          <a:xfrm>
            <a:off x="7174021" y="1028180"/>
            <a:ext cx="473206" cy="388600"/>
            <a:chOff x="7550326" y="1376302"/>
            <a:chExt cx="473206" cy="279064"/>
          </a:xfrm>
        </p:grpSpPr>
        <p:sp>
          <p:nvSpPr>
            <p:cNvPr id="286" name="矩形: 圆角 285">
              <a:extLst>
                <a:ext uri="{FF2B5EF4-FFF2-40B4-BE49-F238E27FC236}">
                  <a16:creationId xmlns:a16="http://schemas.microsoft.com/office/drawing/2014/main" id="{F07B3976-3E3B-305A-8C1B-881A3F00D56E}"/>
                </a:ext>
              </a:extLst>
            </p:cNvPr>
            <p:cNvSpPr/>
            <p:nvPr/>
          </p:nvSpPr>
          <p:spPr>
            <a:xfrm>
              <a:off x="7553532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75EE8B1B-3CD1-E9E4-4B5E-22FC44F92EA8}"/>
                </a:ext>
              </a:extLst>
            </p:cNvPr>
            <p:cNvSpPr txBox="1"/>
            <p:nvPr/>
          </p:nvSpPr>
          <p:spPr>
            <a:xfrm>
              <a:off x="7550326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27/03</a:t>
              </a:r>
            </a:p>
          </p:txBody>
        </p:sp>
      </p:grpSp>
      <p:grpSp>
        <p:nvGrpSpPr>
          <p:cNvPr id="288" name="图形 8">
            <a:extLst>
              <a:ext uri="{FF2B5EF4-FFF2-40B4-BE49-F238E27FC236}">
                <a16:creationId xmlns:a16="http://schemas.microsoft.com/office/drawing/2014/main" id="{4E2B18AE-5F57-4E08-4571-04D47EA01775}"/>
              </a:ext>
            </a:extLst>
          </p:cNvPr>
          <p:cNvGrpSpPr/>
          <p:nvPr/>
        </p:nvGrpSpPr>
        <p:grpSpPr>
          <a:xfrm>
            <a:off x="2061052" y="1481546"/>
            <a:ext cx="976724" cy="388600"/>
            <a:chOff x="2437357" y="1701876"/>
            <a:chExt cx="976724" cy="279064"/>
          </a:xfrm>
        </p:grpSpPr>
        <p:sp>
          <p:nvSpPr>
            <p:cNvPr id="289" name="任意多边形: 形状 288">
              <a:extLst>
                <a:ext uri="{FF2B5EF4-FFF2-40B4-BE49-F238E27FC236}">
                  <a16:creationId xmlns:a16="http://schemas.microsoft.com/office/drawing/2014/main" id="{0BCB9E9D-2B71-F34B-1149-3250D1DE56E4}"/>
                </a:ext>
              </a:extLst>
            </p:cNvPr>
            <p:cNvSpPr/>
            <p:nvPr/>
          </p:nvSpPr>
          <p:spPr>
            <a:xfrm>
              <a:off x="2437357" y="1701876"/>
              <a:ext cx="976724" cy="279064"/>
            </a:xfrm>
            <a:custGeom>
              <a:avLst/>
              <a:gdLst>
                <a:gd name="csX0" fmla="*/ 1 w 976724"/>
                <a:gd name="csY0" fmla="*/ 1 h 279064"/>
                <a:gd name="csX1" fmla="*/ 883703 w 976724"/>
                <a:gd name="csY1" fmla="*/ 1 h 279064"/>
                <a:gd name="csX2" fmla="*/ 883703 w 976724"/>
                <a:gd name="csY2" fmla="*/ 1 h 279064"/>
                <a:gd name="csX3" fmla="*/ 976725 w 976724"/>
                <a:gd name="csY3" fmla="*/ 139533 h 279064"/>
                <a:gd name="csX4" fmla="*/ 883703 w 976724"/>
                <a:gd name="csY4" fmla="*/ 279065 h 279064"/>
                <a:gd name="csX5" fmla="*/ 883703 w 976724"/>
                <a:gd name="csY5" fmla="*/ 279065 h 279064"/>
                <a:gd name="csX6" fmla="*/ 1 w 976724"/>
                <a:gd name="csY6" fmla="*/ 279065 h 279064"/>
                <a:gd name="csX7" fmla="*/ 1 w 976724"/>
                <a:gd name="csY7" fmla="*/ 139533 h 27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6724" h="279064">
                  <a:moveTo>
                    <a:pt x="1" y="1"/>
                  </a:moveTo>
                  <a:lnTo>
                    <a:pt x="883703" y="1"/>
                  </a:lnTo>
                  <a:lnTo>
                    <a:pt x="883703" y="1"/>
                  </a:lnTo>
                  <a:lnTo>
                    <a:pt x="976725" y="139533"/>
                  </a:lnTo>
                  <a:lnTo>
                    <a:pt x="883703" y="279065"/>
                  </a:lnTo>
                  <a:lnTo>
                    <a:pt x="883703" y="279065"/>
                  </a:lnTo>
                  <a:lnTo>
                    <a:pt x="1" y="279065"/>
                  </a:lnTo>
                  <a:lnTo>
                    <a:pt x="1" y="139533"/>
                  </a:lnTo>
                  <a:close/>
                </a:path>
              </a:pathLst>
            </a:custGeom>
            <a:solidFill>
              <a:srgbClr val="304371"/>
            </a:solidFill>
            <a:ln w="9302" cap="flat">
              <a:solidFill>
                <a:srgbClr val="6C8EBF"/>
              </a:solidFill>
              <a:prstDash val="solid"/>
              <a:miter/>
            </a:ln>
          </p:spPr>
        </p:sp>
        <p:sp>
          <p:nvSpPr>
            <p:cNvPr id="290" name="文本框 289">
              <a:extLst>
                <a:ext uri="{FF2B5EF4-FFF2-40B4-BE49-F238E27FC236}">
                  <a16:creationId xmlns:a16="http://schemas.microsoft.com/office/drawing/2014/main" id="{7C037260-B34C-1228-AE63-F18C5BA69D4F}"/>
                </a:ext>
              </a:extLst>
            </p:cNvPr>
            <p:cNvSpPr txBox="1"/>
            <p:nvPr/>
          </p:nvSpPr>
          <p:spPr>
            <a:xfrm>
              <a:off x="2512987" y="1714789"/>
              <a:ext cx="761747" cy="265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明确问题并</a:t>
              </a:r>
              <a:endParaRPr lang="en-US" altLang="zh-CN" sz="9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完成方案</a:t>
              </a:r>
            </a:p>
          </p:txBody>
        </p:sp>
      </p:grpSp>
      <p:grpSp>
        <p:nvGrpSpPr>
          <p:cNvPr id="291" name="图形 8">
            <a:extLst>
              <a:ext uri="{FF2B5EF4-FFF2-40B4-BE49-F238E27FC236}">
                <a16:creationId xmlns:a16="http://schemas.microsoft.com/office/drawing/2014/main" id="{1AB05CA4-F79B-A264-0869-D00E8434FEBE}"/>
              </a:ext>
            </a:extLst>
          </p:cNvPr>
          <p:cNvGrpSpPr/>
          <p:nvPr/>
        </p:nvGrpSpPr>
        <p:grpSpPr>
          <a:xfrm>
            <a:off x="3084287" y="2129214"/>
            <a:ext cx="1488341" cy="388600"/>
            <a:chOff x="3460592" y="2166983"/>
            <a:chExt cx="1488341" cy="279064"/>
          </a:xfrm>
        </p:grpSpPr>
        <p:sp>
          <p:nvSpPr>
            <p:cNvPr id="292" name="任意多边形: 形状 291">
              <a:extLst>
                <a:ext uri="{FF2B5EF4-FFF2-40B4-BE49-F238E27FC236}">
                  <a16:creationId xmlns:a16="http://schemas.microsoft.com/office/drawing/2014/main" id="{1CEDD173-291E-35F3-2816-98A7176304D9}"/>
                </a:ext>
              </a:extLst>
            </p:cNvPr>
            <p:cNvSpPr/>
            <p:nvPr/>
          </p:nvSpPr>
          <p:spPr>
            <a:xfrm>
              <a:off x="3460592" y="2166983"/>
              <a:ext cx="1488341" cy="279064"/>
            </a:xfrm>
            <a:custGeom>
              <a:avLst/>
              <a:gdLst>
                <a:gd name="csX0" fmla="*/ 1 w 1488341"/>
                <a:gd name="csY0" fmla="*/ 1 h 279064"/>
                <a:gd name="csX1" fmla="*/ 1395321 w 1488341"/>
                <a:gd name="csY1" fmla="*/ 1 h 279064"/>
                <a:gd name="csX2" fmla="*/ 1395321 w 1488341"/>
                <a:gd name="csY2" fmla="*/ 1 h 279064"/>
                <a:gd name="csX3" fmla="*/ 1488342 w 1488341"/>
                <a:gd name="csY3" fmla="*/ 139533 h 279064"/>
                <a:gd name="csX4" fmla="*/ 1395321 w 1488341"/>
                <a:gd name="csY4" fmla="*/ 279065 h 279064"/>
                <a:gd name="csX5" fmla="*/ 1395321 w 1488341"/>
                <a:gd name="csY5" fmla="*/ 279065 h 279064"/>
                <a:gd name="csX6" fmla="*/ 1 w 1488341"/>
                <a:gd name="csY6" fmla="*/ 279065 h 279064"/>
                <a:gd name="csX7" fmla="*/ 1 w 1488341"/>
                <a:gd name="csY7" fmla="*/ 139533 h 27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88341" h="279064">
                  <a:moveTo>
                    <a:pt x="1" y="1"/>
                  </a:moveTo>
                  <a:lnTo>
                    <a:pt x="1395321" y="1"/>
                  </a:lnTo>
                  <a:lnTo>
                    <a:pt x="1395321" y="1"/>
                  </a:lnTo>
                  <a:lnTo>
                    <a:pt x="1488342" y="139533"/>
                  </a:lnTo>
                  <a:lnTo>
                    <a:pt x="1395321" y="279065"/>
                  </a:lnTo>
                  <a:lnTo>
                    <a:pt x="1395321" y="279065"/>
                  </a:lnTo>
                  <a:lnTo>
                    <a:pt x="1" y="279065"/>
                  </a:lnTo>
                  <a:lnTo>
                    <a:pt x="1" y="139533"/>
                  </a:lnTo>
                  <a:close/>
                </a:path>
              </a:pathLst>
            </a:cu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293" name="文本框 292">
              <a:extLst>
                <a:ext uri="{FF2B5EF4-FFF2-40B4-BE49-F238E27FC236}">
                  <a16:creationId xmlns:a16="http://schemas.microsoft.com/office/drawing/2014/main" id="{26208DF2-27B6-5B61-BD30-95CCC01E530C}"/>
                </a:ext>
              </a:extLst>
            </p:cNvPr>
            <p:cNvSpPr txBox="1"/>
            <p:nvPr/>
          </p:nvSpPr>
          <p:spPr>
            <a:xfrm>
              <a:off x="3707904" y="2173900"/>
              <a:ext cx="992579" cy="265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智能体基础模型</a:t>
              </a:r>
              <a:endParaRPr lang="en-US" altLang="zh-CN" sz="9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与核心机制搭建</a:t>
              </a:r>
            </a:p>
          </p:txBody>
        </p:sp>
      </p:grpSp>
      <p:grpSp>
        <p:nvGrpSpPr>
          <p:cNvPr id="294" name="图形 8">
            <a:extLst>
              <a:ext uri="{FF2B5EF4-FFF2-40B4-BE49-F238E27FC236}">
                <a16:creationId xmlns:a16="http://schemas.microsoft.com/office/drawing/2014/main" id="{3A809532-209D-2198-CD11-6AC4816D05E7}"/>
              </a:ext>
            </a:extLst>
          </p:cNvPr>
          <p:cNvGrpSpPr/>
          <p:nvPr/>
        </p:nvGrpSpPr>
        <p:grpSpPr>
          <a:xfrm>
            <a:off x="4619139" y="2776888"/>
            <a:ext cx="1497643" cy="453360"/>
            <a:chOff x="4995444" y="2632090"/>
            <a:chExt cx="1497643" cy="325569"/>
          </a:xfrm>
        </p:grpSpPr>
        <p:sp>
          <p:nvSpPr>
            <p:cNvPr id="295" name="任意多边形: 形状 294">
              <a:extLst>
                <a:ext uri="{FF2B5EF4-FFF2-40B4-BE49-F238E27FC236}">
                  <a16:creationId xmlns:a16="http://schemas.microsoft.com/office/drawing/2014/main" id="{001BB3C4-0516-7523-1A47-79A31AE90D08}"/>
                </a:ext>
              </a:extLst>
            </p:cNvPr>
            <p:cNvSpPr/>
            <p:nvPr/>
          </p:nvSpPr>
          <p:spPr>
            <a:xfrm>
              <a:off x="4995444" y="2632090"/>
              <a:ext cx="1497643" cy="279064"/>
            </a:xfrm>
            <a:custGeom>
              <a:avLst/>
              <a:gdLst>
                <a:gd name="csX0" fmla="*/ 1 w 1497643"/>
                <a:gd name="csY0" fmla="*/ 1 h 279064"/>
                <a:gd name="csX1" fmla="*/ 1404623 w 1497643"/>
                <a:gd name="csY1" fmla="*/ 1 h 279064"/>
                <a:gd name="csX2" fmla="*/ 1404623 w 1497643"/>
                <a:gd name="csY2" fmla="*/ 1 h 279064"/>
                <a:gd name="csX3" fmla="*/ 1497645 w 1497643"/>
                <a:gd name="csY3" fmla="*/ 139533 h 279064"/>
                <a:gd name="csX4" fmla="*/ 1404623 w 1497643"/>
                <a:gd name="csY4" fmla="*/ 279065 h 279064"/>
                <a:gd name="csX5" fmla="*/ 1404623 w 1497643"/>
                <a:gd name="csY5" fmla="*/ 279065 h 279064"/>
                <a:gd name="csX6" fmla="*/ 1 w 1497643"/>
                <a:gd name="csY6" fmla="*/ 279065 h 279064"/>
                <a:gd name="csX7" fmla="*/ 1 w 1497643"/>
                <a:gd name="csY7" fmla="*/ 139533 h 27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7643" h="279064">
                  <a:moveTo>
                    <a:pt x="1" y="1"/>
                  </a:moveTo>
                  <a:lnTo>
                    <a:pt x="1404623" y="1"/>
                  </a:lnTo>
                  <a:lnTo>
                    <a:pt x="1404623" y="1"/>
                  </a:lnTo>
                  <a:lnTo>
                    <a:pt x="1497645" y="139533"/>
                  </a:lnTo>
                  <a:lnTo>
                    <a:pt x="1404623" y="279065"/>
                  </a:lnTo>
                  <a:lnTo>
                    <a:pt x="1404623" y="279065"/>
                  </a:lnTo>
                  <a:lnTo>
                    <a:pt x="1" y="279065"/>
                  </a:lnTo>
                  <a:lnTo>
                    <a:pt x="1" y="139533"/>
                  </a:lnTo>
                  <a:close/>
                </a:path>
              </a:pathLst>
            </a:cu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grpSp>
          <p:nvGrpSpPr>
            <p:cNvPr id="296" name="图形 8">
              <a:extLst>
                <a:ext uri="{FF2B5EF4-FFF2-40B4-BE49-F238E27FC236}">
                  <a16:creationId xmlns:a16="http://schemas.microsoft.com/office/drawing/2014/main" id="{45032328-73A1-7F44-A94B-75F7BCA14EFF}"/>
                </a:ext>
              </a:extLst>
            </p:cNvPr>
            <p:cNvGrpSpPr/>
            <p:nvPr/>
          </p:nvGrpSpPr>
          <p:grpSpPr>
            <a:xfrm>
              <a:off x="5066839" y="2638286"/>
              <a:ext cx="1338828" cy="319373"/>
              <a:chOff x="5066839" y="2638286"/>
              <a:chExt cx="1338828" cy="319373"/>
            </a:xfrm>
            <a:solidFill>
              <a:srgbClr val="000000"/>
            </a:solidFill>
          </p:grpSpPr>
          <p:sp>
            <p:nvSpPr>
              <p:cNvPr id="297" name="文本框 296">
                <a:extLst>
                  <a:ext uri="{FF2B5EF4-FFF2-40B4-BE49-F238E27FC236}">
                    <a16:creationId xmlns:a16="http://schemas.microsoft.com/office/drawing/2014/main" id="{C01DC3DB-97D7-BA78-CC7F-E6A39D355831}"/>
                  </a:ext>
                </a:extLst>
              </p:cNvPr>
              <p:cNvSpPr txBox="1"/>
              <p:nvPr/>
            </p:nvSpPr>
            <p:spPr>
              <a:xfrm>
                <a:off x="5066839" y="2638286"/>
                <a:ext cx="133882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50" spc="0" baseline="0" dirty="0">
                    <a:ln/>
                    <a:solidFill>
                      <a:schemeClr val="bg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形成完整的全流程可追溯的</a:t>
                </a:r>
              </a:p>
            </p:txBody>
          </p:sp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AA70B566-CB51-C2D8-D69A-C3AEDB7FDC95}"/>
                  </a:ext>
                </a:extLst>
              </p:cNvPr>
              <p:cNvSpPr txBox="1"/>
              <p:nvPr/>
            </p:nvSpPr>
            <p:spPr>
              <a:xfrm>
                <a:off x="5066839" y="2749910"/>
                <a:ext cx="133882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50" spc="0" baseline="0" dirty="0">
                    <a:ln/>
                    <a:solidFill>
                      <a:schemeClr val="bg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多智能体智能会诊原型系统</a:t>
                </a:r>
              </a:p>
            </p:txBody>
          </p:sp>
        </p:grpSp>
      </p:grpSp>
      <p:grpSp>
        <p:nvGrpSpPr>
          <p:cNvPr id="299" name="图形 8">
            <a:extLst>
              <a:ext uri="{FF2B5EF4-FFF2-40B4-BE49-F238E27FC236}">
                <a16:creationId xmlns:a16="http://schemas.microsoft.com/office/drawing/2014/main" id="{DE2C839F-2F4E-F3C7-FC8A-E6E788CDE2F7}"/>
              </a:ext>
            </a:extLst>
          </p:cNvPr>
          <p:cNvGrpSpPr/>
          <p:nvPr/>
        </p:nvGrpSpPr>
        <p:grpSpPr>
          <a:xfrm>
            <a:off x="6153992" y="3424550"/>
            <a:ext cx="1488341" cy="388600"/>
            <a:chOff x="6530297" y="3097197"/>
            <a:chExt cx="1488341" cy="279064"/>
          </a:xfrm>
        </p:grpSpPr>
        <p:sp>
          <p:nvSpPr>
            <p:cNvPr id="300" name="任意多边形: 形状 299">
              <a:extLst>
                <a:ext uri="{FF2B5EF4-FFF2-40B4-BE49-F238E27FC236}">
                  <a16:creationId xmlns:a16="http://schemas.microsoft.com/office/drawing/2014/main" id="{30FDD644-F8CE-0DA9-A715-0DACFC0DA1EA}"/>
                </a:ext>
              </a:extLst>
            </p:cNvPr>
            <p:cNvSpPr/>
            <p:nvPr/>
          </p:nvSpPr>
          <p:spPr>
            <a:xfrm>
              <a:off x="6530297" y="3097197"/>
              <a:ext cx="1488341" cy="279064"/>
            </a:xfrm>
            <a:custGeom>
              <a:avLst/>
              <a:gdLst>
                <a:gd name="csX0" fmla="*/ 1 w 1488341"/>
                <a:gd name="csY0" fmla="*/ 1 h 279064"/>
                <a:gd name="csX1" fmla="*/ 1395321 w 1488341"/>
                <a:gd name="csY1" fmla="*/ 1 h 279064"/>
                <a:gd name="csX2" fmla="*/ 1395321 w 1488341"/>
                <a:gd name="csY2" fmla="*/ 1 h 279064"/>
                <a:gd name="csX3" fmla="*/ 1488342 w 1488341"/>
                <a:gd name="csY3" fmla="*/ 139533 h 279064"/>
                <a:gd name="csX4" fmla="*/ 1395321 w 1488341"/>
                <a:gd name="csY4" fmla="*/ 279065 h 279064"/>
                <a:gd name="csX5" fmla="*/ 1395321 w 1488341"/>
                <a:gd name="csY5" fmla="*/ 279065 h 279064"/>
                <a:gd name="csX6" fmla="*/ 1 w 1488341"/>
                <a:gd name="csY6" fmla="*/ 279065 h 279064"/>
                <a:gd name="csX7" fmla="*/ 1 w 1488341"/>
                <a:gd name="csY7" fmla="*/ 139533 h 27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88341" h="279064">
                  <a:moveTo>
                    <a:pt x="1" y="1"/>
                  </a:moveTo>
                  <a:lnTo>
                    <a:pt x="1395321" y="1"/>
                  </a:lnTo>
                  <a:lnTo>
                    <a:pt x="1395321" y="1"/>
                  </a:lnTo>
                  <a:lnTo>
                    <a:pt x="1488342" y="139533"/>
                  </a:lnTo>
                  <a:lnTo>
                    <a:pt x="1395321" y="279065"/>
                  </a:lnTo>
                  <a:lnTo>
                    <a:pt x="1395321" y="279065"/>
                  </a:lnTo>
                  <a:lnTo>
                    <a:pt x="1" y="279065"/>
                  </a:lnTo>
                  <a:lnTo>
                    <a:pt x="1" y="139533"/>
                  </a:lnTo>
                  <a:close/>
                </a:path>
              </a:pathLst>
            </a:cu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788C0CA7-F58C-CA5F-8683-17BB5385B049}"/>
                </a:ext>
              </a:extLst>
            </p:cNvPr>
            <p:cNvSpPr txBox="1"/>
            <p:nvPr/>
          </p:nvSpPr>
          <p:spPr>
            <a:xfrm>
              <a:off x="6703230" y="3104114"/>
              <a:ext cx="1107996" cy="265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验证性能达标并</a:t>
              </a:r>
              <a:endParaRPr lang="en-US" altLang="zh-CN" sz="9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形成最终诊断工具</a:t>
              </a:r>
            </a:p>
          </p:txBody>
        </p:sp>
      </p:grpSp>
      <p:grpSp>
        <p:nvGrpSpPr>
          <p:cNvPr id="302" name="图形 8">
            <a:extLst>
              <a:ext uri="{FF2B5EF4-FFF2-40B4-BE49-F238E27FC236}">
                <a16:creationId xmlns:a16="http://schemas.microsoft.com/office/drawing/2014/main" id="{6253F074-8D5B-EF79-D7A0-0663123FFA5A}"/>
              </a:ext>
            </a:extLst>
          </p:cNvPr>
          <p:cNvGrpSpPr/>
          <p:nvPr/>
        </p:nvGrpSpPr>
        <p:grpSpPr>
          <a:xfrm>
            <a:off x="7688844" y="4072218"/>
            <a:ext cx="976724" cy="388600"/>
            <a:chOff x="8065149" y="3562304"/>
            <a:chExt cx="976724" cy="279064"/>
          </a:xfrm>
        </p:grpSpPr>
        <p:sp>
          <p:nvSpPr>
            <p:cNvPr id="303" name="任意多边形: 形状 302">
              <a:extLst>
                <a:ext uri="{FF2B5EF4-FFF2-40B4-BE49-F238E27FC236}">
                  <a16:creationId xmlns:a16="http://schemas.microsoft.com/office/drawing/2014/main" id="{BFAE0FD2-B47F-11F0-DDE2-D8035DA5DAE4}"/>
                </a:ext>
              </a:extLst>
            </p:cNvPr>
            <p:cNvSpPr/>
            <p:nvPr/>
          </p:nvSpPr>
          <p:spPr>
            <a:xfrm>
              <a:off x="8065149" y="3562304"/>
              <a:ext cx="976724" cy="279064"/>
            </a:xfrm>
            <a:custGeom>
              <a:avLst/>
              <a:gdLst>
                <a:gd name="csX0" fmla="*/ 1 w 976724"/>
                <a:gd name="csY0" fmla="*/ 1 h 279064"/>
                <a:gd name="csX1" fmla="*/ 883703 w 976724"/>
                <a:gd name="csY1" fmla="*/ 1 h 279064"/>
                <a:gd name="csX2" fmla="*/ 883703 w 976724"/>
                <a:gd name="csY2" fmla="*/ 1 h 279064"/>
                <a:gd name="csX3" fmla="*/ 976725 w 976724"/>
                <a:gd name="csY3" fmla="*/ 139533 h 279064"/>
                <a:gd name="csX4" fmla="*/ 883703 w 976724"/>
                <a:gd name="csY4" fmla="*/ 279065 h 279064"/>
                <a:gd name="csX5" fmla="*/ 883703 w 976724"/>
                <a:gd name="csY5" fmla="*/ 279065 h 279064"/>
                <a:gd name="csX6" fmla="*/ 1 w 976724"/>
                <a:gd name="csY6" fmla="*/ 279065 h 279064"/>
                <a:gd name="csX7" fmla="*/ 1 w 976724"/>
                <a:gd name="csY7" fmla="*/ 139533 h 27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6724" h="279064">
                  <a:moveTo>
                    <a:pt x="1" y="1"/>
                  </a:moveTo>
                  <a:lnTo>
                    <a:pt x="883703" y="1"/>
                  </a:lnTo>
                  <a:lnTo>
                    <a:pt x="883703" y="1"/>
                  </a:lnTo>
                  <a:lnTo>
                    <a:pt x="976725" y="139533"/>
                  </a:lnTo>
                  <a:lnTo>
                    <a:pt x="883703" y="279065"/>
                  </a:lnTo>
                  <a:lnTo>
                    <a:pt x="883703" y="279065"/>
                  </a:lnTo>
                  <a:lnTo>
                    <a:pt x="1" y="279065"/>
                  </a:lnTo>
                  <a:lnTo>
                    <a:pt x="1" y="139533"/>
                  </a:lnTo>
                  <a:close/>
                </a:path>
              </a:pathLst>
            </a:cu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C85A1410-2B2D-2CE3-339A-2348E3403108}"/>
                </a:ext>
              </a:extLst>
            </p:cNvPr>
            <p:cNvSpPr txBox="1"/>
            <p:nvPr/>
          </p:nvSpPr>
          <p:spPr>
            <a:xfrm>
              <a:off x="8168629" y="3569221"/>
              <a:ext cx="761747" cy="265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梳理数据并</a:t>
              </a:r>
              <a:endParaRPr lang="en-US" altLang="zh-CN" sz="900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900" spc="0" baseline="0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完成论文</a:t>
              </a:r>
            </a:p>
          </p:txBody>
        </p:sp>
      </p:grpSp>
      <p:grpSp>
        <p:nvGrpSpPr>
          <p:cNvPr id="305" name="图形 8">
            <a:extLst>
              <a:ext uri="{FF2B5EF4-FFF2-40B4-BE49-F238E27FC236}">
                <a16:creationId xmlns:a16="http://schemas.microsoft.com/office/drawing/2014/main" id="{9A3AB969-A48C-892E-EAF8-02025DB82B61}"/>
              </a:ext>
            </a:extLst>
          </p:cNvPr>
          <p:cNvGrpSpPr/>
          <p:nvPr/>
        </p:nvGrpSpPr>
        <p:grpSpPr>
          <a:xfrm>
            <a:off x="5130757" y="1028180"/>
            <a:ext cx="474142" cy="388600"/>
            <a:chOff x="5507062" y="1376302"/>
            <a:chExt cx="474142" cy="279064"/>
          </a:xfrm>
        </p:grpSpPr>
        <p:sp>
          <p:nvSpPr>
            <p:cNvPr id="306" name="矩形: 圆角 305">
              <a:extLst>
                <a:ext uri="{FF2B5EF4-FFF2-40B4-BE49-F238E27FC236}">
                  <a16:creationId xmlns:a16="http://schemas.microsoft.com/office/drawing/2014/main" id="{AEDB2A4E-FA6C-4E6B-735E-862A1E9E4E16}"/>
                </a:ext>
              </a:extLst>
            </p:cNvPr>
            <p:cNvSpPr/>
            <p:nvPr/>
          </p:nvSpPr>
          <p:spPr>
            <a:xfrm>
              <a:off x="5507062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307" name="文本框 306">
              <a:extLst>
                <a:ext uri="{FF2B5EF4-FFF2-40B4-BE49-F238E27FC236}">
                  <a16:creationId xmlns:a16="http://schemas.microsoft.com/office/drawing/2014/main" id="{6DFB1257-EC3A-A26D-0FCA-0A1F607D0570}"/>
                </a:ext>
              </a:extLst>
            </p:cNvPr>
            <p:cNvSpPr txBox="1"/>
            <p:nvPr/>
          </p:nvSpPr>
          <p:spPr>
            <a:xfrm>
              <a:off x="5507998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26/11</a:t>
              </a:r>
            </a:p>
          </p:txBody>
        </p:sp>
      </p:grpSp>
      <p:grpSp>
        <p:nvGrpSpPr>
          <p:cNvPr id="308" name="图形 8">
            <a:extLst>
              <a:ext uri="{FF2B5EF4-FFF2-40B4-BE49-F238E27FC236}">
                <a16:creationId xmlns:a16="http://schemas.microsoft.com/office/drawing/2014/main" id="{C1D869A5-487A-572C-0FBE-F81191BC5012}"/>
              </a:ext>
            </a:extLst>
          </p:cNvPr>
          <p:cNvGrpSpPr/>
          <p:nvPr/>
        </p:nvGrpSpPr>
        <p:grpSpPr>
          <a:xfrm>
            <a:off x="8197256" y="1028180"/>
            <a:ext cx="473206" cy="388600"/>
            <a:chOff x="8573561" y="1376302"/>
            <a:chExt cx="473206" cy="279064"/>
          </a:xfrm>
        </p:grpSpPr>
        <p:sp>
          <p:nvSpPr>
            <p:cNvPr id="309" name="矩形: 圆角 308">
              <a:extLst>
                <a:ext uri="{FF2B5EF4-FFF2-40B4-BE49-F238E27FC236}">
                  <a16:creationId xmlns:a16="http://schemas.microsoft.com/office/drawing/2014/main" id="{7FE63970-BC30-CB93-7B37-7B5EC331D81F}"/>
                </a:ext>
              </a:extLst>
            </p:cNvPr>
            <p:cNvSpPr/>
            <p:nvPr/>
          </p:nvSpPr>
          <p:spPr>
            <a:xfrm>
              <a:off x="8576767" y="1376302"/>
              <a:ext cx="465106" cy="279064"/>
            </a:xfrm>
            <a:prstGeom prst="roundRect">
              <a:avLst>
                <a:gd name="adj" fmla="val 14999"/>
              </a:avLst>
            </a:prstGeom>
            <a:solidFill>
              <a:srgbClr val="304371"/>
            </a:solidFill>
            <a:ln w="9302" cap="flat">
              <a:noFill/>
              <a:prstDash val="solid"/>
              <a:miter/>
            </a:ln>
          </p:spPr>
        </p: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91D78075-4C8C-97BF-59DA-36159AB55C0E}"/>
                </a:ext>
              </a:extLst>
            </p:cNvPr>
            <p:cNvSpPr txBox="1"/>
            <p:nvPr/>
          </p:nvSpPr>
          <p:spPr>
            <a:xfrm>
              <a:off x="8573561" y="1401619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ln/>
                  <a:solidFill>
                    <a:schemeClr val="bg1"/>
                  </a:solidFill>
                  <a:latin typeface="Helvetica"/>
                  <a:cs typeface="Helvetica"/>
                  <a:sym typeface="Helvetica"/>
                  <a:rtl val="0"/>
                </a:rPr>
                <a:t>27/05</a:t>
              </a: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1526638"/>
            <a:ext cx="9144000" cy="224399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524224" y="9682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预期成果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: 圆角 2"/>
          <p:cNvSpPr/>
          <p:nvPr/>
        </p:nvSpPr>
        <p:spPr>
          <a:xfrm>
            <a:off x="405727" y="1232116"/>
            <a:ext cx="2286000" cy="3215898"/>
          </a:xfrm>
          <a:prstGeom prst="roundRect">
            <a:avLst>
              <a:gd name="adj" fmla="val 432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6"/>
          <p:cNvSpPr txBox="1">
            <a:spLocks noChangeArrowheads="1"/>
          </p:cNvSpPr>
          <p:nvPr/>
        </p:nvSpPr>
        <p:spPr bwMode="auto">
          <a:xfrm>
            <a:off x="933477" y="2404303"/>
            <a:ext cx="1230501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软件模型</a:t>
            </a:r>
          </a:p>
        </p:txBody>
      </p:sp>
      <p:sp>
        <p:nvSpPr>
          <p:cNvPr id="31" name="矩形 30"/>
          <p:cNvSpPr/>
          <p:nvPr/>
        </p:nvSpPr>
        <p:spPr>
          <a:xfrm>
            <a:off x="362003" y="2729274"/>
            <a:ext cx="2373448" cy="790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开发一套“基于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MLLM</a:t>
            </a: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的多智能体医疗会诊协同平台”原型系统，支持多角色交互与决策可视化。</a:t>
            </a:r>
          </a:p>
        </p:txBody>
      </p:sp>
      <p:sp>
        <p:nvSpPr>
          <p:cNvPr id="48" name="矩形: 圆角 47"/>
          <p:cNvSpPr/>
          <p:nvPr/>
        </p:nvSpPr>
        <p:spPr>
          <a:xfrm>
            <a:off x="3429000" y="1232116"/>
            <a:ext cx="2286000" cy="3215898"/>
          </a:xfrm>
          <a:prstGeom prst="roundRect">
            <a:avLst>
              <a:gd name="adj" fmla="val 432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6"/>
          <p:cNvSpPr txBox="1">
            <a:spLocks noChangeArrowheads="1"/>
          </p:cNvSpPr>
          <p:nvPr/>
        </p:nvSpPr>
        <p:spPr bwMode="auto">
          <a:xfrm>
            <a:off x="3956750" y="2404303"/>
            <a:ext cx="1230501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学术论文</a:t>
            </a:r>
          </a:p>
        </p:txBody>
      </p:sp>
      <p:sp>
        <p:nvSpPr>
          <p:cNvPr id="50" name="矩形 49"/>
          <p:cNvSpPr/>
          <p:nvPr/>
        </p:nvSpPr>
        <p:spPr>
          <a:xfrm>
            <a:off x="3385276" y="2729274"/>
            <a:ext cx="2373448" cy="548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或医疗信息学相关的核心期刊发表论文一篇。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6598376" y="1232116"/>
            <a:ext cx="2286000" cy="3215898"/>
          </a:xfrm>
          <a:prstGeom prst="roundRect">
            <a:avLst>
              <a:gd name="adj" fmla="val 432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6"/>
          <p:cNvSpPr txBox="1">
            <a:spLocks noChangeArrowheads="1"/>
          </p:cNvSpPr>
          <p:nvPr/>
        </p:nvSpPr>
        <p:spPr bwMode="auto">
          <a:xfrm>
            <a:off x="7126126" y="2404303"/>
            <a:ext cx="1230501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知识产权</a:t>
            </a:r>
          </a:p>
        </p:txBody>
      </p:sp>
      <p:sp>
        <p:nvSpPr>
          <p:cNvPr id="54" name="矩形 53"/>
          <p:cNvSpPr/>
          <p:nvPr/>
        </p:nvSpPr>
        <p:spPr>
          <a:xfrm>
            <a:off x="6554652" y="2729274"/>
            <a:ext cx="2373448" cy="306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申请并获得国家软件著作权一项。</a:t>
            </a:r>
          </a:p>
        </p:txBody>
      </p:sp>
      <p:sp>
        <p:nvSpPr>
          <p:cNvPr id="20" name="Freeform 5"/>
          <p:cNvSpPr>
            <a:spLocks noEditPoints="1"/>
          </p:cNvSpPr>
          <p:nvPr/>
        </p:nvSpPr>
        <p:spPr bwMode="auto">
          <a:xfrm>
            <a:off x="4385412" y="1756357"/>
            <a:ext cx="373177" cy="473931"/>
          </a:xfrm>
          <a:custGeom>
            <a:avLst/>
            <a:gdLst>
              <a:gd name="T0" fmla="*/ 613 w 623"/>
              <a:gd name="T1" fmla="*/ 84 h 798"/>
              <a:gd name="T2" fmla="*/ 504 w 623"/>
              <a:gd name="T3" fmla="*/ 10 h 798"/>
              <a:gd name="T4" fmla="*/ 423 w 623"/>
              <a:gd name="T5" fmla="*/ 91 h 798"/>
              <a:gd name="T6" fmla="*/ 224 w 623"/>
              <a:gd name="T7" fmla="*/ 291 h 798"/>
              <a:gd name="T8" fmla="*/ 181 w 623"/>
              <a:gd name="T9" fmla="*/ 283 h 798"/>
              <a:gd name="T10" fmla="*/ 181 w 623"/>
              <a:gd name="T11" fmla="*/ 318 h 798"/>
              <a:gd name="T12" fmla="*/ 132 w 623"/>
              <a:gd name="T13" fmla="*/ 383 h 798"/>
              <a:gd name="T14" fmla="*/ 206 w 623"/>
              <a:gd name="T15" fmla="*/ 492 h 798"/>
              <a:gd name="T16" fmla="*/ 241 w 623"/>
              <a:gd name="T17" fmla="*/ 492 h 798"/>
              <a:gd name="T18" fmla="*/ 305 w 623"/>
              <a:gd name="T19" fmla="*/ 443 h 798"/>
              <a:gd name="T20" fmla="*/ 341 w 623"/>
              <a:gd name="T21" fmla="*/ 408 h 798"/>
              <a:gd name="T22" fmla="*/ 446 w 623"/>
              <a:gd name="T23" fmla="*/ 287 h 798"/>
              <a:gd name="T24" fmla="*/ 496 w 623"/>
              <a:gd name="T25" fmla="*/ 268 h 798"/>
              <a:gd name="T26" fmla="*/ 463 w 623"/>
              <a:gd name="T27" fmla="*/ 550 h 798"/>
              <a:gd name="T28" fmla="*/ 75 w 623"/>
              <a:gd name="T29" fmla="*/ 525 h 798"/>
              <a:gd name="T30" fmla="*/ 75 w 623"/>
              <a:gd name="T31" fmla="*/ 574 h 798"/>
              <a:gd name="T32" fmla="*/ 312 w 623"/>
              <a:gd name="T33" fmla="*/ 574 h 798"/>
              <a:gd name="T34" fmla="*/ 298 w 623"/>
              <a:gd name="T35" fmla="*/ 649 h 798"/>
              <a:gd name="T36" fmla="*/ 0 w 623"/>
              <a:gd name="T37" fmla="*/ 674 h 798"/>
              <a:gd name="T38" fmla="*/ 0 w 623"/>
              <a:gd name="T39" fmla="*/ 773 h 798"/>
              <a:gd name="T40" fmla="*/ 25 w 623"/>
              <a:gd name="T41" fmla="*/ 798 h 798"/>
              <a:gd name="T42" fmla="*/ 596 w 623"/>
              <a:gd name="T43" fmla="*/ 773 h 798"/>
              <a:gd name="T44" fmla="*/ 596 w 623"/>
              <a:gd name="T45" fmla="*/ 674 h 798"/>
              <a:gd name="T46" fmla="*/ 571 w 623"/>
              <a:gd name="T47" fmla="*/ 649 h 798"/>
              <a:gd name="T48" fmla="*/ 497 w 623"/>
              <a:gd name="T49" fmla="*/ 624 h 798"/>
              <a:gd name="T50" fmla="*/ 596 w 623"/>
              <a:gd name="T51" fmla="*/ 395 h 798"/>
              <a:gd name="T52" fmla="*/ 525 w 623"/>
              <a:gd name="T53" fmla="*/ 229 h 798"/>
              <a:gd name="T54" fmla="*/ 613 w 623"/>
              <a:gd name="T55" fmla="*/ 120 h 798"/>
              <a:gd name="T56" fmla="*/ 546 w 623"/>
              <a:gd name="T57" fmla="*/ 748 h 798"/>
              <a:gd name="T58" fmla="*/ 50 w 623"/>
              <a:gd name="T59" fmla="*/ 698 h 798"/>
              <a:gd name="T60" fmla="*/ 348 w 623"/>
              <a:gd name="T61" fmla="*/ 649 h 798"/>
              <a:gd name="T62" fmla="*/ 397 w 623"/>
              <a:gd name="T63" fmla="*/ 574 h 798"/>
              <a:gd name="T64" fmla="*/ 447 w 623"/>
              <a:gd name="T65" fmla="*/ 649 h 798"/>
              <a:gd name="T66" fmla="*/ 522 w 623"/>
              <a:gd name="T67" fmla="*/ 63 h 798"/>
              <a:gd name="T68" fmla="*/ 522 w 623"/>
              <a:gd name="T69" fmla="*/ 141 h 798"/>
              <a:gd name="T70" fmla="*/ 516 w 623"/>
              <a:gd name="T71" fmla="*/ 132 h 798"/>
              <a:gd name="T72" fmla="*/ 488 w 623"/>
              <a:gd name="T73" fmla="*/ 105 h 798"/>
              <a:gd name="T74" fmla="*/ 522 w 623"/>
              <a:gd name="T75" fmla="*/ 63 h 798"/>
              <a:gd name="T76" fmla="*/ 184 w 623"/>
              <a:gd name="T77" fmla="*/ 400 h 798"/>
              <a:gd name="T78" fmla="*/ 263 w 623"/>
              <a:gd name="T79" fmla="*/ 400 h 798"/>
              <a:gd name="T80" fmla="*/ 298 w 623"/>
              <a:gd name="T81" fmla="*/ 365 h 798"/>
              <a:gd name="T82" fmla="*/ 348 w 623"/>
              <a:gd name="T83" fmla="*/ 237 h 798"/>
              <a:gd name="T84" fmla="*/ 354 w 623"/>
              <a:gd name="T85" fmla="*/ 246 h 798"/>
              <a:gd name="T86" fmla="*/ 382 w 623"/>
              <a:gd name="T87" fmla="*/ 273 h 798"/>
              <a:gd name="T88" fmla="*/ 298 w 623"/>
              <a:gd name="T89" fmla="*/ 365 h 798"/>
              <a:gd name="T90" fmla="*/ 385 w 623"/>
              <a:gd name="T91" fmla="*/ 189 h 798"/>
              <a:gd name="T92" fmla="*/ 484 w 623"/>
              <a:gd name="T93" fmla="*/ 189 h 798"/>
              <a:gd name="T94" fmla="*/ 435 w 623"/>
              <a:gd name="T95" fmla="*/ 239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3" h="798">
                <a:moveTo>
                  <a:pt x="613" y="120"/>
                </a:moveTo>
                <a:cubicBezTo>
                  <a:pt x="623" y="110"/>
                  <a:pt x="623" y="94"/>
                  <a:pt x="613" y="84"/>
                </a:cubicBezTo>
                <a:cubicBezTo>
                  <a:pt x="539" y="10"/>
                  <a:pt x="539" y="10"/>
                  <a:pt x="539" y="10"/>
                </a:cubicBezTo>
                <a:cubicBezTo>
                  <a:pt x="529" y="0"/>
                  <a:pt x="514" y="0"/>
                  <a:pt x="504" y="10"/>
                </a:cubicBezTo>
                <a:cubicBezTo>
                  <a:pt x="504" y="10"/>
                  <a:pt x="504" y="10"/>
                  <a:pt x="504" y="10"/>
                </a:cubicBezTo>
                <a:cubicBezTo>
                  <a:pt x="423" y="91"/>
                  <a:pt x="423" y="91"/>
                  <a:pt x="423" y="91"/>
                </a:cubicBezTo>
                <a:cubicBezTo>
                  <a:pt x="378" y="96"/>
                  <a:pt x="342" y="132"/>
                  <a:pt x="337" y="178"/>
                </a:cubicBezTo>
                <a:cubicBezTo>
                  <a:pt x="224" y="291"/>
                  <a:pt x="224" y="291"/>
                  <a:pt x="224" y="291"/>
                </a:cubicBezTo>
                <a:cubicBezTo>
                  <a:pt x="216" y="283"/>
                  <a:pt x="216" y="283"/>
                  <a:pt x="216" y="283"/>
                </a:cubicBezTo>
                <a:cubicBezTo>
                  <a:pt x="207" y="274"/>
                  <a:pt x="191" y="274"/>
                  <a:pt x="181" y="283"/>
                </a:cubicBezTo>
                <a:cubicBezTo>
                  <a:pt x="172" y="293"/>
                  <a:pt x="172" y="309"/>
                  <a:pt x="181" y="318"/>
                </a:cubicBezTo>
                <a:cubicBezTo>
                  <a:pt x="181" y="318"/>
                  <a:pt x="181" y="318"/>
                  <a:pt x="181" y="318"/>
                </a:cubicBezTo>
                <a:cubicBezTo>
                  <a:pt x="189" y="326"/>
                  <a:pt x="189" y="326"/>
                  <a:pt x="189" y="326"/>
                </a:cubicBezTo>
                <a:cubicBezTo>
                  <a:pt x="132" y="383"/>
                  <a:pt x="132" y="383"/>
                  <a:pt x="132" y="383"/>
                </a:cubicBezTo>
                <a:cubicBezTo>
                  <a:pt x="122" y="392"/>
                  <a:pt x="122" y="408"/>
                  <a:pt x="132" y="418"/>
                </a:cubicBezTo>
                <a:cubicBezTo>
                  <a:pt x="206" y="492"/>
                  <a:pt x="206" y="492"/>
                  <a:pt x="206" y="492"/>
                </a:cubicBezTo>
                <a:cubicBezTo>
                  <a:pt x="216" y="502"/>
                  <a:pt x="232" y="502"/>
                  <a:pt x="241" y="492"/>
                </a:cubicBezTo>
                <a:cubicBezTo>
                  <a:pt x="241" y="492"/>
                  <a:pt x="241" y="492"/>
                  <a:pt x="241" y="492"/>
                </a:cubicBezTo>
                <a:cubicBezTo>
                  <a:pt x="298" y="435"/>
                  <a:pt x="298" y="435"/>
                  <a:pt x="298" y="435"/>
                </a:cubicBezTo>
                <a:cubicBezTo>
                  <a:pt x="305" y="443"/>
                  <a:pt x="305" y="443"/>
                  <a:pt x="305" y="443"/>
                </a:cubicBezTo>
                <a:cubicBezTo>
                  <a:pt x="315" y="452"/>
                  <a:pt x="331" y="452"/>
                  <a:pt x="341" y="443"/>
                </a:cubicBezTo>
                <a:cubicBezTo>
                  <a:pt x="350" y="433"/>
                  <a:pt x="350" y="417"/>
                  <a:pt x="341" y="408"/>
                </a:cubicBezTo>
                <a:cubicBezTo>
                  <a:pt x="333" y="400"/>
                  <a:pt x="333" y="400"/>
                  <a:pt x="333" y="400"/>
                </a:cubicBezTo>
                <a:cubicBezTo>
                  <a:pt x="446" y="287"/>
                  <a:pt x="446" y="287"/>
                  <a:pt x="446" y="287"/>
                </a:cubicBezTo>
                <a:cubicBezTo>
                  <a:pt x="464" y="285"/>
                  <a:pt x="481" y="278"/>
                  <a:pt x="495" y="267"/>
                </a:cubicBezTo>
                <a:cubicBezTo>
                  <a:pt x="496" y="267"/>
                  <a:pt x="496" y="268"/>
                  <a:pt x="496" y="268"/>
                </a:cubicBezTo>
                <a:cubicBezTo>
                  <a:pt x="528" y="302"/>
                  <a:pt x="546" y="348"/>
                  <a:pt x="546" y="395"/>
                </a:cubicBezTo>
                <a:cubicBezTo>
                  <a:pt x="546" y="457"/>
                  <a:pt x="515" y="514"/>
                  <a:pt x="463" y="550"/>
                </a:cubicBezTo>
                <a:cubicBezTo>
                  <a:pt x="445" y="534"/>
                  <a:pt x="422" y="525"/>
                  <a:pt x="397" y="525"/>
                </a:cubicBezTo>
                <a:cubicBezTo>
                  <a:pt x="75" y="525"/>
                  <a:pt x="75" y="525"/>
                  <a:pt x="75" y="525"/>
                </a:cubicBezTo>
                <a:cubicBezTo>
                  <a:pt x="61" y="525"/>
                  <a:pt x="50" y="536"/>
                  <a:pt x="50" y="549"/>
                </a:cubicBezTo>
                <a:cubicBezTo>
                  <a:pt x="50" y="563"/>
                  <a:pt x="61" y="574"/>
                  <a:pt x="75" y="574"/>
                </a:cubicBezTo>
                <a:cubicBezTo>
                  <a:pt x="75" y="574"/>
                  <a:pt x="75" y="574"/>
                  <a:pt x="75" y="574"/>
                </a:cubicBezTo>
                <a:cubicBezTo>
                  <a:pt x="312" y="574"/>
                  <a:pt x="312" y="574"/>
                  <a:pt x="312" y="574"/>
                </a:cubicBezTo>
                <a:cubicBezTo>
                  <a:pt x="303" y="589"/>
                  <a:pt x="298" y="606"/>
                  <a:pt x="298" y="624"/>
                </a:cubicBezTo>
                <a:cubicBezTo>
                  <a:pt x="298" y="649"/>
                  <a:pt x="298" y="649"/>
                  <a:pt x="298" y="649"/>
                </a:cubicBezTo>
                <a:cubicBezTo>
                  <a:pt x="25" y="649"/>
                  <a:pt x="25" y="649"/>
                  <a:pt x="25" y="649"/>
                </a:cubicBezTo>
                <a:cubicBezTo>
                  <a:pt x="12" y="649"/>
                  <a:pt x="0" y="660"/>
                  <a:pt x="0" y="674"/>
                </a:cubicBezTo>
                <a:cubicBezTo>
                  <a:pt x="0" y="674"/>
                  <a:pt x="0" y="674"/>
                  <a:pt x="0" y="674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787"/>
                  <a:pt x="12" y="798"/>
                  <a:pt x="25" y="798"/>
                </a:cubicBezTo>
                <a:cubicBezTo>
                  <a:pt x="25" y="798"/>
                  <a:pt x="25" y="798"/>
                  <a:pt x="25" y="798"/>
                </a:cubicBezTo>
                <a:cubicBezTo>
                  <a:pt x="571" y="798"/>
                  <a:pt x="571" y="798"/>
                  <a:pt x="571" y="798"/>
                </a:cubicBezTo>
                <a:cubicBezTo>
                  <a:pt x="585" y="798"/>
                  <a:pt x="596" y="787"/>
                  <a:pt x="596" y="773"/>
                </a:cubicBezTo>
                <a:cubicBezTo>
                  <a:pt x="596" y="773"/>
                  <a:pt x="596" y="773"/>
                  <a:pt x="596" y="773"/>
                </a:cubicBezTo>
                <a:cubicBezTo>
                  <a:pt x="596" y="674"/>
                  <a:pt x="596" y="674"/>
                  <a:pt x="596" y="674"/>
                </a:cubicBezTo>
                <a:cubicBezTo>
                  <a:pt x="596" y="660"/>
                  <a:pt x="585" y="649"/>
                  <a:pt x="571" y="649"/>
                </a:cubicBezTo>
                <a:cubicBezTo>
                  <a:pt x="571" y="649"/>
                  <a:pt x="571" y="649"/>
                  <a:pt x="571" y="649"/>
                </a:cubicBezTo>
                <a:cubicBezTo>
                  <a:pt x="497" y="649"/>
                  <a:pt x="497" y="649"/>
                  <a:pt x="497" y="649"/>
                </a:cubicBezTo>
                <a:cubicBezTo>
                  <a:pt x="497" y="624"/>
                  <a:pt x="497" y="624"/>
                  <a:pt x="497" y="624"/>
                </a:cubicBezTo>
                <a:cubicBezTo>
                  <a:pt x="497" y="613"/>
                  <a:pt x="495" y="602"/>
                  <a:pt x="491" y="591"/>
                </a:cubicBezTo>
                <a:cubicBezTo>
                  <a:pt x="557" y="546"/>
                  <a:pt x="596" y="473"/>
                  <a:pt x="596" y="395"/>
                </a:cubicBezTo>
                <a:cubicBezTo>
                  <a:pt x="596" y="335"/>
                  <a:pt x="573" y="278"/>
                  <a:pt x="532" y="234"/>
                </a:cubicBezTo>
                <a:cubicBezTo>
                  <a:pt x="530" y="232"/>
                  <a:pt x="528" y="230"/>
                  <a:pt x="525" y="229"/>
                </a:cubicBezTo>
                <a:cubicBezTo>
                  <a:pt x="529" y="220"/>
                  <a:pt x="532" y="210"/>
                  <a:pt x="533" y="200"/>
                </a:cubicBezTo>
                <a:lnTo>
                  <a:pt x="613" y="120"/>
                </a:lnTo>
                <a:close/>
                <a:moveTo>
                  <a:pt x="546" y="698"/>
                </a:moveTo>
                <a:cubicBezTo>
                  <a:pt x="546" y="748"/>
                  <a:pt x="546" y="748"/>
                  <a:pt x="546" y="748"/>
                </a:cubicBezTo>
                <a:cubicBezTo>
                  <a:pt x="50" y="748"/>
                  <a:pt x="50" y="748"/>
                  <a:pt x="50" y="748"/>
                </a:cubicBezTo>
                <a:cubicBezTo>
                  <a:pt x="50" y="698"/>
                  <a:pt x="50" y="698"/>
                  <a:pt x="50" y="698"/>
                </a:cubicBezTo>
                <a:lnTo>
                  <a:pt x="546" y="698"/>
                </a:lnTo>
                <a:close/>
                <a:moveTo>
                  <a:pt x="348" y="649"/>
                </a:moveTo>
                <a:cubicBezTo>
                  <a:pt x="348" y="624"/>
                  <a:pt x="348" y="624"/>
                  <a:pt x="348" y="624"/>
                </a:cubicBezTo>
                <a:cubicBezTo>
                  <a:pt x="348" y="597"/>
                  <a:pt x="370" y="574"/>
                  <a:pt x="397" y="574"/>
                </a:cubicBezTo>
                <a:cubicBezTo>
                  <a:pt x="425" y="574"/>
                  <a:pt x="447" y="597"/>
                  <a:pt x="447" y="624"/>
                </a:cubicBezTo>
                <a:cubicBezTo>
                  <a:pt x="447" y="649"/>
                  <a:pt x="447" y="649"/>
                  <a:pt x="447" y="649"/>
                </a:cubicBezTo>
                <a:lnTo>
                  <a:pt x="348" y="649"/>
                </a:lnTo>
                <a:close/>
                <a:moveTo>
                  <a:pt x="522" y="63"/>
                </a:moveTo>
                <a:cubicBezTo>
                  <a:pt x="561" y="102"/>
                  <a:pt x="561" y="102"/>
                  <a:pt x="561" y="102"/>
                </a:cubicBezTo>
                <a:cubicBezTo>
                  <a:pt x="522" y="141"/>
                  <a:pt x="522" y="141"/>
                  <a:pt x="522" y="141"/>
                </a:cubicBezTo>
                <a:cubicBezTo>
                  <a:pt x="521" y="139"/>
                  <a:pt x="519" y="138"/>
                  <a:pt x="518" y="136"/>
                </a:cubicBezTo>
                <a:cubicBezTo>
                  <a:pt x="517" y="135"/>
                  <a:pt x="517" y="133"/>
                  <a:pt x="516" y="132"/>
                </a:cubicBezTo>
                <a:cubicBezTo>
                  <a:pt x="509" y="123"/>
                  <a:pt x="501" y="114"/>
                  <a:pt x="492" y="108"/>
                </a:cubicBezTo>
                <a:cubicBezTo>
                  <a:pt x="490" y="107"/>
                  <a:pt x="489" y="106"/>
                  <a:pt x="488" y="105"/>
                </a:cubicBezTo>
                <a:cubicBezTo>
                  <a:pt x="486" y="104"/>
                  <a:pt x="484" y="103"/>
                  <a:pt x="482" y="102"/>
                </a:cubicBezTo>
                <a:lnTo>
                  <a:pt x="522" y="63"/>
                </a:lnTo>
                <a:close/>
                <a:moveTo>
                  <a:pt x="224" y="440"/>
                </a:moveTo>
                <a:cubicBezTo>
                  <a:pt x="184" y="400"/>
                  <a:pt x="184" y="400"/>
                  <a:pt x="184" y="400"/>
                </a:cubicBezTo>
                <a:cubicBezTo>
                  <a:pt x="224" y="361"/>
                  <a:pt x="224" y="361"/>
                  <a:pt x="224" y="361"/>
                </a:cubicBezTo>
                <a:cubicBezTo>
                  <a:pt x="263" y="400"/>
                  <a:pt x="263" y="400"/>
                  <a:pt x="263" y="400"/>
                </a:cubicBezTo>
                <a:lnTo>
                  <a:pt x="224" y="440"/>
                </a:lnTo>
                <a:close/>
                <a:moveTo>
                  <a:pt x="298" y="365"/>
                </a:moveTo>
                <a:cubicBezTo>
                  <a:pt x="259" y="326"/>
                  <a:pt x="259" y="326"/>
                  <a:pt x="259" y="326"/>
                </a:cubicBezTo>
                <a:cubicBezTo>
                  <a:pt x="348" y="237"/>
                  <a:pt x="348" y="237"/>
                  <a:pt x="348" y="237"/>
                </a:cubicBezTo>
                <a:cubicBezTo>
                  <a:pt x="349" y="239"/>
                  <a:pt x="350" y="240"/>
                  <a:pt x="351" y="242"/>
                </a:cubicBezTo>
                <a:cubicBezTo>
                  <a:pt x="352" y="243"/>
                  <a:pt x="353" y="245"/>
                  <a:pt x="354" y="246"/>
                </a:cubicBezTo>
                <a:cubicBezTo>
                  <a:pt x="360" y="255"/>
                  <a:pt x="368" y="264"/>
                  <a:pt x="378" y="270"/>
                </a:cubicBezTo>
                <a:cubicBezTo>
                  <a:pt x="379" y="271"/>
                  <a:pt x="380" y="272"/>
                  <a:pt x="382" y="273"/>
                </a:cubicBezTo>
                <a:cubicBezTo>
                  <a:pt x="384" y="274"/>
                  <a:pt x="385" y="275"/>
                  <a:pt x="387" y="276"/>
                </a:cubicBezTo>
                <a:lnTo>
                  <a:pt x="298" y="365"/>
                </a:lnTo>
                <a:close/>
                <a:moveTo>
                  <a:pt x="435" y="239"/>
                </a:moveTo>
                <a:cubicBezTo>
                  <a:pt x="407" y="239"/>
                  <a:pt x="385" y="217"/>
                  <a:pt x="385" y="189"/>
                </a:cubicBezTo>
                <a:cubicBezTo>
                  <a:pt x="385" y="162"/>
                  <a:pt x="407" y="139"/>
                  <a:pt x="435" y="139"/>
                </a:cubicBezTo>
                <a:cubicBezTo>
                  <a:pt x="462" y="139"/>
                  <a:pt x="484" y="161"/>
                  <a:pt x="484" y="189"/>
                </a:cubicBezTo>
                <a:cubicBezTo>
                  <a:pt x="484" y="189"/>
                  <a:pt x="484" y="189"/>
                  <a:pt x="484" y="189"/>
                </a:cubicBezTo>
                <a:cubicBezTo>
                  <a:pt x="484" y="216"/>
                  <a:pt x="462" y="239"/>
                  <a:pt x="435" y="2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Freeform 13"/>
          <p:cNvSpPr>
            <a:spLocks noEditPoints="1"/>
          </p:cNvSpPr>
          <p:nvPr/>
        </p:nvSpPr>
        <p:spPr bwMode="auto">
          <a:xfrm>
            <a:off x="1362138" y="1717861"/>
            <a:ext cx="373179" cy="494678"/>
          </a:xfrm>
          <a:custGeom>
            <a:avLst/>
            <a:gdLst>
              <a:gd name="T0" fmla="*/ 598 w 598"/>
              <a:gd name="T1" fmla="*/ 287 h 797"/>
              <a:gd name="T2" fmla="*/ 299 w 598"/>
              <a:gd name="T3" fmla="*/ 0 h 797"/>
              <a:gd name="T4" fmla="*/ 0 w 598"/>
              <a:gd name="T5" fmla="*/ 287 h 797"/>
              <a:gd name="T6" fmla="*/ 167 w 598"/>
              <a:gd name="T7" fmla="*/ 543 h 797"/>
              <a:gd name="T8" fmla="*/ 163 w 598"/>
              <a:gd name="T9" fmla="*/ 623 h 797"/>
              <a:gd name="T10" fmla="*/ 150 w 598"/>
              <a:gd name="T11" fmla="*/ 660 h 797"/>
              <a:gd name="T12" fmla="*/ 212 w 598"/>
              <a:gd name="T13" fmla="*/ 723 h 797"/>
              <a:gd name="T14" fmla="*/ 225 w 598"/>
              <a:gd name="T15" fmla="*/ 723 h 797"/>
              <a:gd name="T16" fmla="*/ 299 w 598"/>
              <a:gd name="T17" fmla="*/ 797 h 797"/>
              <a:gd name="T18" fmla="*/ 374 w 598"/>
              <a:gd name="T19" fmla="*/ 723 h 797"/>
              <a:gd name="T20" fmla="*/ 386 w 598"/>
              <a:gd name="T21" fmla="*/ 723 h 797"/>
              <a:gd name="T22" fmla="*/ 449 w 598"/>
              <a:gd name="T23" fmla="*/ 660 h 797"/>
              <a:gd name="T24" fmla="*/ 436 w 598"/>
              <a:gd name="T25" fmla="*/ 623 h 797"/>
              <a:gd name="T26" fmla="*/ 432 w 598"/>
              <a:gd name="T27" fmla="*/ 543 h 797"/>
              <a:gd name="T28" fmla="*/ 598 w 598"/>
              <a:gd name="T29" fmla="*/ 287 h 797"/>
              <a:gd name="T30" fmla="*/ 225 w 598"/>
              <a:gd name="T31" fmla="*/ 355 h 797"/>
              <a:gd name="T32" fmla="*/ 249 w 598"/>
              <a:gd name="T33" fmla="*/ 305 h 797"/>
              <a:gd name="T34" fmla="*/ 277 w 598"/>
              <a:gd name="T35" fmla="*/ 360 h 797"/>
              <a:gd name="T36" fmla="*/ 322 w 598"/>
              <a:gd name="T37" fmla="*/ 360 h 797"/>
              <a:gd name="T38" fmla="*/ 349 w 598"/>
              <a:gd name="T39" fmla="*/ 305 h 797"/>
              <a:gd name="T40" fmla="*/ 374 w 598"/>
              <a:gd name="T41" fmla="*/ 355 h 797"/>
              <a:gd name="T42" fmla="*/ 374 w 598"/>
              <a:gd name="T43" fmla="*/ 512 h 797"/>
              <a:gd name="T44" fmla="*/ 225 w 598"/>
              <a:gd name="T45" fmla="*/ 512 h 797"/>
              <a:gd name="T46" fmla="*/ 225 w 598"/>
              <a:gd name="T47" fmla="*/ 355 h 797"/>
              <a:gd name="T48" fmla="*/ 200 w 598"/>
              <a:gd name="T49" fmla="*/ 586 h 797"/>
              <a:gd name="T50" fmla="*/ 212 w 598"/>
              <a:gd name="T51" fmla="*/ 573 h 797"/>
              <a:gd name="T52" fmla="*/ 386 w 598"/>
              <a:gd name="T53" fmla="*/ 573 h 797"/>
              <a:gd name="T54" fmla="*/ 399 w 598"/>
              <a:gd name="T55" fmla="*/ 586 h 797"/>
              <a:gd name="T56" fmla="*/ 386 w 598"/>
              <a:gd name="T57" fmla="*/ 598 h 797"/>
              <a:gd name="T58" fmla="*/ 212 w 598"/>
              <a:gd name="T59" fmla="*/ 598 h 797"/>
              <a:gd name="T60" fmla="*/ 200 w 598"/>
              <a:gd name="T61" fmla="*/ 586 h 797"/>
              <a:gd name="T62" fmla="*/ 299 w 598"/>
              <a:gd name="T63" fmla="*/ 747 h 797"/>
              <a:gd name="T64" fmla="*/ 274 w 598"/>
              <a:gd name="T65" fmla="*/ 723 h 797"/>
              <a:gd name="T66" fmla="*/ 324 w 598"/>
              <a:gd name="T67" fmla="*/ 723 h 797"/>
              <a:gd name="T68" fmla="*/ 299 w 598"/>
              <a:gd name="T69" fmla="*/ 747 h 797"/>
              <a:gd name="T70" fmla="*/ 386 w 598"/>
              <a:gd name="T71" fmla="*/ 673 h 797"/>
              <a:gd name="T72" fmla="*/ 212 w 598"/>
              <a:gd name="T73" fmla="*/ 673 h 797"/>
              <a:gd name="T74" fmla="*/ 200 w 598"/>
              <a:gd name="T75" fmla="*/ 660 h 797"/>
              <a:gd name="T76" fmla="*/ 212 w 598"/>
              <a:gd name="T77" fmla="*/ 648 h 797"/>
              <a:gd name="T78" fmla="*/ 386 w 598"/>
              <a:gd name="T79" fmla="*/ 648 h 797"/>
              <a:gd name="T80" fmla="*/ 399 w 598"/>
              <a:gd name="T81" fmla="*/ 660 h 797"/>
              <a:gd name="T82" fmla="*/ 386 w 598"/>
              <a:gd name="T83" fmla="*/ 673 h 797"/>
              <a:gd name="T84" fmla="*/ 424 w 598"/>
              <a:gd name="T85" fmla="*/ 491 h 797"/>
              <a:gd name="T86" fmla="*/ 424 w 598"/>
              <a:gd name="T87" fmla="*/ 355 h 797"/>
              <a:gd name="T88" fmla="*/ 471 w 598"/>
              <a:gd name="T89" fmla="*/ 261 h 797"/>
              <a:gd name="T90" fmla="*/ 460 w 598"/>
              <a:gd name="T91" fmla="*/ 227 h 797"/>
              <a:gd name="T92" fmla="*/ 426 w 598"/>
              <a:gd name="T93" fmla="*/ 238 h 797"/>
              <a:gd name="T94" fmla="*/ 399 w 598"/>
              <a:gd name="T95" fmla="*/ 293 h 797"/>
              <a:gd name="T96" fmla="*/ 371 w 598"/>
              <a:gd name="T97" fmla="*/ 238 h 797"/>
              <a:gd name="T98" fmla="*/ 327 w 598"/>
              <a:gd name="T99" fmla="*/ 238 h 797"/>
              <a:gd name="T100" fmla="*/ 299 w 598"/>
              <a:gd name="T101" fmla="*/ 293 h 797"/>
              <a:gd name="T102" fmla="*/ 272 w 598"/>
              <a:gd name="T103" fmla="*/ 238 h 797"/>
              <a:gd name="T104" fmla="*/ 227 w 598"/>
              <a:gd name="T105" fmla="*/ 238 h 797"/>
              <a:gd name="T106" fmla="*/ 200 w 598"/>
              <a:gd name="T107" fmla="*/ 293 h 797"/>
              <a:gd name="T108" fmla="*/ 172 w 598"/>
              <a:gd name="T109" fmla="*/ 238 h 797"/>
              <a:gd name="T110" fmla="*/ 139 w 598"/>
              <a:gd name="T111" fmla="*/ 227 h 797"/>
              <a:gd name="T112" fmla="*/ 128 w 598"/>
              <a:gd name="T113" fmla="*/ 261 h 797"/>
              <a:gd name="T114" fmla="*/ 175 w 598"/>
              <a:gd name="T115" fmla="*/ 355 h 797"/>
              <a:gd name="T116" fmla="*/ 175 w 598"/>
              <a:gd name="T117" fmla="*/ 491 h 797"/>
              <a:gd name="T118" fmla="*/ 50 w 598"/>
              <a:gd name="T119" fmla="*/ 287 h 797"/>
              <a:gd name="T120" fmla="*/ 299 w 598"/>
              <a:gd name="T121" fmla="*/ 50 h 797"/>
              <a:gd name="T122" fmla="*/ 548 w 598"/>
              <a:gd name="T123" fmla="*/ 287 h 797"/>
              <a:gd name="T124" fmla="*/ 424 w 598"/>
              <a:gd name="T125" fmla="*/ 49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8" h="797">
                <a:moveTo>
                  <a:pt x="598" y="287"/>
                </a:moveTo>
                <a:cubicBezTo>
                  <a:pt x="598" y="129"/>
                  <a:pt x="464" y="0"/>
                  <a:pt x="299" y="0"/>
                </a:cubicBezTo>
                <a:cubicBezTo>
                  <a:pt x="134" y="0"/>
                  <a:pt x="0" y="129"/>
                  <a:pt x="0" y="287"/>
                </a:cubicBezTo>
                <a:cubicBezTo>
                  <a:pt x="0" y="399"/>
                  <a:pt x="68" y="496"/>
                  <a:pt x="167" y="543"/>
                </a:cubicBezTo>
                <a:cubicBezTo>
                  <a:pt x="146" y="565"/>
                  <a:pt x="144" y="599"/>
                  <a:pt x="163" y="623"/>
                </a:cubicBezTo>
                <a:cubicBezTo>
                  <a:pt x="154" y="634"/>
                  <a:pt x="150" y="647"/>
                  <a:pt x="150" y="660"/>
                </a:cubicBezTo>
                <a:cubicBezTo>
                  <a:pt x="150" y="695"/>
                  <a:pt x="178" y="723"/>
                  <a:pt x="212" y="723"/>
                </a:cubicBezTo>
                <a:cubicBezTo>
                  <a:pt x="225" y="723"/>
                  <a:pt x="225" y="723"/>
                  <a:pt x="225" y="723"/>
                </a:cubicBezTo>
                <a:cubicBezTo>
                  <a:pt x="225" y="764"/>
                  <a:pt x="258" y="797"/>
                  <a:pt x="299" y="797"/>
                </a:cubicBezTo>
                <a:cubicBezTo>
                  <a:pt x="340" y="797"/>
                  <a:pt x="374" y="764"/>
                  <a:pt x="374" y="723"/>
                </a:cubicBezTo>
                <a:cubicBezTo>
                  <a:pt x="386" y="723"/>
                  <a:pt x="386" y="723"/>
                  <a:pt x="386" y="723"/>
                </a:cubicBezTo>
                <a:cubicBezTo>
                  <a:pt x="421" y="723"/>
                  <a:pt x="449" y="695"/>
                  <a:pt x="449" y="660"/>
                </a:cubicBezTo>
                <a:cubicBezTo>
                  <a:pt x="449" y="647"/>
                  <a:pt x="444" y="634"/>
                  <a:pt x="436" y="623"/>
                </a:cubicBezTo>
                <a:cubicBezTo>
                  <a:pt x="454" y="599"/>
                  <a:pt x="453" y="565"/>
                  <a:pt x="432" y="543"/>
                </a:cubicBezTo>
                <a:cubicBezTo>
                  <a:pt x="530" y="496"/>
                  <a:pt x="598" y="399"/>
                  <a:pt x="598" y="287"/>
                </a:cubicBezTo>
                <a:close/>
                <a:moveTo>
                  <a:pt x="225" y="355"/>
                </a:moveTo>
                <a:cubicBezTo>
                  <a:pt x="249" y="305"/>
                  <a:pt x="249" y="305"/>
                  <a:pt x="249" y="305"/>
                </a:cubicBezTo>
                <a:cubicBezTo>
                  <a:pt x="277" y="360"/>
                  <a:pt x="277" y="360"/>
                  <a:pt x="277" y="360"/>
                </a:cubicBezTo>
                <a:cubicBezTo>
                  <a:pt x="285" y="377"/>
                  <a:pt x="313" y="377"/>
                  <a:pt x="322" y="360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74" y="355"/>
                  <a:pt x="374" y="355"/>
                  <a:pt x="374" y="355"/>
                </a:cubicBezTo>
                <a:cubicBezTo>
                  <a:pt x="374" y="512"/>
                  <a:pt x="374" y="512"/>
                  <a:pt x="374" y="512"/>
                </a:cubicBezTo>
                <a:cubicBezTo>
                  <a:pt x="325" y="527"/>
                  <a:pt x="273" y="527"/>
                  <a:pt x="225" y="512"/>
                </a:cubicBezTo>
                <a:lnTo>
                  <a:pt x="225" y="355"/>
                </a:lnTo>
                <a:close/>
                <a:moveTo>
                  <a:pt x="200" y="586"/>
                </a:moveTo>
                <a:cubicBezTo>
                  <a:pt x="200" y="579"/>
                  <a:pt x="205" y="573"/>
                  <a:pt x="212" y="573"/>
                </a:cubicBezTo>
                <a:cubicBezTo>
                  <a:pt x="386" y="573"/>
                  <a:pt x="386" y="573"/>
                  <a:pt x="386" y="573"/>
                </a:cubicBezTo>
                <a:cubicBezTo>
                  <a:pt x="393" y="573"/>
                  <a:pt x="399" y="579"/>
                  <a:pt x="399" y="586"/>
                </a:cubicBezTo>
                <a:cubicBezTo>
                  <a:pt x="399" y="593"/>
                  <a:pt x="393" y="598"/>
                  <a:pt x="386" y="598"/>
                </a:cubicBezTo>
                <a:cubicBezTo>
                  <a:pt x="212" y="598"/>
                  <a:pt x="212" y="598"/>
                  <a:pt x="212" y="598"/>
                </a:cubicBezTo>
                <a:cubicBezTo>
                  <a:pt x="205" y="598"/>
                  <a:pt x="200" y="592"/>
                  <a:pt x="200" y="586"/>
                </a:cubicBezTo>
                <a:close/>
                <a:moveTo>
                  <a:pt x="299" y="747"/>
                </a:moveTo>
                <a:cubicBezTo>
                  <a:pt x="285" y="747"/>
                  <a:pt x="274" y="736"/>
                  <a:pt x="274" y="723"/>
                </a:cubicBezTo>
                <a:cubicBezTo>
                  <a:pt x="324" y="723"/>
                  <a:pt x="324" y="723"/>
                  <a:pt x="324" y="723"/>
                </a:cubicBezTo>
                <a:cubicBezTo>
                  <a:pt x="324" y="736"/>
                  <a:pt x="313" y="747"/>
                  <a:pt x="299" y="747"/>
                </a:cubicBezTo>
                <a:close/>
                <a:moveTo>
                  <a:pt x="386" y="673"/>
                </a:moveTo>
                <a:cubicBezTo>
                  <a:pt x="212" y="673"/>
                  <a:pt x="212" y="673"/>
                  <a:pt x="212" y="673"/>
                </a:cubicBezTo>
                <a:cubicBezTo>
                  <a:pt x="205" y="673"/>
                  <a:pt x="200" y="667"/>
                  <a:pt x="200" y="660"/>
                </a:cubicBezTo>
                <a:cubicBezTo>
                  <a:pt x="200" y="653"/>
                  <a:pt x="205" y="648"/>
                  <a:pt x="212" y="648"/>
                </a:cubicBezTo>
                <a:cubicBezTo>
                  <a:pt x="386" y="648"/>
                  <a:pt x="386" y="648"/>
                  <a:pt x="386" y="648"/>
                </a:cubicBezTo>
                <a:cubicBezTo>
                  <a:pt x="393" y="648"/>
                  <a:pt x="399" y="654"/>
                  <a:pt x="399" y="660"/>
                </a:cubicBezTo>
                <a:cubicBezTo>
                  <a:pt x="399" y="667"/>
                  <a:pt x="393" y="673"/>
                  <a:pt x="386" y="673"/>
                </a:cubicBezTo>
                <a:close/>
                <a:moveTo>
                  <a:pt x="424" y="491"/>
                </a:moveTo>
                <a:cubicBezTo>
                  <a:pt x="424" y="355"/>
                  <a:pt x="424" y="355"/>
                  <a:pt x="424" y="355"/>
                </a:cubicBezTo>
                <a:cubicBezTo>
                  <a:pt x="471" y="261"/>
                  <a:pt x="471" y="261"/>
                  <a:pt x="471" y="261"/>
                </a:cubicBezTo>
                <a:cubicBezTo>
                  <a:pt x="477" y="248"/>
                  <a:pt x="472" y="233"/>
                  <a:pt x="460" y="227"/>
                </a:cubicBezTo>
                <a:cubicBezTo>
                  <a:pt x="447" y="221"/>
                  <a:pt x="433" y="226"/>
                  <a:pt x="426" y="23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71" y="238"/>
                  <a:pt x="371" y="238"/>
                  <a:pt x="371" y="238"/>
                </a:cubicBezTo>
                <a:cubicBezTo>
                  <a:pt x="363" y="221"/>
                  <a:pt x="335" y="221"/>
                  <a:pt x="327" y="238"/>
                </a:cubicBezTo>
                <a:cubicBezTo>
                  <a:pt x="299" y="293"/>
                  <a:pt x="299" y="293"/>
                  <a:pt x="299" y="293"/>
                </a:cubicBezTo>
                <a:cubicBezTo>
                  <a:pt x="272" y="238"/>
                  <a:pt x="272" y="238"/>
                  <a:pt x="272" y="238"/>
                </a:cubicBezTo>
                <a:cubicBezTo>
                  <a:pt x="263" y="221"/>
                  <a:pt x="236" y="221"/>
                  <a:pt x="227" y="238"/>
                </a:cubicBezTo>
                <a:cubicBezTo>
                  <a:pt x="200" y="293"/>
                  <a:pt x="200" y="293"/>
                  <a:pt x="200" y="293"/>
                </a:cubicBezTo>
                <a:cubicBezTo>
                  <a:pt x="172" y="238"/>
                  <a:pt x="172" y="238"/>
                  <a:pt x="172" y="238"/>
                </a:cubicBezTo>
                <a:cubicBezTo>
                  <a:pt x="166" y="226"/>
                  <a:pt x="151" y="221"/>
                  <a:pt x="139" y="227"/>
                </a:cubicBezTo>
                <a:cubicBezTo>
                  <a:pt x="126" y="234"/>
                  <a:pt x="122" y="248"/>
                  <a:pt x="128" y="261"/>
                </a:cubicBezTo>
                <a:cubicBezTo>
                  <a:pt x="175" y="355"/>
                  <a:pt x="175" y="355"/>
                  <a:pt x="175" y="355"/>
                </a:cubicBezTo>
                <a:cubicBezTo>
                  <a:pt x="175" y="491"/>
                  <a:pt x="175" y="491"/>
                  <a:pt x="175" y="491"/>
                </a:cubicBezTo>
                <a:cubicBezTo>
                  <a:pt x="100" y="450"/>
                  <a:pt x="50" y="374"/>
                  <a:pt x="50" y="287"/>
                </a:cubicBezTo>
                <a:cubicBezTo>
                  <a:pt x="50" y="156"/>
                  <a:pt x="162" y="50"/>
                  <a:pt x="299" y="50"/>
                </a:cubicBezTo>
                <a:cubicBezTo>
                  <a:pt x="437" y="50"/>
                  <a:pt x="548" y="156"/>
                  <a:pt x="548" y="287"/>
                </a:cubicBezTo>
                <a:cubicBezTo>
                  <a:pt x="548" y="374"/>
                  <a:pt x="498" y="450"/>
                  <a:pt x="424" y="4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5"/>
          <p:cNvSpPr>
            <a:spLocks noEditPoints="1"/>
          </p:cNvSpPr>
          <p:nvPr/>
        </p:nvSpPr>
        <p:spPr bwMode="auto">
          <a:xfrm>
            <a:off x="7837480" y="1876773"/>
            <a:ext cx="121049" cy="385465"/>
          </a:xfrm>
          <a:custGeom>
            <a:avLst/>
            <a:gdLst>
              <a:gd name="T0" fmla="*/ 194 w 194"/>
              <a:gd name="T1" fmla="*/ 164 h 617"/>
              <a:gd name="T2" fmla="*/ 194 w 194"/>
              <a:gd name="T3" fmla="*/ 164 h 617"/>
              <a:gd name="T4" fmla="*/ 194 w 194"/>
              <a:gd name="T5" fmla="*/ 160 h 617"/>
              <a:gd name="T6" fmla="*/ 193 w 194"/>
              <a:gd name="T7" fmla="*/ 160 h 617"/>
              <a:gd name="T8" fmla="*/ 193 w 194"/>
              <a:gd name="T9" fmla="*/ 159 h 617"/>
              <a:gd name="T10" fmla="*/ 192 w 194"/>
              <a:gd name="T11" fmla="*/ 156 h 617"/>
              <a:gd name="T12" fmla="*/ 192 w 194"/>
              <a:gd name="T13" fmla="*/ 156 h 617"/>
              <a:gd name="T14" fmla="*/ 192 w 194"/>
              <a:gd name="T15" fmla="*/ 156 h 617"/>
              <a:gd name="T16" fmla="*/ 115 w 194"/>
              <a:gd name="T17" fmla="*/ 11 h 617"/>
              <a:gd name="T18" fmla="*/ 97 w 194"/>
              <a:gd name="T19" fmla="*/ 0 h 617"/>
              <a:gd name="T20" fmla="*/ 80 w 194"/>
              <a:gd name="T21" fmla="*/ 11 h 617"/>
              <a:gd name="T22" fmla="*/ 3 w 194"/>
              <a:gd name="T23" fmla="*/ 156 h 617"/>
              <a:gd name="T24" fmla="*/ 3 w 194"/>
              <a:gd name="T25" fmla="*/ 156 h 617"/>
              <a:gd name="T26" fmla="*/ 3 w 194"/>
              <a:gd name="T27" fmla="*/ 156 h 617"/>
              <a:gd name="T28" fmla="*/ 2 w 194"/>
              <a:gd name="T29" fmla="*/ 159 h 617"/>
              <a:gd name="T30" fmla="*/ 1 w 194"/>
              <a:gd name="T31" fmla="*/ 160 h 617"/>
              <a:gd name="T32" fmla="*/ 1 w 194"/>
              <a:gd name="T33" fmla="*/ 160 h 617"/>
              <a:gd name="T34" fmla="*/ 1 w 194"/>
              <a:gd name="T35" fmla="*/ 164 h 617"/>
              <a:gd name="T36" fmla="*/ 1 w 194"/>
              <a:gd name="T37" fmla="*/ 164 h 617"/>
              <a:gd name="T38" fmla="*/ 0 w 194"/>
              <a:gd name="T39" fmla="*/ 166 h 617"/>
              <a:gd name="T40" fmla="*/ 0 w 194"/>
              <a:gd name="T41" fmla="*/ 597 h 617"/>
              <a:gd name="T42" fmla="*/ 20 w 194"/>
              <a:gd name="T43" fmla="*/ 617 h 617"/>
              <a:gd name="T44" fmla="*/ 174 w 194"/>
              <a:gd name="T45" fmla="*/ 617 h 617"/>
              <a:gd name="T46" fmla="*/ 194 w 194"/>
              <a:gd name="T47" fmla="*/ 597 h 617"/>
              <a:gd name="T48" fmla="*/ 194 w 194"/>
              <a:gd name="T49" fmla="*/ 166 h 617"/>
              <a:gd name="T50" fmla="*/ 194 w 194"/>
              <a:gd name="T51" fmla="*/ 164 h 617"/>
              <a:gd name="T52" fmla="*/ 40 w 194"/>
              <a:gd name="T53" fmla="*/ 193 h 617"/>
              <a:gd name="T54" fmla="*/ 91 w 194"/>
              <a:gd name="T55" fmla="*/ 209 h 617"/>
              <a:gd name="T56" fmla="*/ 97 w 194"/>
              <a:gd name="T57" fmla="*/ 210 h 617"/>
              <a:gd name="T58" fmla="*/ 103 w 194"/>
              <a:gd name="T59" fmla="*/ 209 h 617"/>
              <a:gd name="T60" fmla="*/ 154 w 194"/>
              <a:gd name="T61" fmla="*/ 193 h 617"/>
              <a:gd name="T62" fmla="*/ 154 w 194"/>
              <a:gd name="T63" fmla="*/ 491 h 617"/>
              <a:gd name="T64" fmla="*/ 40 w 194"/>
              <a:gd name="T65" fmla="*/ 491 h 617"/>
              <a:gd name="T66" fmla="*/ 40 w 194"/>
              <a:gd name="T67" fmla="*/ 193 h 617"/>
              <a:gd name="T68" fmla="*/ 97 w 194"/>
              <a:gd name="T69" fmla="*/ 63 h 617"/>
              <a:gd name="T70" fmla="*/ 145 w 194"/>
              <a:gd name="T71" fmla="*/ 154 h 617"/>
              <a:gd name="T72" fmla="*/ 97 w 194"/>
              <a:gd name="T73" fmla="*/ 169 h 617"/>
              <a:gd name="T74" fmla="*/ 49 w 194"/>
              <a:gd name="T75" fmla="*/ 154 h 617"/>
              <a:gd name="T76" fmla="*/ 97 w 194"/>
              <a:gd name="T77" fmla="*/ 63 h 617"/>
              <a:gd name="T78" fmla="*/ 40 w 194"/>
              <a:gd name="T79" fmla="*/ 577 h 617"/>
              <a:gd name="T80" fmla="*/ 40 w 194"/>
              <a:gd name="T81" fmla="*/ 577 h 617"/>
              <a:gd name="T82" fmla="*/ 40 w 194"/>
              <a:gd name="T83" fmla="*/ 531 h 617"/>
              <a:gd name="T84" fmla="*/ 154 w 194"/>
              <a:gd name="T85" fmla="*/ 531 h 617"/>
              <a:gd name="T86" fmla="*/ 154 w 194"/>
              <a:gd name="T87" fmla="*/ 577 h 617"/>
              <a:gd name="T88" fmla="*/ 40 w 194"/>
              <a:gd name="T89" fmla="*/ 577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617">
                <a:moveTo>
                  <a:pt x="194" y="164"/>
                </a:moveTo>
                <a:cubicBezTo>
                  <a:pt x="194" y="164"/>
                  <a:pt x="194" y="164"/>
                  <a:pt x="194" y="164"/>
                </a:cubicBezTo>
                <a:cubicBezTo>
                  <a:pt x="194" y="162"/>
                  <a:pt x="194" y="161"/>
                  <a:pt x="194" y="160"/>
                </a:cubicBezTo>
                <a:cubicBezTo>
                  <a:pt x="194" y="160"/>
                  <a:pt x="194" y="160"/>
                  <a:pt x="193" y="160"/>
                </a:cubicBezTo>
                <a:cubicBezTo>
                  <a:pt x="193" y="160"/>
                  <a:pt x="193" y="160"/>
                  <a:pt x="193" y="159"/>
                </a:cubicBezTo>
                <a:cubicBezTo>
                  <a:pt x="193" y="158"/>
                  <a:pt x="193" y="157"/>
                  <a:pt x="192" y="156"/>
                </a:cubicBezTo>
                <a:cubicBezTo>
                  <a:pt x="192" y="156"/>
                  <a:pt x="192" y="156"/>
                  <a:pt x="192" y="156"/>
                </a:cubicBezTo>
                <a:cubicBezTo>
                  <a:pt x="192" y="156"/>
                  <a:pt x="192" y="156"/>
                  <a:pt x="192" y="156"/>
                </a:cubicBezTo>
                <a:cubicBezTo>
                  <a:pt x="115" y="11"/>
                  <a:pt x="115" y="11"/>
                  <a:pt x="115" y="11"/>
                </a:cubicBezTo>
                <a:cubicBezTo>
                  <a:pt x="112" y="4"/>
                  <a:pt x="105" y="0"/>
                  <a:pt x="97" y="0"/>
                </a:cubicBezTo>
                <a:cubicBezTo>
                  <a:pt x="90" y="0"/>
                  <a:pt x="83" y="4"/>
                  <a:pt x="80" y="11"/>
                </a:cubicBezTo>
                <a:cubicBezTo>
                  <a:pt x="3" y="156"/>
                  <a:pt x="3" y="156"/>
                  <a:pt x="3" y="156"/>
                </a:cubicBezTo>
                <a:cubicBezTo>
                  <a:pt x="3" y="156"/>
                  <a:pt x="3" y="156"/>
                  <a:pt x="3" y="156"/>
                </a:cubicBezTo>
                <a:cubicBezTo>
                  <a:pt x="3" y="156"/>
                  <a:pt x="3" y="156"/>
                  <a:pt x="3" y="156"/>
                </a:cubicBezTo>
                <a:cubicBezTo>
                  <a:pt x="2" y="157"/>
                  <a:pt x="2" y="158"/>
                  <a:pt x="2" y="159"/>
                </a:cubicBezTo>
                <a:cubicBezTo>
                  <a:pt x="1" y="160"/>
                  <a:pt x="1" y="160"/>
                  <a:pt x="1" y="160"/>
                </a:cubicBezTo>
                <a:cubicBezTo>
                  <a:pt x="1" y="160"/>
                  <a:pt x="1" y="160"/>
                  <a:pt x="1" y="160"/>
                </a:cubicBezTo>
                <a:cubicBezTo>
                  <a:pt x="1" y="161"/>
                  <a:pt x="1" y="162"/>
                  <a:pt x="1" y="164"/>
                </a:cubicBezTo>
                <a:cubicBezTo>
                  <a:pt x="1" y="164"/>
                  <a:pt x="1" y="164"/>
                  <a:pt x="1" y="164"/>
                </a:cubicBezTo>
                <a:cubicBezTo>
                  <a:pt x="1" y="165"/>
                  <a:pt x="0" y="165"/>
                  <a:pt x="0" y="166"/>
                </a:cubicBezTo>
                <a:cubicBezTo>
                  <a:pt x="0" y="597"/>
                  <a:pt x="0" y="597"/>
                  <a:pt x="0" y="597"/>
                </a:cubicBezTo>
                <a:cubicBezTo>
                  <a:pt x="0" y="608"/>
                  <a:pt x="9" y="617"/>
                  <a:pt x="20" y="617"/>
                </a:cubicBezTo>
                <a:cubicBezTo>
                  <a:pt x="174" y="617"/>
                  <a:pt x="174" y="617"/>
                  <a:pt x="174" y="617"/>
                </a:cubicBezTo>
                <a:cubicBezTo>
                  <a:pt x="185" y="617"/>
                  <a:pt x="194" y="608"/>
                  <a:pt x="194" y="597"/>
                </a:cubicBezTo>
                <a:cubicBezTo>
                  <a:pt x="194" y="166"/>
                  <a:pt x="194" y="166"/>
                  <a:pt x="194" y="166"/>
                </a:cubicBezTo>
                <a:cubicBezTo>
                  <a:pt x="194" y="165"/>
                  <a:pt x="194" y="165"/>
                  <a:pt x="194" y="164"/>
                </a:cubicBezTo>
                <a:close/>
                <a:moveTo>
                  <a:pt x="40" y="193"/>
                </a:moveTo>
                <a:cubicBezTo>
                  <a:pt x="91" y="209"/>
                  <a:pt x="91" y="209"/>
                  <a:pt x="91" y="209"/>
                </a:cubicBezTo>
                <a:cubicBezTo>
                  <a:pt x="93" y="209"/>
                  <a:pt x="95" y="210"/>
                  <a:pt x="97" y="210"/>
                </a:cubicBezTo>
                <a:cubicBezTo>
                  <a:pt x="99" y="210"/>
                  <a:pt x="101" y="209"/>
                  <a:pt x="103" y="209"/>
                </a:cubicBezTo>
                <a:cubicBezTo>
                  <a:pt x="154" y="193"/>
                  <a:pt x="154" y="193"/>
                  <a:pt x="154" y="193"/>
                </a:cubicBezTo>
                <a:cubicBezTo>
                  <a:pt x="154" y="491"/>
                  <a:pt x="154" y="491"/>
                  <a:pt x="154" y="491"/>
                </a:cubicBezTo>
                <a:cubicBezTo>
                  <a:pt x="40" y="491"/>
                  <a:pt x="40" y="491"/>
                  <a:pt x="40" y="491"/>
                </a:cubicBezTo>
                <a:lnTo>
                  <a:pt x="40" y="193"/>
                </a:lnTo>
                <a:close/>
                <a:moveTo>
                  <a:pt x="97" y="63"/>
                </a:moveTo>
                <a:cubicBezTo>
                  <a:pt x="145" y="154"/>
                  <a:pt x="145" y="154"/>
                  <a:pt x="145" y="154"/>
                </a:cubicBezTo>
                <a:cubicBezTo>
                  <a:pt x="97" y="169"/>
                  <a:pt x="97" y="169"/>
                  <a:pt x="97" y="169"/>
                </a:cubicBezTo>
                <a:cubicBezTo>
                  <a:pt x="49" y="154"/>
                  <a:pt x="49" y="154"/>
                  <a:pt x="49" y="154"/>
                </a:cubicBezTo>
                <a:lnTo>
                  <a:pt x="97" y="63"/>
                </a:lnTo>
                <a:close/>
                <a:moveTo>
                  <a:pt x="40" y="577"/>
                </a:moveTo>
                <a:cubicBezTo>
                  <a:pt x="40" y="577"/>
                  <a:pt x="40" y="577"/>
                  <a:pt x="40" y="577"/>
                </a:cubicBezTo>
                <a:cubicBezTo>
                  <a:pt x="40" y="531"/>
                  <a:pt x="40" y="531"/>
                  <a:pt x="40" y="531"/>
                </a:cubicBezTo>
                <a:cubicBezTo>
                  <a:pt x="154" y="531"/>
                  <a:pt x="154" y="531"/>
                  <a:pt x="154" y="531"/>
                </a:cubicBezTo>
                <a:cubicBezTo>
                  <a:pt x="154" y="577"/>
                  <a:pt x="154" y="577"/>
                  <a:pt x="154" y="577"/>
                </a:cubicBezTo>
                <a:lnTo>
                  <a:pt x="40" y="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6"/>
          <p:cNvSpPr>
            <a:spLocks noEditPoints="1"/>
          </p:cNvSpPr>
          <p:nvPr/>
        </p:nvSpPr>
        <p:spPr bwMode="auto">
          <a:xfrm>
            <a:off x="7524224" y="1876773"/>
            <a:ext cx="289361" cy="385465"/>
          </a:xfrm>
          <a:custGeom>
            <a:avLst/>
            <a:gdLst>
              <a:gd name="T0" fmla="*/ 443 w 463"/>
              <a:gd name="T1" fmla="*/ 0 h 617"/>
              <a:gd name="T2" fmla="*/ 20 w 463"/>
              <a:gd name="T3" fmla="*/ 0 h 617"/>
              <a:gd name="T4" fmla="*/ 0 w 463"/>
              <a:gd name="T5" fmla="*/ 20 h 617"/>
              <a:gd name="T6" fmla="*/ 0 w 463"/>
              <a:gd name="T7" fmla="*/ 597 h 617"/>
              <a:gd name="T8" fmla="*/ 20 w 463"/>
              <a:gd name="T9" fmla="*/ 617 h 617"/>
              <a:gd name="T10" fmla="*/ 443 w 463"/>
              <a:gd name="T11" fmla="*/ 617 h 617"/>
              <a:gd name="T12" fmla="*/ 463 w 463"/>
              <a:gd name="T13" fmla="*/ 597 h 617"/>
              <a:gd name="T14" fmla="*/ 463 w 463"/>
              <a:gd name="T15" fmla="*/ 20 h 617"/>
              <a:gd name="T16" fmla="*/ 443 w 463"/>
              <a:gd name="T17" fmla="*/ 0 h 617"/>
              <a:gd name="T18" fmla="*/ 423 w 463"/>
              <a:gd name="T19" fmla="*/ 577 h 617"/>
              <a:gd name="T20" fmla="*/ 40 w 463"/>
              <a:gd name="T21" fmla="*/ 577 h 617"/>
              <a:gd name="T22" fmla="*/ 40 w 463"/>
              <a:gd name="T23" fmla="*/ 40 h 617"/>
              <a:gd name="T24" fmla="*/ 423 w 463"/>
              <a:gd name="T25" fmla="*/ 40 h 617"/>
              <a:gd name="T26" fmla="*/ 423 w 463"/>
              <a:gd name="T27" fmla="*/ 577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62" h="617">
                <a:moveTo>
                  <a:pt x="443" y="0"/>
                </a:move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597"/>
                  <a:pt x="0" y="597"/>
                  <a:pt x="0" y="597"/>
                </a:cubicBezTo>
                <a:cubicBezTo>
                  <a:pt x="0" y="608"/>
                  <a:pt x="9" y="617"/>
                  <a:pt x="20" y="617"/>
                </a:cubicBezTo>
                <a:cubicBezTo>
                  <a:pt x="443" y="617"/>
                  <a:pt x="443" y="617"/>
                  <a:pt x="443" y="617"/>
                </a:cubicBezTo>
                <a:cubicBezTo>
                  <a:pt x="454" y="617"/>
                  <a:pt x="463" y="608"/>
                  <a:pt x="463" y="597"/>
                </a:cubicBezTo>
                <a:cubicBezTo>
                  <a:pt x="463" y="20"/>
                  <a:pt x="463" y="20"/>
                  <a:pt x="463" y="20"/>
                </a:cubicBezTo>
                <a:cubicBezTo>
                  <a:pt x="463" y="9"/>
                  <a:pt x="454" y="0"/>
                  <a:pt x="443" y="0"/>
                </a:cubicBezTo>
                <a:close/>
                <a:moveTo>
                  <a:pt x="423" y="577"/>
                </a:moveTo>
                <a:cubicBezTo>
                  <a:pt x="40" y="577"/>
                  <a:pt x="40" y="577"/>
                  <a:pt x="40" y="577"/>
                </a:cubicBezTo>
                <a:cubicBezTo>
                  <a:pt x="40" y="40"/>
                  <a:pt x="40" y="40"/>
                  <a:pt x="40" y="40"/>
                </a:cubicBezTo>
                <a:cubicBezTo>
                  <a:pt x="423" y="40"/>
                  <a:pt x="423" y="40"/>
                  <a:pt x="423" y="40"/>
                </a:cubicBezTo>
                <a:lnTo>
                  <a:pt x="423" y="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7"/>
          <p:cNvSpPr/>
          <p:nvPr/>
        </p:nvSpPr>
        <p:spPr bwMode="auto">
          <a:xfrm>
            <a:off x="7573588" y="2026180"/>
            <a:ext cx="191945" cy="24945"/>
          </a:xfrm>
          <a:custGeom>
            <a:avLst/>
            <a:gdLst>
              <a:gd name="T0" fmla="*/ 20 w 307"/>
              <a:gd name="T1" fmla="*/ 40 h 40"/>
              <a:gd name="T2" fmla="*/ 287 w 307"/>
              <a:gd name="T3" fmla="*/ 40 h 40"/>
              <a:gd name="T4" fmla="*/ 307 w 307"/>
              <a:gd name="T5" fmla="*/ 20 h 40"/>
              <a:gd name="T6" fmla="*/ 287 w 307"/>
              <a:gd name="T7" fmla="*/ 0 h 40"/>
              <a:gd name="T8" fmla="*/ 20 w 307"/>
              <a:gd name="T9" fmla="*/ 0 h 40"/>
              <a:gd name="T10" fmla="*/ 0 w 307"/>
              <a:gd name="T11" fmla="*/ 20 h 40"/>
              <a:gd name="T12" fmla="*/ 20 w 307"/>
              <a:gd name="T13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7" h="40">
                <a:moveTo>
                  <a:pt x="20" y="40"/>
                </a:moveTo>
                <a:cubicBezTo>
                  <a:pt x="287" y="40"/>
                  <a:pt x="287" y="40"/>
                  <a:pt x="287" y="40"/>
                </a:cubicBezTo>
                <a:cubicBezTo>
                  <a:pt x="298" y="40"/>
                  <a:pt x="307" y="31"/>
                  <a:pt x="307" y="20"/>
                </a:cubicBezTo>
                <a:cubicBezTo>
                  <a:pt x="307" y="9"/>
                  <a:pt x="298" y="0"/>
                  <a:pt x="28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Freeform 8"/>
          <p:cNvSpPr/>
          <p:nvPr/>
        </p:nvSpPr>
        <p:spPr bwMode="auto">
          <a:xfrm>
            <a:off x="7573588" y="1964211"/>
            <a:ext cx="191945" cy="24945"/>
          </a:xfrm>
          <a:custGeom>
            <a:avLst/>
            <a:gdLst>
              <a:gd name="T0" fmla="*/ 20 w 307"/>
              <a:gd name="T1" fmla="*/ 40 h 40"/>
              <a:gd name="T2" fmla="*/ 287 w 307"/>
              <a:gd name="T3" fmla="*/ 40 h 40"/>
              <a:gd name="T4" fmla="*/ 307 w 307"/>
              <a:gd name="T5" fmla="*/ 20 h 40"/>
              <a:gd name="T6" fmla="*/ 287 w 307"/>
              <a:gd name="T7" fmla="*/ 0 h 40"/>
              <a:gd name="T8" fmla="*/ 20 w 307"/>
              <a:gd name="T9" fmla="*/ 0 h 40"/>
              <a:gd name="T10" fmla="*/ 0 w 307"/>
              <a:gd name="T11" fmla="*/ 20 h 40"/>
              <a:gd name="T12" fmla="*/ 20 w 307"/>
              <a:gd name="T13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7" h="40">
                <a:moveTo>
                  <a:pt x="20" y="40"/>
                </a:moveTo>
                <a:cubicBezTo>
                  <a:pt x="287" y="40"/>
                  <a:pt x="287" y="40"/>
                  <a:pt x="287" y="40"/>
                </a:cubicBezTo>
                <a:cubicBezTo>
                  <a:pt x="298" y="40"/>
                  <a:pt x="307" y="31"/>
                  <a:pt x="307" y="20"/>
                </a:cubicBezTo>
                <a:cubicBezTo>
                  <a:pt x="307" y="9"/>
                  <a:pt x="298" y="0"/>
                  <a:pt x="28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Freeform 9"/>
          <p:cNvSpPr/>
          <p:nvPr/>
        </p:nvSpPr>
        <p:spPr bwMode="auto">
          <a:xfrm>
            <a:off x="7573588" y="2087361"/>
            <a:ext cx="191945" cy="24945"/>
          </a:xfrm>
          <a:custGeom>
            <a:avLst/>
            <a:gdLst>
              <a:gd name="T0" fmla="*/ 20 w 307"/>
              <a:gd name="T1" fmla="*/ 40 h 40"/>
              <a:gd name="T2" fmla="*/ 287 w 307"/>
              <a:gd name="T3" fmla="*/ 40 h 40"/>
              <a:gd name="T4" fmla="*/ 307 w 307"/>
              <a:gd name="T5" fmla="*/ 20 h 40"/>
              <a:gd name="T6" fmla="*/ 287 w 307"/>
              <a:gd name="T7" fmla="*/ 0 h 40"/>
              <a:gd name="T8" fmla="*/ 20 w 307"/>
              <a:gd name="T9" fmla="*/ 0 h 40"/>
              <a:gd name="T10" fmla="*/ 0 w 307"/>
              <a:gd name="T11" fmla="*/ 20 h 40"/>
              <a:gd name="T12" fmla="*/ 20 w 307"/>
              <a:gd name="T13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7" h="40">
                <a:moveTo>
                  <a:pt x="20" y="40"/>
                </a:moveTo>
                <a:cubicBezTo>
                  <a:pt x="287" y="40"/>
                  <a:pt x="287" y="40"/>
                  <a:pt x="287" y="40"/>
                </a:cubicBezTo>
                <a:cubicBezTo>
                  <a:pt x="298" y="40"/>
                  <a:pt x="307" y="32"/>
                  <a:pt x="307" y="20"/>
                </a:cubicBezTo>
                <a:cubicBezTo>
                  <a:pt x="307" y="9"/>
                  <a:pt x="298" y="0"/>
                  <a:pt x="28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Freeform 10"/>
          <p:cNvSpPr/>
          <p:nvPr/>
        </p:nvSpPr>
        <p:spPr bwMode="auto">
          <a:xfrm>
            <a:off x="7573588" y="2149329"/>
            <a:ext cx="191945" cy="24945"/>
          </a:xfrm>
          <a:custGeom>
            <a:avLst/>
            <a:gdLst>
              <a:gd name="T0" fmla="*/ 20 w 307"/>
              <a:gd name="T1" fmla="*/ 40 h 40"/>
              <a:gd name="T2" fmla="*/ 287 w 307"/>
              <a:gd name="T3" fmla="*/ 40 h 40"/>
              <a:gd name="T4" fmla="*/ 307 w 307"/>
              <a:gd name="T5" fmla="*/ 20 h 40"/>
              <a:gd name="T6" fmla="*/ 287 w 307"/>
              <a:gd name="T7" fmla="*/ 0 h 40"/>
              <a:gd name="T8" fmla="*/ 20 w 307"/>
              <a:gd name="T9" fmla="*/ 0 h 40"/>
              <a:gd name="T10" fmla="*/ 0 w 307"/>
              <a:gd name="T11" fmla="*/ 20 h 40"/>
              <a:gd name="T12" fmla="*/ 20 w 307"/>
              <a:gd name="T13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7" h="40">
                <a:moveTo>
                  <a:pt x="20" y="40"/>
                </a:moveTo>
                <a:cubicBezTo>
                  <a:pt x="287" y="40"/>
                  <a:pt x="287" y="40"/>
                  <a:pt x="287" y="40"/>
                </a:cubicBezTo>
                <a:cubicBezTo>
                  <a:pt x="298" y="40"/>
                  <a:pt x="307" y="31"/>
                  <a:pt x="307" y="20"/>
                </a:cubicBezTo>
                <a:cubicBezTo>
                  <a:pt x="307" y="9"/>
                  <a:pt x="298" y="0"/>
                  <a:pt x="28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 descr="反白稿校标组合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94615"/>
            <a:ext cx="1639570" cy="412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985023" y="793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汉仪旗黑-50S" panose="00020600040101010101" charset="-122"/>
                <a:sym typeface="汉仪旗黑-50S"/>
              </a:rPr>
              <a:t>预期研究预算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矩形: 圆角 45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552792" y="996039"/>
            <a:ext cx="2569130" cy="3671888"/>
          </a:xfrm>
          <a:prstGeom prst="roundRect">
            <a:avLst>
              <a:gd name="adj" fmla="val 2547"/>
            </a:avLst>
          </a:prstGeom>
          <a:solidFill>
            <a:schemeClr val="accent1"/>
          </a:solidFill>
          <a:ln w="9525" cap="rnd">
            <a:noFill/>
            <a:prstDash val="solid"/>
          </a:ln>
          <a:effectLst>
            <a:outerShdw blurRad="342900" dist="469900" dir="5400000" sx="75000" sy="75000" algn="t" rotWithShape="0">
              <a:schemeClr val="accent1">
                <a:lumMod val="50000"/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46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3346117" y="996039"/>
            <a:ext cx="2569130" cy="3671888"/>
          </a:xfrm>
          <a:prstGeom prst="roundRect">
            <a:avLst>
              <a:gd name="adj" fmla="val 2369"/>
            </a:avLst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47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6139442" y="996039"/>
            <a:ext cx="2569130" cy="3671888"/>
          </a:xfrm>
          <a:prstGeom prst="roundRect">
            <a:avLst>
              <a:gd name="adj" fmla="val 2013"/>
            </a:avLst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690766" y="2099394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元器件购置费</a:t>
            </a:r>
          </a:p>
        </p:txBody>
      </p:sp>
      <p:sp>
        <p:nvSpPr>
          <p:cNvPr id="50" name="矩形 49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703553" y="2431803"/>
            <a:ext cx="2230024" cy="2014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用于项目开发阶段所需的软件服务与实验资源，包括大语言模型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API</a:t>
            </a: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调用费用、云服务器租赁、数据库与开发环境部署、多智能体框架测试以及相关软件工具使用等。同时用于系统运行与性能测试过程中产生的计算资源消耗，保障项目模型训练、推理实验与系统联调工作的顺利开展。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旗黑-50S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预算：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3200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元</a:t>
            </a: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3409028" y="2116019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印刷费</a:t>
            </a: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3421815" y="2448428"/>
            <a:ext cx="2361720" cy="1527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用于购买医疗人工智能、多智能体系统、提示工程等相关参考资料，以及项目实施过程中实验记录、问卷材料、阶段报告、结题材料的打印、复印与装订等费用。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旗黑-50S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预算：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500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元</a:t>
            </a: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6243668" y="2215772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版面与专利费</a:t>
            </a:r>
          </a:p>
        </p:txBody>
      </p:sp>
      <p:sp>
        <p:nvSpPr>
          <p:cNvPr id="54" name="矩形 53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/>
          <p:nvPr/>
        </p:nvSpPr>
        <p:spPr>
          <a:xfrm>
            <a:off x="6256455" y="2548181"/>
            <a:ext cx="2351232" cy="1296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用于项目成果论文投稿过程中产生的版面费、软件著作权申请费用以及成果展示材料制作等支出，支持项目成果总结与推广。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旗黑-50S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预算：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1500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元</a:t>
            </a:r>
          </a:p>
        </p:txBody>
      </p:sp>
      <p:cxnSp>
        <p:nvCxnSpPr>
          <p:cNvPr id="56" name="直接连接符 55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CxnSpPr/>
          <p:nvPr/>
        </p:nvCxnSpPr>
        <p:spPr>
          <a:xfrm>
            <a:off x="3546238" y="4289169"/>
            <a:ext cx="35634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CxnSpPr/>
          <p:nvPr/>
        </p:nvCxnSpPr>
        <p:spPr>
          <a:xfrm>
            <a:off x="6376844" y="4289169"/>
            <a:ext cx="35634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>
            <a:spLocks noEditPoints="1"/>
          </p:cNvSpPr>
          <p:nvPr/>
        </p:nvSpPr>
        <p:spPr bwMode="auto">
          <a:xfrm>
            <a:off x="848532" y="1374202"/>
            <a:ext cx="519434" cy="659675"/>
          </a:xfrm>
          <a:custGeom>
            <a:avLst/>
            <a:gdLst>
              <a:gd name="T0" fmla="*/ 613 w 623"/>
              <a:gd name="T1" fmla="*/ 84 h 798"/>
              <a:gd name="T2" fmla="*/ 504 w 623"/>
              <a:gd name="T3" fmla="*/ 10 h 798"/>
              <a:gd name="T4" fmla="*/ 423 w 623"/>
              <a:gd name="T5" fmla="*/ 91 h 798"/>
              <a:gd name="T6" fmla="*/ 224 w 623"/>
              <a:gd name="T7" fmla="*/ 291 h 798"/>
              <a:gd name="T8" fmla="*/ 181 w 623"/>
              <a:gd name="T9" fmla="*/ 283 h 798"/>
              <a:gd name="T10" fmla="*/ 181 w 623"/>
              <a:gd name="T11" fmla="*/ 318 h 798"/>
              <a:gd name="T12" fmla="*/ 132 w 623"/>
              <a:gd name="T13" fmla="*/ 383 h 798"/>
              <a:gd name="T14" fmla="*/ 206 w 623"/>
              <a:gd name="T15" fmla="*/ 492 h 798"/>
              <a:gd name="T16" fmla="*/ 241 w 623"/>
              <a:gd name="T17" fmla="*/ 492 h 798"/>
              <a:gd name="T18" fmla="*/ 305 w 623"/>
              <a:gd name="T19" fmla="*/ 443 h 798"/>
              <a:gd name="T20" fmla="*/ 341 w 623"/>
              <a:gd name="T21" fmla="*/ 408 h 798"/>
              <a:gd name="T22" fmla="*/ 446 w 623"/>
              <a:gd name="T23" fmla="*/ 287 h 798"/>
              <a:gd name="T24" fmla="*/ 496 w 623"/>
              <a:gd name="T25" fmla="*/ 268 h 798"/>
              <a:gd name="T26" fmla="*/ 463 w 623"/>
              <a:gd name="T27" fmla="*/ 550 h 798"/>
              <a:gd name="T28" fmla="*/ 75 w 623"/>
              <a:gd name="T29" fmla="*/ 525 h 798"/>
              <a:gd name="T30" fmla="*/ 75 w 623"/>
              <a:gd name="T31" fmla="*/ 574 h 798"/>
              <a:gd name="T32" fmla="*/ 312 w 623"/>
              <a:gd name="T33" fmla="*/ 574 h 798"/>
              <a:gd name="T34" fmla="*/ 298 w 623"/>
              <a:gd name="T35" fmla="*/ 649 h 798"/>
              <a:gd name="T36" fmla="*/ 0 w 623"/>
              <a:gd name="T37" fmla="*/ 674 h 798"/>
              <a:gd name="T38" fmla="*/ 0 w 623"/>
              <a:gd name="T39" fmla="*/ 773 h 798"/>
              <a:gd name="T40" fmla="*/ 25 w 623"/>
              <a:gd name="T41" fmla="*/ 798 h 798"/>
              <a:gd name="T42" fmla="*/ 596 w 623"/>
              <a:gd name="T43" fmla="*/ 773 h 798"/>
              <a:gd name="T44" fmla="*/ 596 w 623"/>
              <a:gd name="T45" fmla="*/ 674 h 798"/>
              <a:gd name="T46" fmla="*/ 571 w 623"/>
              <a:gd name="T47" fmla="*/ 649 h 798"/>
              <a:gd name="T48" fmla="*/ 497 w 623"/>
              <a:gd name="T49" fmla="*/ 624 h 798"/>
              <a:gd name="T50" fmla="*/ 596 w 623"/>
              <a:gd name="T51" fmla="*/ 395 h 798"/>
              <a:gd name="T52" fmla="*/ 525 w 623"/>
              <a:gd name="T53" fmla="*/ 229 h 798"/>
              <a:gd name="T54" fmla="*/ 613 w 623"/>
              <a:gd name="T55" fmla="*/ 120 h 798"/>
              <a:gd name="T56" fmla="*/ 546 w 623"/>
              <a:gd name="T57" fmla="*/ 748 h 798"/>
              <a:gd name="T58" fmla="*/ 50 w 623"/>
              <a:gd name="T59" fmla="*/ 698 h 798"/>
              <a:gd name="T60" fmla="*/ 348 w 623"/>
              <a:gd name="T61" fmla="*/ 649 h 798"/>
              <a:gd name="T62" fmla="*/ 397 w 623"/>
              <a:gd name="T63" fmla="*/ 574 h 798"/>
              <a:gd name="T64" fmla="*/ 447 w 623"/>
              <a:gd name="T65" fmla="*/ 649 h 798"/>
              <a:gd name="T66" fmla="*/ 522 w 623"/>
              <a:gd name="T67" fmla="*/ 63 h 798"/>
              <a:gd name="T68" fmla="*/ 522 w 623"/>
              <a:gd name="T69" fmla="*/ 141 h 798"/>
              <a:gd name="T70" fmla="*/ 516 w 623"/>
              <a:gd name="T71" fmla="*/ 132 h 798"/>
              <a:gd name="T72" fmla="*/ 488 w 623"/>
              <a:gd name="T73" fmla="*/ 105 h 798"/>
              <a:gd name="T74" fmla="*/ 522 w 623"/>
              <a:gd name="T75" fmla="*/ 63 h 798"/>
              <a:gd name="T76" fmla="*/ 184 w 623"/>
              <a:gd name="T77" fmla="*/ 400 h 798"/>
              <a:gd name="T78" fmla="*/ 263 w 623"/>
              <a:gd name="T79" fmla="*/ 400 h 798"/>
              <a:gd name="T80" fmla="*/ 298 w 623"/>
              <a:gd name="T81" fmla="*/ 365 h 798"/>
              <a:gd name="T82" fmla="*/ 348 w 623"/>
              <a:gd name="T83" fmla="*/ 237 h 798"/>
              <a:gd name="T84" fmla="*/ 354 w 623"/>
              <a:gd name="T85" fmla="*/ 246 h 798"/>
              <a:gd name="T86" fmla="*/ 382 w 623"/>
              <a:gd name="T87" fmla="*/ 273 h 798"/>
              <a:gd name="T88" fmla="*/ 298 w 623"/>
              <a:gd name="T89" fmla="*/ 365 h 798"/>
              <a:gd name="T90" fmla="*/ 385 w 623"/>
              <a:gd name="T91" fmla="*/ 189 h 798"/>
              <a:gd name="T92" fmla="*/ 484 w 623"/>
              <a:gd name="T93" fmla="*/ 189 h 798"/>
              <a:gd name="T94" fmla="*/ 435 w 623"/>
              <a:gd name="T95" fmla="*/ 239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3" h="798">
                <a:moveTo>
                  <a:pt x="613" y="120"/>
                </a:moveTo>
                <a:cubicBezTo>
                  <a:pt x="623" y="110"/>
                  <a:pt x="623" y="94"/>
                  <a:pt x="613" y="84"/>
                </a:cubicBezTo>
                <a:cubicBezTo>
                  <a:pt x="539" y="10"/>
                  <a:pt x="539" y="10"/>
                  <a:pt x="539" y="10"/>
                </a:cubicBezTo>
                <a:cubicBezTo>
                  <a:pt x="529" y="0"/>
                  <a:pt x="514" y="0"/>
                  <a:pt x="504" y="10"/>
                </a:cubicBezTo>
                <a:cubicBezTo>
                  <a:pt x="504" y="10"/>
                  <a:pt x="504" y="10"/>
                  <a:pt x="504" y="10"/>
                </a:cubicBezTo>
                <a:cubicBezTo>
                  <a:pt x="423" y="91"/>
                  <a:pt x="423" y="91"/>
                  <a:pt x="423" y="91"/>
                </a:cubicBezTo>
                <a:cubicBezTo>
                  <a:pt x="378" y="96"/>
                  <a:pt x="342" y="132"/>
                  <a:pt x="337" y="178"/>
                </a:cubicBezTo>
                <a:cubicBezTo>
                  <a:pt x="224" y="291"/>
                  <a:pt x="224" y="291"/>
                  <a:pt x="224" y="291"/>
                </a:cubicBezTo>
                <a:cubicBezTo>
                  <a:pt x="216" y="283"/>
                  <a:pt x="216" y="283"/>
                  <a:pt x="216" y="283"/>
                </a:cubicBezTo>
                <a:cubicBezTo>
                  <a:pt x="207" y="274"/>
                  <a:pt x="191" y="274"/>
                  <a:pt x="181" y="283"/>
                </a:cubicBezTo>
                <a:cubicBezTo>
                  <a:pt x="172" y="293"/>
                  <a:pt x="172" y="309"/>
                  <a:pt x="181" y="318"/>
                </a:cubicBezTo>
                <a:cubicBezTo>
                  <a:pt x="181" y="318"/>
                  <a:pt x="181" y="318"/>
                  <a:pt x="181" y="318"/>
                </a:cubicBezTo>
                <a:cubicBezTo>
                  <a:pt x="189" y="326"/>
                  <a:pt x="189" y="326"/>
                  <a:pt x="189" y="326"/>
                </a:cubicBezTo>
                <a:cubicBezTo>
                  <a:pt x="132" y="383"/>
                  <a:pt x="132" y="383"/>
                  <a:pt x="132" y="383"/>
                </a:cubicBezTo>
                <a:cubicBezTo>
                  <a:pt x="122" y="392"/>
                  <a:pt x="122" y="408"/>
                  <a:pt x="132" y="418"/>
                </a:cubicBezTo>
                <a:cubicBezTo>
                  <a:pt x="206" y="492"/>
                  <a:pt x="206" y="492"/>
                  <a:pt x="206" y="492"/>
                </a:cubicBezTo>
                <a:cubicBezTo>
                  <a:pt x="216" y="502"/>
                  <a:pt x="232" y="502"/>
                  <a:pt x="241" y="492"/>
                </a:cubicBezTo>
                <a:cubicBezTo>
                  <a:pt x="241" y="492"/>
                  <a:pt x="241" y="492"/>
                  <a:pt x="241" y="492"/>
                </a:cubicBezTo>
                <a:cubicBezTo>
                  <a:pt x="298" y="435"/>
                  <a:pt x="298" y="435"/>
                  <a:pt x="298" y="435"/>
                </a:cubicBezTo>
                <a:cubicBezTo>
                  <a:pt x="305" y="443"/>
                  <a:pt x="305" y="443"/>
                  <a:pt x="305" y="443"/>
                </a:cubicBezTo>
                <a:cubicBezTo>
                  <a:pt x="315" y="452"/>
                  <a:pt x="331" y="452"/>
                  <a:pt x="341" y="443"/>
                </a:cubicBezTo>
                <a:cubicBezTo>
                  <a:pt x="350" y="433"/>
                  <a:pt x="350" y="417"/>
                  <a:pt x="341" y="408"/>
                </a:cubicBezTo>
                <a:cubicBezTo>
                  <a:pt x="333" y="400"/>
                  <a:pt x="333" y="400"/>
                  <a:pt x="333" y="400"/>
                </a:cubicBezTo>
                <a:cubicBezTo>
                  <a:pt x="446" y="287"/>
                  <a:pt x="446" y="287"/>
                  <a:pt x="446" y="287"/>
                </a:cubicBezTo>
                <a:cubicBezTo>
                  <a:pt x="464" y="285"/>
                  <a:pt x="481" y="278"/>
                  <a:pt x="495" y="267"/>
                </a:cubicBezTo>
                <a:cubicBezTo>
                  <a:pt x="496" y="267"/>
                  <a:pt x="496" y="268"/>
                  <a:pt x="496" y="268"/>
                </a:cubicBezTo>
                <a:cubicBezTo>
                  <a:pt x="528" y="302"/>
                  <a:pt x="546" y="348"/>
                  <a:pt x="546" y="395"/>
                </a:cubicBezTo>
                <a:cubicBezTo>
                  <a:pt x="546" y="457"/>
                  <a:pt x="515" y="514"/>
                  <a:pt x="463" y="550"/>
                </a:cubicBezTo>
                <a:cubicBezTo>
                  <a:pt x="445" y="534"/>
                  <a:pt x="422" y="525"/>
                  <a:pt x="397" y="525"/>
                </a:cubicBezTo>
                <a:cubicBezTo>
                  <a:pt x="75" y="525"/>
                  <a:pt x="75" y="525"/>
                  <a:pt x="75" y="525"/>
                </a:cubicBezTo>
                <a:cubicBezTo>
                  <a:pt x="61" y="525"/>
                  <a:pt x="50" y="536"/>
                  <a:pt x="50" y="549"/>
                </a:cubicBezTo>
                <a:cubicBezTo>
                  <a:pt x="50" y="563"/>
                  <a:pt x="61" y="574"/>
                  <a:pt x="75" y="574"/>
                </a:cubicBezTo>
                <a:cubicBezTo>
                  <a:pt x="75" y="574"/>
                  <a:pt x="75" y="574"/>
                  <a:pt x="75" y="574"/>
                </a:cubicBezTo>
                <a:cubicBezTo>
                  <a:pt x="312" y="574"/>
                  <a:pt x="312" y="574"/>
                  <a:pt x="312" y="574"/>
                </a:cubicBezTo>
                <a:cubicBezTo>
                  <a:pt x="303" y="589"/>
                  <a:pt x="298" y="606"/>
                  <a:pt x="298" y="624"/>
                </a:cubicBezTo>
                <a:cubicBezTo>
                  <a:pt x="298" y="649"/>
                  <a:pt x="298" y="649"/>
                  <a:pt x="298" y="649"/>
                </a:cubicBezTo>
                <a:cubicBezTo>
                  <a:pt x="25" y="649"/>
                  <a:pt x="25" y="649"/>
                  <a:pt x="25" y="649"/>
                </a:cubicBezTo>
                <a:cubicBezTo>
                  <a:pt x="12" y="649"/>
                  <a:pt x="0" y="660"/>
                  <a:pt x="0" y="674"/>
                </a:cubicBezTo>
                <a:cubicBezTo>
                  <a:pt x="0" y="674"/>
                  <a:pt x="0" y="674"/>
                  <a:pt x="0" y="674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787"/>
                  <a:pt x="12" y="798"/>
                  <a:pt x="25" y="798"/>
                </a:cubicBezTo>
                <a:cubicBezTo>
                  <a:pt x="25" y="798"/>
                  <a:pt x="25" y="798"/>
                  <a:pt x="25" y="798"/>
                </a:cubicBezTo>
                <a:cubicBezTo>
                  <a:pt x="571" y="798"/>
                  <a:pt x="571" y="798"/>
                  <a:pt x="571" y="798"/>
                </a:cubicBezTo>
                <a:cubicBezTo>
                  <a:pt x="585" y="798"/>
                  <a:pt x="596" y="787"/>
                  <a:pt x="596" y="773"/>
                </a:cubicBezTo>
                <a:cubicBezTo>
                  <a:pt x="596" y="773"/>
                  <a:pt x="596" y="773"/>
                  <a:pt x="596" y="773"/>
                </a:cubicBezTo>
                <a:cubicBezTo>
                  <a:pt x="596" y="674"/>
                  <a:pt x="596" y="674"/>
                  <a:pt x="596" y="674"/>
                </a:cubicBezTo>
                <a:cubicBezTo>
                  <a:pt x="596" y="660"/>
                  <a:pt x="585" y="649"/>
                  <a:pt x="571" y="649"/>
                </a:cubicBezTo>
                <a:cubicBezTo>
                  <a:pt x="571" y="649"/>
                  <a:pt x="571" y="649"/>
                  <a:pt x="571" y="649"/>
                </a:cubicBezTo>
                <a:cubicBezTo>
                  <a:pt x="497" y="649"/>
                  <a:pt x="497" y="649"/>
                  <a:pt x="497" y="649"/>
                </a:cubicBezTo>
                <a:cubicBezTo>
                  <a:pt x="497" y="624"/>
                  <a:pt x="497" y="624"/>
                  <a:pt x="497" y="624"/>
                </a:cubicBezTo>
                <a:cubicBezTo>
                  <a:pt x="497" y="613"/>
                  <a:pt x="495" y="602"/>
                  <a:pt x="491" y="591"/>
                </a:cubicBezTo>
                <a:cubicBezTo>
                  <a:pt x="557" y="546"/>
                  <a:pt x="596" y="473"/>
                  <a:pt x="596" y="395"/>
                </a:cubicBezTo>
                <a:cubicBezTo>
                  <a:pt x="596" y="335"/>
                  <a:pt x="573" y="278"/>
                  <a:pt x="532" y="234"/>
                </a:cubicBezTo>
                <a:cubicBezTo>
                  <a:pt x="530" y="232"/>
                  <a:pt x="528" y="230"/>
                  <a:pt x="525" y="229"/>
                </a:cubicBezTo>
                <a:cubicBezTo>
                  <a:pt x="529" y="220"/>
                  <a:pt x="532" y="210"/>
                  <a:pt x="533" y="200"/>
                </a:cubicBezTo>
                <a:lnTo>
                  <a:pt x="613" y="120"/>
                </a:lnTo>
                <a:close/>
                <a:moveTo>
                  <a:pt x="546" y="698"/>
                </a:moveTo>
                <a:cubicBezTo>
                  <a:pt x="546" y="748"/>
                  <a:pt x="546" y="748"/>
                  <a:pt x="546" y="748"/>
                </a:cubicBezTo>
                <a:cubicBezTo>
                  <a:pt x="50" y="748"/>
                  <a:pt x="50" y="748"/>
                  <a:pt x="50" y="748"/>
                </a:cubicBezTo>
                <a:cubicBezTo>
                  <a:pt x="50" y="698"/>
                  <a:pt x="50" y="698"/>
                  <a:pt x="50" y="698"/>
                </a:cubicBezTo>
                <a:lnTo>
                  <a:pt x="546" y="698"/>
                </a:lnTo>
                <a:close/>
                <a:moveTo>
                  <a:pt x="348" y="649"/>
                </a:moveTo>
                <a:cubicBezTo>
                  <a:pt x="348" y="624"/>
                  <a:pt x="348" y="624"/>
                  <a:pt x="348" y="624"/>
                </a:cubicBezTo>
                <a:cubicBezTo>
                  <a:pt x="348" y="597"/>
                  <a:pt x="370" y="574"/>
                  <a:pt x="397" y="574"/>
                </a:cubicBezTo>
                <a:cubicBezTo>
                  <a:pt x="425" y="574"/>
                  <a:pt x="447" y="597"/>
                  <a:pt x="447" y="624"/>
                </a:cubicBezTo>
                <a:cubicBezTo>
                  <a:pt x="447" y="649"/>
                  <a:pt x="447" y="649"/>
                  <a:pt x="447" y="649"/>
                </a:cubicBezTo>
                <a:lnTo>
                  <a:pt x="348" y="649"/>
                </a:lnTo>
                <a:close/>
                <a:moveTo>
                  <a:pt x="522" y="63"/>
                </a:moveTo>
                <a:cubicBezTo>
                  <a:pt x="561" y="102"/>
                  <a:pt x="561" y="102"/>
                  <a:pt x="561" y="102"/>
                </a:cubicBezTo>
                <a:cubicBezTo>
                  <a:pt x="522" y="141"/>
                  <a:pt x="522" y="141"/>
                  <a:pt x="522" y="141"/>
                </a:cubicBezTo>
                <a:cubicBezTo>
                  <a:pt x="521" y="139"/>
                  <a:pt x="519" y="138"/>
                  <a:pt x="518" y="136"/>
                </a:cubicBezTo>
                <a:cubicBezTo>
                  <a:pt x="517" y="135"/>
                  <a:pt x="517" y="133"/>
                  <a:pt x="516" y="132"/>
                </a:cubicBezTo>
                <a:cubicBezTo>
                  <a:pt x="509" y="123"/>
                  <a:pt x="501" y="114"/>
                  <a:pt x="492" y="108"/>
                </a:cubicBezTo>
                <a:cubicBezTo>
                  <a:pt x="490" y="107"/>
                  <a:pt x="489" y="106"/>
                  <a:pt x="488" y="105"/>
                </a:cubicBezTo>
                <a:cubicBezTo>
                  <a:pt x="486" y="104"/>
                  <a:pt x="484" y="103"/>
                  <a:pt x="482" y="102"/>
                </a:cubicBezTo>
                <a:lnTo>
                  <a:pt x="522" y="63"/>
                </a:lnTo>
                <a:close/>
                <a:moveTo>
                  <a:pt x="224" y="440"/>
                </a:moveTo>
                <a:cubicBezTo>
                  <a:pt x="184" y="400"/>
                  <a:pt x="184" y="400"/>
                  <a:pt x="184" y="400"/>
                </a:cubicBezTo>
                <a:cubicBezTo>
                  <a:pt x="224" y="361"/>
                  <a:pt x="224" y="361"/>
                  <a:pt x="224" y="361"/>
                </a:cubicBezTo>
                <a:cubicBezTo>
                  <a:pt x="263" y="400"/>
                  <a:pt x="263" y="400"/>
                  <a:pt x="263" y="400"/>
                </a:cubicBezTo>
                <a:lnTo>
                  <a:pt x="224" y="440"/>
                </a:lnTo>
                <a:close/>
                <a:moveTo>
                  <a:pt x="298" y="365"/>
                </a:moveTo>
                <a:cubicBezTo>
                  <a:pt x="259" y="326"/>
                  <a:pt x="259" y="326"/>
                  <a:pt x="259" y="326"/>
                </a:cubicBezTo>
                <a:cubicBezTo>
                  <a:pt x="348" y="237"/>
                  <a:pt x="348" y="237"/>
                  <a:pt x="348" y="237"/>
                </a:cubicBezTo>
                <a:cubicBezTo>
                  <a:pt x="349" y="239"/>
                  <a:pt x="350" y="240"/>
                  <a:pt x="351" y="242"/>
                </a:cubicBezTo>
                <a:cubicBezTo>
                  <a:pt x="352" y="243"/>
                  <a:pt x="353" y="245"/>
                  <a:pt x="354" y="246"/>
                </a:cubicBezTo>
                <a:cubicBezTo>
                  <a:pt x="360" y="255"/>
                  <a:pt x="368" y="264"/>
                  <a:pt x="378" y="270"/>
                </a:cubicBezTo>
                <a:cubicBezTo>
                  <a:pt x="379" y="271"/>
                  <a:pt x="380" y="272"/>
                  <a:pt x="382" y="273"/>
                </a:cubicBezTo>
                <a:cubicBezTo>
                  <a:pt x="384" y="274"/>
                  <a:pt x="385" y="275"/>
                  <a:pt x="387" y="276"/>
                </a:cubicBezTo>
                <a:lnTo>
                  <a:pt x="298" y="365"/>
                </a:lnTo>
                <a:close/>
                <a:moveTo>
                  <a:pt x="435" y="239"/>
                </a:moveTo>
                <a:cubicBezTo>
                  <a:pt x="407" y="239"/>
                  <a:pt x="385" y="217"/>
                  <a:pt x="385" y="189"/>
                </a:cubicBezTo>
                <a:cubicBezTo>
                  <a:pt x="385" y="162"/>
                  <a:pt x="407" y="139"/>
                  <a:pt x="435" y="139"/>
                </a:cubicBezTo>
                <a:cubicBezTo>
                  <a:pt x="462" y="139"/>
                  <a:pt x="484" y="161"/>
                  <a:pt x="484" y="189"/>
                </a:cubicBezTo>
                <a:cubicBezTo>
                  <a:pt x="484" y="189"/>
                  <a:pt x="484" y="189"/>
                  <a:pt x="484" y="189"/>
                </a:cubicBezTo>
                <a:cubicBezTo>
                  <a:pt x="484" y="216"/>
                  <a:pt x="462" y="239"/>
                  <a:pt x="435" y="2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9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>
            <a:spLocks noEditPoints="1"/>
          </p:cNvSpPr>
          <p:nvPr/>
        </p:nvSpPr>
        <p:spPr bwMode="auto">
          <a:xfrm>
            <a:off x="3486997" y="1412341"/>
            <a:ext cx="585202" cy="583396"/>
          </a:xfrm>
          <a:custGeom>
            <a:avLst/>
            <a:gdLst>
              <a:gd name="T0" fmla="*/ 623 w 797"/>
              <a:gd name="T1" fmla="*/ 324 h 797"/>
              <a:gd name="T2" fmla="*/ 672 w 797"/>
              <a:gd name="T3" fmla="*/ 373 h 797"/>
              <a:gd name="T4" fmla="*/ 423 w 797"/>
              <a:gd name="T5" fmla="*/ 324 h 797"/>
              <a:gd name="T6" fmla="*/ 374 w 797"/>
              <a:gd name="T7" fmla="*/ 373 h 797"/>
              <a:gd name="T8" fmla="*/ 423 w 797"/>
              <a:gd name="T9" fmla="*/ 324 h 797"/>
              <a:gd name="T10" fmla="*/ 125 w 797"/>
              <a:gd name="T11" fmla="*/ 324 h 797"/>
              <a:gd name="T12" fmla="*/ 174 w 797"/>
              <a:gd name="T13" fmla="*/ 373 h 797"/>
              <a:gd name="T14" fmla="*/ 747 w 797"/>
              <a:gd name="T15" fmla="*/ 249 h 797"/>
              <a:gd name="T16" fmla="*/ 722 w 797"/>
              <a:gd name="T17" fmla="*/ 0 h 797"/>
              <a:gd name="T18" fmla="*/ 573 w 797"/>
              <a:gd name="T19" fmla="*/ 0 h 797"/>
              <a:gd name="T20" fmla="*/ 548 w 797"/>
              <a:gd name="T21" fmla="*/ 25 h 797"/>
              <a:gd name="T22" fmla="*/ 498 w 797"/>
              <a:gd name="T23" fmla="*/ 249 h 797"/>
              <a:gd name="T24" fmla="*/ 473 w 797"/>
              <a:gd name="T25" fmla="*/ 0 h 797"/>
              <a:gd name="T26" fmla="*/ 324 w 797"/>
              <a:gd name="T27" fmla="*/ 0 h 797"/>
              <a:gd name="T28" fmla="*/ 299 w 797"/>
              <a:gd name="T29" fmla="*/ 25 h 797"/>
              <a:gd name="T30" fmla="*/ 249 w 797"/>
              <a:gd name="T31" fmla="*/ 249 h 797"/>
              <a:gd name="T32" fmla="*/ 224 w 797"/>
              <a:gd name="T33" fmla="*/ 0 h 797"/>
              <a:gd name="T34" fmla="*/ 75 w 797"/>
              <a:gd name="T35" fmla="*/ 0 h 797"/>
              <a:gd name="T36" fmla="*/ 50 w 797"/>
              <a:gd name="T37" fmla="*/ 25 h 797"/>
              <a:gd name="T38" fmla="*/ 0 w 797"/>
              <a:gd name="T39" fmla="*/ 299 h 797"/>
              <a:gd name="T40" fmla="*/ 50 w 797"/>
              <a:gd name="T41" fmla="*/ 448 h 797"/>
              <a:gd name="T42" fmla="*/ 149 w 797"/>
              <a:gd name="T43" fmla="*/ 797 h 797"/>
              <a:gd name="T44" fmla="*/ 249 w 797"/>
              <a:gd name="T45" fmla="*/ 448 h 797"/>
              <a:gd name="T46" fmla="*/ 299 w 797"/>
              <a:gd name="T47" fmla="*/ 697 h 797"/>
              <a:gd name="T48" fmla="*/ 498 w 797"/>
              <a:gd name="T49" fmla="*/ 697 h 797"/>
              <a:gd name="T50" fmla="*/ 548 w 797"/>
              <a:gd name="T51" fmla="*/ 448 h 797"/>
              <a:gd name="T52" fmla="*/ 647 w 797"/>
              <a:gd name="T53" fmla="*/ 797 h 797"/>
              <a:gd name="T54" fmla="*/ 747 w 797"/>
              <a:gd name="T55" fmla="*/ 448 h 797"/>
              <a:gd name="T56" fmla="*/ 797 w 797"/>
              <a:gd name="T57" fmla="*/ 299 h 797"/>
              <a:gd name="T58" fmla="*/ 598 w 797"/>
              <a:gd name="T59" fmla="*/ 50 h 797"/>
              <a:gd name="T60" fmla="*/ 697 w 797"/>
              <a:gd name="T61" fmla="*/ 99 h 797"/>
              <a:gd name="T62" fmla="*/ 598 w 797"/>
              <a:gd name="T63" fmla="*/ 50 h 797"/>
              <a:gd name="T64" fmla="*/ 697 w 797"/>
              <a:gd name="T65" fmla="*/ 149 h 797"/>
              <a:gd name="T66" fmla="*/ 598 w 797"/>
              <a:gd name="T67" fmla="*/ 249 h 797"/>
              <a:gd name="T68" fmla="*/ 349 w 797"/>
              <a:gd name="T69" fmla="*/ 50 h 797"/>
              <a:gd name="T70" fmla="*/ 448 w 797"/>
              <a:gd name="T71" fmla="*/ 99 h 797"/>
              <a:gd name="T72" fmla="*/ 349 w 797"/>
              <a:gd name="T73" fmla="*/ 50 h 797"/>
              <a:gd name="T74" fmla="*/ 448 w 797"/>
              <a:gd name="T75" fmla="*/ 149 h 797"/>
              <a:gd name="T76" fmla="*/ 349 w 797"/>
              <a:gd name="T77" fmla="*/ 249 h 797"/>
              <a:gd name="T78" fmla="*/ 100 w 797"/>
              <a:gd name="T79" fmla="*/ 50 h 797"/>
              <a:gd name="T80" fmla="*/ 199 w 797"/>
              <a:gd name="T81" fmla="*/ 99 h 797"/>
              <a:gd name="T82" fmla="*/ 100 w 797"/>
              <a:gd name="T83" fmla="*/ 50 h 797"/>
              <a:gd name="T84" fmla="*/ 199 w 797"/>
              <a:gd name="T85" fmla="*/ 149 h 797"/>
              <a:gd name="T86" fmla="*/ 100 w 797"/>
              <a:gd name="T87" fmla="*/ 249 h 797"/>
              <a:gd name="T88" fmla="*/ 199 w 797"/>
              <a:gd name="T89" fmla="*/ 697 h 797"/>
              <a:gd name="T90" fmla="*/ 100 w 797"/>
              <a:gd name="T91" fmla="*/ 697 h 797"/>
              <a:gd name="T92" fmla="*/ 199 w 797"/>
              <a:gd name="T93" fmla="*/ 448 h 797"/>
              <a:gd name="T94" fmla="*/ 448 w 797"/>
              <a:gd name="T95" fmla="*/ 697 h 797"/>
              <a:gd name="T96" fmla="*/ 349 w 797"/>
              <a:gd name="T97" fmla="*/ 697 h 797"/>
              <a:gd name="T98" fmla="*/ 448 w 797"/>
              <a:gd name="T99" fmla="*/ 448 h 797"/>
              <a:gd name="T100" fmla="*/ 697 w 797"/>
              <a:gd name="T101" fmla="*/ 697 h 797"/>
              <a:gd name="T102" fmla="*/ 598 w 797"/>
              <a:gd name="T103" fmla="*/ 697 h 797"/>
              <a:gd name="T104" fmla="*/ 697 w 797"/>
              <a:gd name="T105" fmla="*/ 448 h 797"/>
              <a:gd name="T106" fmla="*/ 747 w 797"/>
              <a:gd name="T107" fmla="*/ 398 h 797"/>
              <a:gd name="T108" fmla="*/ 50 w 797"/>
              <a:gd name="T109" fmla="*/ 299 h 797"/>
              <a:gd name="T110" fmla="*/ 747 w 797"/>
              <a:gd name="T111" fmla="*/ 398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97" h="797">
                <a:moveTo>
                  <a:pt x="672" y="324"/>
                </a:moveTo>
                <a:cubicBezTo>
                  <a:pt x="623" y="324"/>
                  <a:pt x="623" y="324"/>
                  <a:pt x="623" y="324"/>
                </a:cubicBezTo>
                <a:cubicBezTo>
                  <a:pt x="623" y="373"/>
                  <a:pt x="623" y="373"/>
                  <a:pt x="623" y="373"/>
                </a:cubicBezTo>
                <a:cubicBezTo>
                  <a:pt x="672" y="373"/>
                  <a:pt x="672" y="373"/>
                  <a:pt x="672" y="373"/>
                </a:cubicBezTo>
                <a:lnTo>
                  <a:pt x="672" y="324"/>
                </a:lnTo>
                <a:close/>
                <a:moveTo>
                  <a:pt x="423" y="324"/>
                </a:moveTo>
                <a:cubicBezTo>
                  <a:pt x="374" y="324"/>
                  <a:pt x="374" y="324"/>
                  <a:pt x="374" y="324"/>
                </a:cubicBezTo>
                <a:cubicBezTo>
                  <a:pt x="374" y="373"/>
                  <a:pt x="374" y="373"/>
                  <a:pt x="374" y="373"/>
                </a:cubicBezTo>
                <a:cubicBezTo>
                  <a:pt x="423" y="373"/>
                  <a:pt x="423" y="373"/>
                  <a:pt x="423" y="373"/>
                </a:cubicBezTo>
                <a:lnTo>
                  <a:pt x="423" y="324"/>
                </a:lnTo>
                <a:close/>
                <a:moveTo>
                  <a:pt x="174" y="324"/>
                </a:moveTo>
                <a:cubicBezTo>
                  <a:pt x="125" y="324"/>
                  <a:pt x="125" y="324"/>
                  <a:pt x="125" y="324"/>
                </a:cubicBezTo>
                <a:cubicBezTo>
                  <a:pt x="125" y="373"/>
                  <a:pt x="125" y="373"/>
                  <a:pt x="125" y="373"/>
                </a:cubicBezTo>
                <a:cubicBezTo>
                  <a:pt x="174" y="373"/>
                  <a:pt x="174" y="373"/>
                  <a:pt x="174" y="373"/>
                </a:cubicBezTo>
                <a:lnTo>
                  <a:pt x="174" y="324"/>
                </a:lnTo>
                <a:close/>
                <a:moveTo>
                  <a:pt x="747" y="249"/>
                </a:moveTo>
                <a:cubicBezTo>
                  <a:pt x="747" y="25"/>
                  <a:pt x="747" y="25"/>
                  <a:pt x="747" y="25"/>
                </a:cubicBezTo>
                <a:cubicBezTo>
                  <a:pt x="747" y="11"/>
                  <a:pt x="736" y="0"/>
                  <a:pt x="722" y="0"/>
                </a:cubicBezTo>
                <a:cubicBezTo>
                  <a:pt x="722" y="0"/>
                  <a:pt x="722" y="0"/>
                  <a:pt x="722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59" y="0"/>
                  <a:pt x="548" y="11"/>
                  <a:pt x="548" y="25"/>
                </a:cubicBezTo>
                <a:cubicBezTo>
                  <a:pt x="548" y="25"/>
                  <a:pt x="548" y="25"/>
                  <a:pt x="548" y="25"/>
                </a:cubicBezTo>
                <a:cubicBezTo>
                  <a:pt x="548" y="249"/>
                  <a:pt x="548" y="249"/>
                  <a:pt x="548" y="249"/>
                </a:cubicBezTo>
                <a:cubicBezTo>
                  <a:pt x="498" y="249"/>
                  <a:pt x="498" y="249"/>
                  <a:pt x="498" y="249"/>
                </a:cubicBezTo>
                <a:cubicBezTo>
                  <a:pt x="498" y="25"/>
                  <a:pt x="498" y="25"/>
                  <a:pt x="498" y="25"/>
                </a:cubicBezTo>
                <a:cubicBezTo>
                  <a:pt x="498" y="11"/>
                  <a:pt x="487" y="0"/>
                  <a:pt x="473" y="0"/>
                </a:cubicBezTo>
                <a:cubicBezTo>
                  <a:pt x="473" y="0"/>
                  <a:pt x="473" y="0"/>
                  <a:pt x="473" y="0"/>
                </a:cubicBezTo>
                <a:cubicBezTo>
                  <a:pt x="324" y="0"/>
                  <a:pt x="324" y="0"/>
                  <a:pt x="324" y="0"/>
                </a:cubicBezTo>
                <a:cubicBezTo>
                  <a:pt x="310" y="0"/>
                  <a:pt x="299" y="11"/>
                  <a:pt x="299" y="25"/>
                </a:cubicBezTo>
                <a:cubicBezTo>
                  <a:pt x="299" y="25"/>
                  <a:pt x="299" y="25"/>
                  <a:pt x="299" y="25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49" y="249"/>
                  <a:pt x="249" y="249"/>
                  <a:pt x="249" y="249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11"/>
                  <a:pt x="238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61" y="0"/>
                  <a:pt x="50" y="11"/>
                  <a:pt x="50" y="25"/>
                </a:cubicBezTo>
                <a:cubicBezTo>
                  <a:pt x="50" y="25"/>
                  <a:pt x="50" y="25"/>
                  <a:pt x="50" y="25"/>
                </a:cubicBezTo>
                <a:cubicBezTo>
                  <a:pt x="50" y="249"/>
                  <a:pt x="50" y="249"/>
                  <a:pt x="50" y="249"/>
                </a:cubicBezTo>
                <a:cubicBezTo>
                  <a:pt x="22" y="249"/>
                  <a:pt x="0" y="271"/>
                  <a:pt x="0" y="299"/>
                </a:cubicBezTo>
                <a:cubicBezTo>
                  <a:pt x="0" y="398"/>
                  <a:pt x="0" y="398"/>
                  <a:pt x="0" y="398"/>
                </a:cubicBezTo>
                <a:cubicBezTo>
                  <a:pt x="0" y="426"/>
                  <a:pt x="22" y="448"/>
                  <a:pt x="50" y="448"/>
                </a:cubicBezTo>
                <a:cubicBezTo>
                  <a:pt x="50" y="697"/>
                  <a:pt x="50" y="697"/>
                  <a:pt x="50" y="697"/>
                </a:cubicBezTo>
                <a:cubicBezTo>
                  <a:pt x="50" y="752"/>
                  <a:pt x="94" y="797"/>
                  <a:pt x="149" y="797"/>
                </a:cubicBezTo>
                <a:cubicBezTo>
                  <a:pt x="204" y="797"/>
                  <a:pt x="249" y="752"/>
                  <a:pt x="249" y="697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99" y="448"/>
                  <a:pt x="299" y="448"/>
                  <a:pt x="299" y="448"/>
                </a:cubicBezTo>
                <a:cubicBezTo>
                  <a:pt x="299" y="697"/>
                  <a:pt x="299" y="697"/>
                  <a:pt x="299" y="697"/>
                </a:cubicBezTo>
                <a:cubicBezTo>
                  <a:pt x="299" y="752"/>
                  <a:pt x="343" y="797"/>
                  <a:pt x="398" y="797"/>
                </a:cubicBezTo>
                <a:cubicBezTo>
                  <a:pt x="453" y="797"/>
                  <a:pt x="498" y="752"/>
                  <a:pt x="498" y="697"/>
                </a:cubicBezTo>
                <a:cubicBezTo>
                  <a:pt x="498" y="448"/>
                  <a:pt x="498" y="448"/>
                  <a:pt x="498" y="448"/>
                </a:cubicBezTo>
                <a:cubicBezTo>
                  <a:pt x="548" y="448"/>
                  <a:pt x="548" y="448"/>
                  <a:pt x="548" y="448"/>
                </a:cubicBezTo>
                <a:cubicBezTo>
                  <a:pt x="548" y="697"/>
                  <a:pt x="548" y="697"/>
                  <a:pt x="548" y="697"/>
                </a:cubicBezTo>
                <a:cubicBezTo>
                  <a:pt x="548" y="752"/>
                  <a:pt x="592" y="797"/>
                  <a:pt x="647" y="797"/>
                </a:cubicBezTo>
                <a:cubicBezTo>
                  <a:pt x="702" y="797"/>
                  <a:pt x="747" y="752"/>
                  <a:pt x="747" y="697"/>
                </a:cubicBezTo>
                <a:cubicBezTo>
                  <a:pt x="747" y="448"/>
                  <a:pt x="747" y="448"/>
                  <a:pt x="747" y="448"/>
                </a:cubicBezTo>
                <a:cubicBezTo>
                  <a:pt x="775" y="448"/>
                  <a:pt x="797" y="426"/>
                  <a:pt x="797" y="398"/>
                </a:cubicBezTo>
                <a:cubicBezTo>
                  <a:pt x="797" y="299"/>
                  <a:pt x="797" y="299"/>
                  <a:pt x="797" y="299"/>
                </a:cubicBezTo>
                <a:cubicBezTo>
                  <a:pt x="797" y="271"/>
                  <a:pt x="775" y="249"/>
                  <a:pt x="747" y="249"/>
                </a:cubicBezTo>
                <a:close/>
                <a:moveTo>
                  <a:pt x="598" y="50"/>
                </a:moveTo>
                <a:cubicBezTo>
                  <a:pt x="697" y="50"/>
                  <a:pt x="697" y="50"/>
                  <a:pt x="697" y="50"/>
                </a:cubicBezTo>
                <a:cubicBezTo>
                  <a:pt x="697" y="99"/>
                  <a:pt x="697" y="99"/>
                  <a:pt x="697" y="99"/>
                </a:cubicBezTo>
                <a:cubicBezTo>
                  <a:pt x="598" y="99"/>
                  <a:pt x="598" y="99"/>
                  <a:pt x="598" y="99"/>
                </a:cubicBezTo>
                <a:lnTo>
                  <a:pt x="598" y="50"/>
                </a:lnTo>
                <a:close/>
                <a:moveTo>
                  <a:pt x="598" y="149"/>
                </a:moveTo>
                <a:cubicBezTo>
                  <a:pt x="697" y="149"/>
                  <a:pt x="697" y="149"/>
                  <a:pt x="697" y="149"/>
                </a:cubicBezTo>
                <a:cubicBezTo>
                  <a:pt x="697" y="249"/>
                  <a:pt x="697" y="249"/>
                  <a:pt x="697" y="249"/>
                </a:cubicBezTo>
                <a:cubicBezTo>
                  <a:pt x="598" y="249"/>
                  <a:pt x="598" y="249"/>
                  <a:pt x="598" y="249"/>
                </a:cubicBezTo>
                <a:lnTo>
                  <a:pt x="598" y="149"/>
                </a:lnTo>
                <a:close/>
                <a:moveTo>
                  <a:pt x="349" y="50"/>
                </a:moveTo>
                <a:cubicBezTo>
                  <a:pt x="448" y="50"/>
                  <a:pt x="448" y="50"/>
                  <a:pt x="448" y="50"/>
                </a:cubicBezTo>
                <a:cubicBezTo>
                  <a:pt x="448" y="99"/>
                  <a:pt x="448" y="99"/>
                  <a:pt x="448" y="99"/>
                </a:cubicBezTo>
                <a:cubicBezTo>
                  <a:pt x="349" y="99"/>
                  <a:pt x="349" y="99"/>
                  <a:pt x="349" y="99"/>
                </a:cubicBezTo>
                <a:lnTo>
                  <a:pt x="349" y="50"/>
                </a:lnTo>
                <a:close/>
                <a:moveTo>
                  <a:pt x="349" y="149"/>
                </a:moveTo>
                <a:cubicBezTo>
                  <a:pt x="448" y="149"/>
                  <a:pt x="448" y="149"/>
                  <a:pt x="448" y="149"/>
                </a:cubicBezTo>
                <a:cubicBezTo>
                  <a:pt x="448" y="249"/>
                  <a:pt x="448" y="249"/>
                  <a:pt x="448" y="249"/>
                </a:cubicBezTo>
                <a:cubicBezTo>
                  <a:pt x="349" y="249"/>
                  <a:pt x="349" y="249"/>
                  <a:pt x="349" y="249"/>
                </a:cubicBezTo>
                <a:lnTo>
                  <a:pt x="349" y="149"/>
                </a:lnTo>
                <a:close/>
                <a:moveTo>
                  <a:pt x="100" y="50"/>
                </a:moveTo>
                <a:cubicBezTo>
                  <a:pt x="199" y="50"/>
                  <a:pt x="199" y="50"/>
                  <a:pt x="199" y="50"/>
                </a:cubicBezTo>
                <a:cubicBezTo>
                  <a:pt x="199" y="99"/>
                  <a:pt x="199" y="99"/>
                  <a:pt x="199" y="99"/>
                </a:cubicBezTo>
                <a:cubicBezTo>
                  <a:pt x="100" y="99"/>
                  <a:pt x="100" y="99"/>
                  <a:pt x="100" y="99"/>
                </a:cubicBezTo>
                <a:lnTo>
                  <a:pt x="100" y="50"/>
                </a:lnTo>
                <a:close/>
                <a:moveTo>
                  <a:pt x="100" y="149"/>
                </a:moveTo>
                <a:cubicBezTo>
                  <a:pt x="199" y="149"/>
                  <a:pt x="199" y="149"/>
                  <a:pt x="199" y="149"/>
                </a:cubicBezTo>
                <a:cubicBezTo>
                  <a:pt x="199" y="249"/>
                  <a:pt x="199" y="249"/>
                  <a:pt x="199" y="249"/>
                </a:cubicBezTo>
                <a:cubicBezTo>
                  <a:pt x="100" y="249"/>
                  <a:pt x="100" y="249"/>
                  <a:pt x="100" y="249"/>
                </a:cubicBezTo>
                <a:lnTo>
                  <a:pt x="100" y="149"/>
                </a:lnTo>
                <a:close/>
                <a:moveTo>
                  <a:pt x="199" y="697"/>
                </a:moveTo>
                <a:cubicBezTo>
                  <a:pt x="199" y="725"/>
                  <a:pt x="177" y="747"/>
                  <a:pt x="149" y="747"/>
                </a:cubicBezTo>
                <a:cubicBezTo>
                  <a:pt x="122" y="747"/>
                  <a:pt x="100" y="725"/>
                  <a:pt x="100" y="697"/>
                </a:cubicBezTo>
                <a:cubicBezTo>
                  <a:pt x="100" y="448"/>
                  <a:pt x="100" y="448"/>
                  <a:pt x="100" y="448"/>
                </a:cubicBezTo>
                <a:cubicBezTo>
                  <a:pt x="199" y="448"/>
                  <a:pt x="199" y="448"/>
                  <a:pt x="199" y="448"/>
                </a:cubicBezTo>
                <a:lnTo>
                  <a:pt x="199" y="697"/>
                </a:lnTo>
                <a:close/>
                <a:moveTo>
                  <a:pt x="448" y="697"/>
                </a:moveTo>
                <a:cubicBezTo>
                  <a:pt x="448" y="725"/>
                  <a:pt x="426" y="747"/>
                  <a:pt x="398" y="747"/>
                </a:cubicBezTo>
                <a:cubicBezTo>
                  <a:pt x="371" y="747"/>
                  <a:pt x="349" y="725"/>
                  <a:pt x="349" y="697"/>
                </a:cubicBezTo>
                <a:cubicBezTo>
                  <a:pt x="349" y="448"/>
                  <a:pt x="349" y="448"/>
                  <a:pt x="349" y="448"/>
                </a:cubicBezTo>
                <a:cubicBezTo>
                  <a:pt x="448" y="448"/>
                  <a:pt x="448" y="448"/>
                  <a:pt x="448" y="448"/>
                </a:cubicBezTo>
                <a:lnTo>
                  <a:pt x="448" y="697"/>
                </a:lnTo>
                <a:close/>
                <a:moveTo>
                  <a:pt x="697" y="697"/>
                </a:moveTo>
                <a:cubicBezTo>
                  <a:pt x="697" y="725"/>
                  <a:pt x="675" y="747"/>
                  <a:pt x="647" y="747"/>
                </a:cubicBezTo>
                <a:cubicBezTo>
                  <a:pt x="620" y="747"/>
                  <a:pt x="598" y="725"/>
                  <a:pt x="598" y="697"/>
                </a:cubicBezTo>
                <a:cubicBezTo>
                  <a:pt x="598" y="448"/>
                  <a:pt x="598" y="448"/>
                  <a:pt x="598" y="448"/>
                </a:cubicBezTo>
                <a:cubicBezTo>
                  <a:pt x="697" y="448"/>
                  <a:pt x="697" y="448"/>
                  <a:pt x="697" y="448"/>
                </a:cubicBezTo>
                <a:lnTo>
                  <a:pt x="697" y="697"/>
                </a:lnTo>
                <a:close/>
                <a:moveTo>
                  <a:pt x="747" y="398"/>
                </a:moveTo>
                <a:cubicBezTo>
                  <a:pt x="50" y="398"/>
                  <a:pt x="50" y="398"/>
                  <a:pt x="50" y="398"/>
                </a:cubicBezTo>
                <a:cubicBezTo>
                  <a:pt x="50" y="299"/>
                  <a:pt x="50" y="299"/>
                  <a:pt x="50" y="299"/>
                </a:cubicBezTo>
                <a:cubicBezTo>
                  <a:pt x="747" y="299"/>
                  <a:pt x="747" y="299"/>
                  <a:pt x="747" y="299"/>
                </a:cubicBezTo>
                <a:lnTo>
                  <a:pt x="747" y="3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 13" descr="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"/>
          <p:cNvSpPr>
            <a:spLocks noEditPoints="1"/>
          </p:cNvSpPr>
          <p:nvPr/>
        </p:nvSpPr>
        <p:spPr bwMode="auto">
          <a:xfrm>
            <a:off x="6324306" y="1359763"/>
            <a:ext cx="519435" cy="688553"/>
          </a:xfrm>
          <a:custGeom>
            <a:avLst/>
            <a:gdLst>
              <a:gd name="T0" fmla="*/ 598 w 598"/>
              <a:gd name="T1" fmla="*/ 287 h 797"/>
              <a:gd name="T2" fmla="*/ 299 w 598"/>
              <a:gd name="T3" fmla="*/ 0 h 797"/>
              <a:gd name="T4" fmla="*/ 0 w 598"/>
              <a:gd name="T5" fmla="*/ 287 h 797"/>
              <a:gd name="T6" fmla="*/ 167 w 598"/>
              <a:gd name="T7" fmla="*/ 543 h 797"/>
              <a:gd name="T8" fmla="*/ 163 w 598"/>
              <a:gd name="T9" fmla="*/ 623 h 797"/>
              <a:gd name="T10" fmla="*/ 150 w 598"/>
              <a:gd name="T11" fmla="*/ 660 h 797"/>
              <a:gd name="T12" fmla="*/ 212 w 598"/>
              <a:gd name="T13" fmla="*/ 723 h 797"/>
              <a:gd name="T14" fmla="*/ 225 w 598"/>
              <a:gd name="T15" fmla="*/ 723 h 797"/>
              <a:gd name="T16" fmla="*/ 299 w 598"/>
              <a:gd name="T17" fmla="*/ 797 h 797"/>
              <a:gd name="T18" fmla="*/ 374 w 598"/>
              <a:gd name="T19" fmla="*/ 723 h 797"/>
              <a:gd name="T20" fmla="*/ 386 w 598"/>
              <a:gd name="T21" fmla="*/ 723 h 797"/>
              <a:gd name="T22" fmla="*/ 449 w 598"/>
              <a:gd name="T23" fmla="*/ 660 h 797"/>
              <a:gd name="T24" fmla="*/ 436 w 598"/>
              <a:gd name="T25" fmla="*/ 623 h 797"/>
              <a:gd name="T26" fmla="*/ 432 w 598"/>
              <a:gd name="T27" fmla="*/ 543 h 797"/>
              <a:gd name="T28" fmla="*/ 598 w 598"/>
              <a:gd name="T29" fmla="*/ 287 h 797"/>
              <a:gd name="T30" fmla="*/ 225 w 598"/>
              <a:gd name="T31" fmla="*/ 355 h 797"/>
              <a:gd name="T32" fmla="*/ 249 w 598"/>
              <a:gd name="T33" fmla="*/ 305 h 797"/>
              <a:gd name="T34" fmla="*/ 277 w 598"/>
              <a:gd name="T35" fmla="*/ 360 h 797"/>
              <a:gd name="T36" fmla="*/ 322 w 598"/>
              <a:gd name="T37" fmla="*/ 360 h 797"/>
              <a:gd name="T38" fmla="*/ 349 w 598"/>
              <a:gd name="T39" fmla="*/ 305 h 797"/>
              <a:gd name="T40" fmla="*/ 374 w 598"/>
              <a:gd name="T41" fmla="*/ 355 h 797"/>
              <a:gd name="T42" fmla="*/ 374 w 598"/>
              <a:gd name="T43" fmla="*/ 512 h 797"/>
              <a:gd name="T44" fmla="*/ 225 w 598"/>
              <a:gd name="T45" fmla="*/ 512 h 797"/>
              <a:gd name="T46" fmla="*/ 225 w 598"/>
              <a:gd name="T47" fmla="*/ 355 h 797"/>
              <a:gd name="T48" fmla="*/ 200 w 598"/>
              <a:gd name="T49" fmla="*/ 586 h 797"/>
              <a:gd name="T50" fmla="*/ 212 w 598"/>
              <a:gd name="T51" fmla="*/ 573 h 797"/>
              <a:gd name="T52" fmla="*/ 386 w 598"/>
              <a:gd name="T53" fmla="*/ 573 h 797"/>
              <a:gd name="T54" fmla="*/ 399 w 598"/>
              <a:gd name="T55" fmla="*/ 586 h 797"/>
              <a:gd name="T56" fmla="*/ 386 w 598"/>
              <a:gd name="T57" fmla="*/ 598 h 797"/>
              <a:gd name="T58" fmla="*/ 212 w 598"/>
              <a:gd name="T59" fmla="*/ 598 h 797"/>
              <a:gd name="T60" fmla="*/ 200 w 598"/>
              <a:gd name="T61" fmla="*/ 586 h 797"/>
              <a:gd name="T62" fmla="*/ 299 w 598"/>
              <a:gd name="T63" fmla="*/ 747 h 797"/>
              <a:gd name="T64" fmla="*/ 274 w 598"/>
              <a:gd name="T65" fmla="*/ 723 h 797"/>
              <a:gd name="T66" fmla="*/ 324 w 598"/>
              <a:gd name="T67" fmla="*/ 723 h 797"/>
              <a:gd name="T68" fmla="*/ 299 w 598"/>
              <a:gd name="T69" fmla="*/ 747 h 797"/>
              <a:gd name="T70" fmla="*/ 386 w 598"/>
              <a:gd name="T71" fmla="*/ 673 h 797"/>
              <a:gd name="T72" fmla="*/ 212 w 598"/>
              <a:gd name="T73" fmla="*/ 673 h 797"/>
              <a:gd name="T74" fmla="*/ 200 w 598"/>
              <a:gd name="T75" fmla="*/ 660 h 797"/>
              <a:gd name="T76" fmla="*/ 212 w 598"/>
              <a:gd name="T77" fmla="*/ 648 h 797"/>
              <a:gd name="T78" fmla="*/ 386 w 598"/>
              <a:gd name="T79" fmla="*/ 648 h 797"/>
              <a:gd name="T80" fmla="*/ 399 w 598"/>
              <a:gd name="T81" fmla="*/ 660 h 797"/>
              <a:gd name="T82" fmla="*/ 386 w 598"/>
              <a:gd name="T83" fmla="*/ 673 h 797"/>
              <a:gd name="T84" fmla="*/ 424 w 598"/>
              <a:gd name="T85" fmla="*/ 491 h 797"/>
              <a:gd name="T86" fmla="*/ 424 w 598"/>
              <a:gd name="T87" fmla="*/ 355 h 797"/>
              <a:gd name="T88" fmla="*/ 471 w 598"/>
              <a:gd name="T89" fmla="*/ 261 h 797"/>
              <a:gd name="T90" fmla="*/ 460 w 598"/>
              <a:gd name="T91" fmla="*/ 227 h 797"/>
              <a:gd name="T92" fmla="*/ 426 w 598"/>
              <a:gd name="T93" fmla="*/ 238 h 797"/>
              <a:gd name="T94" fmla="*/ 399 w 598"/>
              <a:gd name="T95" fmla="*/ 293 h 797"/>
              <a:gd name="T96" fmla="*/ 371 w 598"/>
              <a:gd name="T97" fmla="*/ 238 h 797"/>
              <a:gd name="T98" fmla="*/ 327 w 598"/>
              <a:gd name="T99" fmla="*/ 238 h 797"/>
              <a:gd name="T100" fmla="*/ 299 w 598"/>
              <a:gd name="T101" fmla="*/ 293 h 797"/>
              <a:gd name="T102" fmla="*/ 272 w 598"/>
              <a:gd name="T103" fmla="*/ 238 h 797"/>
              <a:gd name="T104" fmla="*/ 227 w 598"/>
              <a:gd name="T105" fmla="*/ 238 h 797"/>
              <a:gd name="T106" fmla="*/ 200 w 598"/>
              <a:gd name="T107" fmla="*/ 293 h 797"/>
              <a:gd name="T108" fmla="*/ 172 w 598"/>
              <a:gd name="T109" fmla="*/ 238 h 797"/>
              <a:gd name="T110" fmla="*/ 139 w 598"/>
              <a:gd name="T111" fmla="*/ 227 h 797"/>
              <a:gd name="T112" fmla="*/ 128 w 598"/>
              <a:gd name="T113" fmla="*/ 261 h 797"/>
              <a:gd name="T114" fmla="*/ 175 w 598"/>
              <a:gd name="T115" fmla="*/ 355 h 797"/>
              <a:gd name="T116" fmla="*/ 175 w 598"/>
              <a:gd name="T117" fmla="*/ 491 h 797"/>
              <a:gd name="T118" fmla="*/ 50 w 598"/>
              <a:gd name="T119" fmla="*/ 287 h 797"/>
              <a:gd name="T120" fmla="*/ 299 w 598"/>
              <a:gd name="T121" fmla="*/ 50 h 797"/>
              <a:gd name="T122" fmla="*/ 548 w 598"/>
              <a:gd name="T123" fmla="*/ 287 h 797"/>
              <a:gd name="T124" fmla="*/ 424 w 598"/>
              <a:gd name="T125" fmla="*/ 49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8" h="797">
                <a:moveTo>
                  <a:pt x="598" y="287"/>
                </a:moveTo>
                <a:cubicBezTo>
                  <a:pt x="598" y="129"/>
                  <a:pt x="464" y="0"/>
                  <a:pt x="299" y="0"/>
                </a:cubicBezTo>
                <a:cubicBezTo>
                  <a:pt x="134" y="0"/>
                  <a:pt x="0" y="129"/>
                  <a:pt x="0" y="287"/>
                </a:cubicBezTo>
                <a:cubicBezTo>
                  <a:pt x="0" y="399"/>
                  <a:pt x="68" y="496"/>
                  <a:pt x="167" y="543"/>
                </a:cubicBezTo>
                <a:cubicBezTo>
                  <a:pt x="146" y="565"/>
                  <a:pt x="144" y="599"/>
                  <a:pt x="163" y="623"/>
                </a:cubicBezTo>
                <a:cubicBezTo>
                  <a:pt x="154" y="634"/>
                  <a:pt x="150" y="647"/>
                  <a:pt x="150" y="660"/>
                </a:cubicBezTo>
                <a:cubicBezTo>
                  <a:pt x="150" y="695"/>
                  <a:pt x="178" y="723"/>
                  <a:pt x="212" y="723"/>
                </a:cubicBezTo>
                <a:cubicBezTo>
                  <a:pt x="225" y="723"/>
                  <a:pt x="225" y="723"/>
                  <a:pt x="225" y="723"/>
                </a:cubicBezTo>
                <a:cubicBezTo>
                  <a:pt x="225" y="764"/>
                  <a:pt x="258" y="797"/>
                  <a:pt x="299" y="797"/>
                </a:cubicBezTo>
                <a:cubicBezTo>
                  <a:pt x="340" y="797"/>
                  <a:pt x="374" y="764"/>
                  <a:pt x="374" y="723"/>
                </a:cubicBezTo>
                <a:cubicBezTo>
                  <a:pt x="386" y="723"/>
                  <a:pt x="386" y="723"/>
                  <a:pt x="386" y="723"/>
                </a:cubicBezTo>
                <a:cubicBezTo>
                  <a:pt x="421" y="723"/>
                  <a:pt x="449" y="695"/>
                  <a:pt x="449" y="660"/>
                </a:cubicBezTo>
                <a:cubicBezTo>
                  <a:pt x="449" y="647"/>
                  <a:pt x="444" y="634"/>
                  <a:pt x="436" y="623"/>
                </a:cubicBezTo>
                <a:cubicBezTo>
                  <a:pt x="454" y="599"/>
                  <a:pt x="453" y="565"/>
                  <a:pt x="432" y="543"/>
                </a:cubicBezTo>
                <a:cubicBezTo>
                  <a:pt x="530" y="496"/>
                  <a:pt x="598" y="399"/>
                  <a:pt x="598" y="287"/>
                </a:cubicBezTo>
                <a:close/>
                <a:moveTo>
                  <a:pt x="225" y="355"/>
                </a:moveTo>
                <a:cubicBezTo>
                  <a:pt x="249" y="305"/>
                  <a:pt x="249" y="305"/>
                  <a:pt x="249" y="305"/>
                </a:cubicBezTo>
                <a:cubicBezTo>
                  <a:pt x="277" y="360"/>
                  <a:pt x="277" y="360"/>
                  <a:pt x="277" y="360"/>
                </a:cubicBezTo>
                <a:cubicBezTo>
                  <a:pt x="285" y="377"/>
                  <a:pt x="313" y="377"/>
                  <a:pt x="322" y="360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74" y="355"/>
                  <a:pt x="374" y="355"/>
                  <a:pt x="374" y="355"/>
                </a:cubicBezTo>
                <a:cubicBezTo>
                  <a:pt x="374" y="512"/>
                  <a:pt x="374" y="512"/>
                  <a:pt x="374" y="512"/>
                </a:cubicBezTo>
                <a:cubicBezTo>
                  <a:pt x="325" y="527"/>
                  <a:pt x="273" y="527"/>
                  <a:pt x="225" y="512"/>
                </a:cubicBezTo>
                <a:lnTo>
                  <a:pt x="225" y="355"/>
                </a:lnTo>
                <a:close/>
                <a:moveTo>
                  <a:pt x="200" y="586"/>
                </a:moveTo>
                <a:cubicBezTo>
                  <a:pt x="200" y="579"/>
                  <a:pt x="205" y="573"/>
                  <a:pt x="212" y="573"/>
                </a:cubicBezTo>
                <a:cubicBezTo>
                  <a:pt x="386" y="573"/>
                  <a:pt x="386" y="573"/>
                  <a:pt x="386" y="573"/>
                </a:cubicBezTo>
                <a:cubicBezTo>
                  <a:pt x="393" y="573"/>
                  <a:pt x="399" y="579"/>
                  <a:pt x="399" y="586"/>
                </a:cubicBezTo>
                <a:cubicBezTo>
                  <a:pt x="399" y="593"/>
                  <a:pt x="393" y="598"/>
                  <a:pt x="386" y="598"/>
                </a:cubicBezTo>
                <a:cubicBezTo>
                  <a:pt x="212" y="598"/>
                  <a:pt x="212" y="598"/>
                  <a:pt x="212" y="598"/>
                </a:cubicBezTo>
                <a:cubicBezTo>
                  <a:pt x="205" y="598"/>
                  <a:pt x="200" y="592"/>
                  <a:pt x="200" y="586"/>
                </a:cubicBezTo>
                <a:close/>
                <a:moveTo>
                  <a:pt x="299" y="747"/>
                </a:moveTo>
                <a:cubicBezTo>
                  <a:pt x="285" y="747"/>
                  <a:pt x="274" y="736"/>
                  <a:pt x="274" y="723"/>
                </a:cubicBezTo>
                <a:cubicBezTo>
                  <a:pt x="324" y="723"/>
                  <a:pt x="324" y="723"/>
                  <a:pt x="324" y="723"/>
                </a:cubicBezTo>
                <a:cubicBezTo>
                  <a:pt x="324" y="736"/>
                  <a:pt x="313" y="747"/>
                  <a:pt x="299" y="747"/>
                </a:cubicBezTo>
                <a:close/>
                <a:moveTo>
                  <a:pt x="386" y="673"/>
                </a:moveTo>
                <a:cubicBezTo>
                  <a:pt x="212" y="673"/>
                  <a:pt x="212" y="673"/>
                  <a:pt x="212" y="673"/>
                </a:cubicBezTo>
                <a:cubicBezTo>
                  <a:pt x="205" y="673"/>
                  <a:pt x="200" y="667"/>
                  <a:pt x="200" y="660"/>
                </a:cubicBezTo>
                <a:cubicBezTo>
                  <a:pt x="200" y="653"/>
                  <a:pt x="205" y="648"/>
                  <a:pt x="212" y="648"/>
                </a:cubicBezTo>
                <a:cubicBezTo>
                  <a:pt x="386" y="648"/>
                  <a:pt x="386" y="648"/>
                  <a:pt x="386" y="648"/>
                </a:cubicBezTo>
                <a:cubicBezTo>
                  <a:pt x="393" y="648"/>
                  <a:pt x="399" y="654"/>
                  <a:pt x="399" y="660"/>
                </a:cubicBezTo>
                <a:cubicBezTo>
                  <a:pt x="399" y="667"/>
                  <a:pt x="393" y="673"/>
                  <a:pt x="386" y="673"/>
                </a:cubicBezTo>
                <a:close/>
                <a:moveTo>
                  <a:pt x="424" y="491"/>
                </a:moveTo>
                <a:cubicBezTo>
                  <a:pt x="424" y="355"/>
                  <a:pt x="424" y="355"/>
                  <a:pt x="424" y="355"/>
                </a:cubicBezTo>
                <a:cubicBezTo>
                  <a:pt x="471" y="261"/>
                  <a:pt x="471" y="261"/>
                  <a:pt x="471" y="261"/>
                </a:cubicBezTo>
                <a:cubicBezTo>
                  <a:pt x="477" y="248"/>
                  <a:pt x="472" y="233"/>
                  <a:pt x="460" y="227"/>
                </a:cubicBezTo>
                <a:cubicBezTo>
                  <a:pt x="447" y="221"/>
                  <a:pt x="433" y="226"/>
                  <a:pt x="426" y="23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71" y="238"/>
                  <a:pt x="371" y="238"/>
                  <a:pt x="371" y="238"/>
                </a:cubicBezTo>
                <a:cubicBezTo>
                  <a:pt x="363" y="221"/>
                  <a:pt x="335" y="221"/>
                  <a:pt x="327" y="238"/>
                </a:cubicBezTo>
                <a:cubicBezTo>
                  <a:pt x="299" y="293"/>
                  <a:pt x="299" y="293"/>
                  <a:pt x="299" y="293"/>
                </a:cubicBezTo>
                <a:cubicBezTo>
                  <a:pt x="272" y="238"/>
                  <a:pt x="272" y="238"/>
                  <a:pt x="272" y="238"/>
                </a:cubicBezTo>
                <a:cubicBezTo>
                  <a:pt x="263" y="221"/>
                  <a:pt x="236" y="221"/>
                  <a:pt x="227" y="238"/>
                </a:cubicBezTo>
                <a:cubicBezTo>
                  <a:pt x="200" y="293"/>
                  <a:pt x="200" y="293"/>
                  <a:pt x="200" y="293"/>
                </a:cubicBezTo>
                <a:cubicBezTo>
                  <a:pt x="172" y="238"/>
                  <a:pt x="172" y="238"/>
                  <a:pt x="172" y="238"/>
                </a:cubicBezTo>
                <a:cubicBezTo>
                  <a:pt x="166" y="226"/>
                  <a:pt x="151" y="221"/>
                  <a:pt x="139" y="227"/>
                </a:cubicBezTo>
                <a:cubicBezTo>
                  <a:pt x="126" y="234"/>
                  <a:pt x="122" y="248"/>
                  <a:pt x="128" y="261"/>
                </a:cubicBezTo>
                <a:cubicBezTo>
                  <a:pt x="175" y="355"/>
                  <a:pt x="175" y="355"/>
                  <a:pt x="175" y="355"/>
                </a:cubicBezTo>
                <a:cubicBezTo>
                  <a:pt x="175" y="491"/>
                  <a:pt x="175" y="491"/>
                  <a:pt x="175" y="491"/>
                </a:cubicBezTo>
                <a:cubicBezTo>
                  <a:pt x="100" y="450"/>
                  <a:pt x="50" y="374"/>
                  <a:pt x="50" y="287"/>
                </a:cubicBezTo>
                <a:cubicBezTo>
                  <a:pt x="50" y="156"/>
                  <a:pt x="162" y="50"/>
                  <a:pt x="299" y="50"/>
                </a:cubicBezTo>
                <a:cubicBezTo>
                  <a:pt x="437" y="50"/>
                  <a:pt x="548" y="156"/>
                  <a:pt x="548" y="287"/>
                </a:cubicBezTo>
                <a:cubicBezTo>
                  <a:pt x="548" y="374"/>
                  <a:pt x="498" y="450"/>
                  <a:pt x="424" y="4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反白稿校标组合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08585"/>
            <a:ext cx="1639570" cy="412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B7735-2A14-CAF4-92FF-C44DC0CA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777CDFA-B870-CFA0-2EC9-8485C45B3E33}"/>
              </a:ext>
            </a:extLst>
          </p:cNvPr>
          <p:cNvSpPr/>
          <p:nvPr/>
        </p:nvSpPr>
        <p:spPr>
          <a:xfrm>
            <a:off x="299259" y="257204"/>
            <a:ext cx="8545483" cy="462909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0S" panose="00020600040101010101" charset="-122"/>
              <a:sym typeface="汉仪旗黑-50S"/>
            </a:endParaRPr>
          </a:p>
        </p:txBody>
      </p:sp>
      <p:sp>
        <p:nvSpPr>
          <p:cNvPr id="5" name="TextBox 38" descr="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">
            <a:extLst>
              <a:ext uri="{FF2B5EF4-FFF2-40B4-BE49-F238E27FC236}">
                <a16:creationId xmlns:a16="http://schemas.microsoft.com/office/drawing/2014/main" id="{042F8AD0-4387-EF8F-C6F9-193D8015DC05}"/>
              </a:ext>
            </a:extLst>
          </p:cNvPr>
          <p:cNvSpPr txBox="1"/>
          <p:nvPr/>
        </p:nvSpPr>
        <p:spPr>
          <a:xfrm>
            <a:off x="3161711" y="807524"/>
            <a:ext cx="2820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 w="63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汉仪旗黑-50S" panose="00020600040101010101" charset="-122"/>
                <a:sym typeface="汉仪旗黑-50S"/>
              </a:rPr>
              <a:t>致 谢</a:t>
            </a:r>
            <a:endParaRPr kumimoji="0" lang="en-US" altLang="zh-CN" sz="4000" b="1" i="0" u="none" strike="noStrike" kern="1200" cap="none" spc="0" normalizeH="0" baseline="0" noProof="0" dirty="0">
              <a:ln w="6350"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汉仪旗黑-50S" panose="00020600040101010101" charset="-122"/>
              <a:sym typeface="汉仪旗黑-50S"/>
            </a:endParaRPr>
          </a:p>
        </p:txBody>
      </p:sp>
      <p:sp>
        <p:nvSpPr>
          <p:cNvPr id="6" name="矩形 5" descr="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">
            <a:extLst>
              <a:ext uri="{FF2B5EF4-FFF2-40B4-BE49-F238E27FC236}">
                <a16:creationId xmlns:a16="http://schemas.microsoft.com/office/drawing/2014/main" id="{94712EF7-31E4-740A-B3D4-B85339261E9F}"/>
              </a:ext>
            </a:extLst>
          </p:cNvPr>
          <p:cNvSpPr/>
          <p:nvPr/>
        </p:nvSpPr>
        <p:spPr>
          <a:xfrm>
            <a:off x="898524" y="1883483"/>
            <a:ext cx="7346950" cy="2181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感谢学校与学院提供这一宝贵的实践平台，让我们有机会将课堂所学与创新想法相结合，迈出探索科研的第一步。特别感谢学院在项目申报过程中给予的悉心指导与大力支持，为我们提供了清晰的申报指引和必要的帮助，让项目得以顺利立项。我们深知此次机会来之不易，也明白科研之路需要脚踏实地、持之以恒。后续我们将以认真严谨的态度投入项目研究，在实践中学习、在探索中成长，不辜负学院的信任与期待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A81AEA5-7CED-5741-6512-E358F7A04833}"/>
              </a:ext>
            </a:extLst>
          </p:cNvPr>
          <p:cNvCxnSpPr/>
          <p:nvPr/>
        </p:nvCxnSpPr>
        <p:spPr>
          <a:xfrm>
            <a:off x="4443131" y="1660672"/>
            <a:ext cx="25773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">
            <a:extLst>
              <a:ext uri="{FF2B5EF4-FFF2-40B4-BE49-F238E27FC236}">
                <a16:creationId xmlns:a16="http://schemas.microsoft.com/office/drawing/2014/main" id="{87BF9E00-9F73-5A99-6184-AE6D379B7611}"/>
              </a:ext>
            </a:extLst>
          </p:cNvPr>
          <p:cNvSpPr txBox="1"/>
          <p:nvPr/>
        </p:nvSpPr>
        <p:spPr>
          <a:xfrm>
            <a:off x="0" y="5"/>
            <a:ext cx="453650" cy="9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行业</a:t>
            </a:r>
            <a:r>
              <a:rPr kumimoji="0" lang="en-US" altLang="zh-CN" sz="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PPT</a:t>
            </a:r>
            <a:r>
              <a:rPr kumimoji="0" lang="zh-CN" altLang="en-US" sz="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模板</a:t>
            </a:r>
            <a:r>
              <a:rPr kumimoji="0" lang="en-US" altLang="zh-CN" sz="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http://www.1ppt.com/hangye/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23FA500-ECCC-1E73-0CEE-275611BB1658}"/>
              </a:ext>
            </a:extLst>
          </p:cNvPr>
          <p:cNvSpPr/>
          <p:nvPr/>
        </p:nvSpPr>
        <p:spPr>
          <a:xfrm>
            <a:off x="6703060" y="501303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A21F01B-3B9E-9E86-FADA-A50E5E2D655B}"/>
              </a:ext>
            </a:extLst>
          </p:cNvPr>
          <p:cNvGrpSpPr/>
          <p:nvPr/>
        </p:nvGrpSpPr>
        <p:grpSpPr>
          <a:xfrm>
            <a:off x="8540932" y="565495"/>
            <a:ext cx="206828" cy="123371"/>
            <a:chOff x="6709229" y="856343"/>
            <a:chExt cx="232229" cy="58057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DF97A81-C466-03DD-C17F-B6C554070FC0}"/>
                </a:ext>
              </a:extLst>
            </p:cNvPr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AF57EB09-929D-7591-F325-78C5721D3DB2}"/>
                </a:ext>
              </a:extLst>
            </p:cNvPr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130C2D8-FDE7-34F0-7601-1B5488C47024}"/>
                </a:ext>
              </a:extLst>
            </p:cNvPr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占位符 9" descr="e1e5b2e9-ad9f-4c75-9471-db340264e94a">
            <a:extLst>
              <a:ext uri="{FF2B5EF4-FFF2-40B4-BE49-F238E27FC236}">
                <a16:creationId xmlns:a16="http://schemas.microsoft.com/office/drawing/2014/main" id="{AD27D522-812D-80AF-852D-653825ED771D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591935" y="4224655"/>
            <a:ext cx="1283335" cy="661670"/>
          </a:xfrm>
          <a:prstGeom prst="rect">
            <a:avLst/>
          </a:prstGeom>
        </p:spPr>
      </p:pic>
      <p:pic>
        <p:nvPicPr>
          <p:cNvPr id="12" name="图片占位符 12" descr="4f618d73-2c01-4a2f-a8a4-7c2c53bf0c3d">
            <a:extLst>
              <a:ext uri="{FF2B5EF4-FFF2-40B4-BE49-F238E27FC236}">
                <a16:creationId xmlns:a16="http://schemas.microsoft.com/office/drawing/2014/main" id="{6FDE52B9-466C-D0FF-565A-2D20A0A0B01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7868920" y="4248785"/>
            <a:ext cx="841375" cy="576580"/>
          </a:xfrm>
          <a:prstGeom prst="rect">
            <a:avLst/>
          </a:prstGeom>
        </p:spPr>
      </p:pic>
      <p:pic>
        <p:nvPicPr>
          <p:cNvPr id="8" name="图片 7" descr="反白稿校标组合-3">
            <a:extLst>
              <a:ext uri="{FF2B5EF4-FFF2-40B4-BE49-F238E27FC236}">
                <a16:creationId xmlns:a16="http://schemas.microsoft.com/office/drawing/2014/main" id="{FF670D73-8F27-45FE-EA2B-2CF4BD6AD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95" y="450850"/>
            <a:ext cx="1639570" cy="4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26443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42B6-871E-6C12-5486-A573B0F2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晏振东-思源3">
            <a:extLst>
              <a:ext uri="{FF2B5EF4-FFF2-40B4-BE49-F238E27FC236}">
                <a16:creationId xmlns:a16="http://schemas.microsoft.com/office/drawing/2014/main" id="{4300EA87-BC51-B964-EAF5-F3B941C21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246" b="12120"/>
          <a:stretch>
            <a:fillRect/>
          </a:stretch>
        </p:blipFill>
        <p:spPr>
          <a:xfrm>
            <a:off x="0" y="1040418"/>
            <a:ext cx="9144000" cy="41030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922C91A-5FE5-E563-BB09-4CAC917499F2}"/>
              </a:ext>
            </a:extLst>
          </p:cNvPr>
          <p:cNvSpPr/>
          <p:nvPr/>
        </p:nvSpPr>
        <p:spPr>
          <a:xfrm>
            <a:off x="0" y="-762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D26DE1-C7A8-E38A-22B2-D9D7A95F5072}"/>
              </a:ext>
            </a:extLst>
          </p:cNvPr>
          <p:cNvSpPr/>
          <p:nvPr/>
        </p:nvSpPr>
        <p:spPr>
          <a:xfrm>
            <a:off x="-1" y="1478568"/>
            <a:ext cx="9144000" cy="36649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1369757-0C6E-82BF-97E9-4E3AC0FA52D4}"/>
              </a:ext>
            </a:extLst>
          </p:cNvPr>
          <p:cNvSpPr/>
          <p:nvPr/>
        </p:nvSpPr>
        <p:spPr>
          <a:xfrm>
            <a:off x="6986270" y="283498"/>
            <a:ext cx="172212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5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旗黑-50S" panose="00020600040101010101" charset="-122"/>
                <a:sym typeface="汉仪旗黑-50S"/>
              </a:rPr>
              <a:t>饮 水 思 源      爱 国 荣 校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F580D8E-9037-63CA-FFBD-078CF5427E20}"/>
              </a:ext>
            </a:extLst>
          </p:cNvPr>
          <p:cNvSpPr/>
          <p:nvPr/>
        </p:nvSpPr>
        <p:spPr>
          <a:xfrm>
            <a:off x="3738489" y="766689"/>
            <a:ext cx="1667021" cy="1667021"/>
          </a:xfrm>
          <a:prstGeom prst="ellipse">
            <a:avLst/>
          </a:prstGeom>
          <a:ln w="57150">
            <a:solidFill>
              <a:srgbClr val="EEF2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7C32244-ECE7-22E9-88EE-1C9FE2086C31}"/>
              </a:ext>
            </a:extLst>
          </p:cNvPr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B6208A-2076-6357-93D5-81448872D623}"/>
                </a:ext>
              </a:extLst>
            </p:cNvPr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07D60BA-4DD7-5C04-B873-C72299608FFC}"/>
                </a:ext>
              </a:extLst>
            </p:cNvPr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E0D84E4-68CB-9C7D-5D0E-0E6AF316CD93}"/>
                </a:ext>
              </a:extLst>
            </p:cNvPr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 descr="校徽(1)">
            <a:extLst>
              <a:ext uri="{FF2B5EF4-FFF2-40B4-BE49-F238E27FC236}">
                <a16:creationId xmlns:a16="http://schemas.microsoft.com/office/drawing/2014/main" id="{6859D882-D0D3-8B94-5AA3-B12195F69C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  <a:alpha val="0"/>
                </a:srgbClr>
              </a:clrTo>
            </a:clrChange>
            <a:lum bright="100000" contrast="-70000"/>
          </a:blip>
          <a:srcRect l="26399" r="24283" b="2118"/>
          <a:stretch>
            <a:fillRect/>
          </a:stretch>
        </p:blipFill>
        <p:spPr>
          <a:xfrm>
            <a:off x="3948430" y="996950"/>
            <a:ext cx="1288415" cy="1177290"/>
          </a:xfrm>
          <a:prstGeom prst="rect">
            <a:avLst/>
          </a:prstGeom>
          <a:effectLst/>
        </p:spPr>
      </p:pic>
      <p:pic>
        <p:nvPicPr>
          <p:cNvPr id="16" name="图片占位符 15" descr="e1e5b2e9-ad9f-4c75-9471-db340264e94a">
            <a:extLst>
              <a:ext uri="{FF2B5EF4-FFF2-40B4-BE49-F238E27FC236}">
                <a16:creationId xmlns:a16="http://schemas.microsoft.com/office/drawing/2014/main" id="{09B21125-F7D9-08EA-125D-D5093257266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>
            <a:lum bright="100000"/>
          </a:blip>
          <a:stretch>
            <a:fillRect/>
          </a:stretch>
        </p:blipFill>
        <p:spPr>
          <a:xfrm>
            <a:off x="7039610" y="472440"/>
            <a:ext cx="1283335" cy="661670"/>
          </a:xfrm>
          <a:prstGeom prst="rect">
            <a:avLst/>
          </a:prstGeom>
        </p:spPr>
      </p:pic>
      <p:pic>
        <p:nvPicPr>
          <p:cNvPr id="17" name="图片占位符 12" descr="4f618d73-2c01-4a2f-a8a4-7c2c53bf0c3d">
            <a:extLst>
              <a:ext uri="{FF2B5EF4-FFF2-40B4-BE49-F238E27FC236}">
                <a16:creationId xmlns:a16="http://schemas.microsoft.com/office/drawing/2014/main" id="{E60C387B-FC76-FA70-0C8E-C42898F3477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8316595" y="496570"/>
            <a:ext cx="841375" cy="576580"/>
          </a:xfrm>
          <a:prstGeom prst="rect">
            <a:avLst/>
          </a:prstGeom>
        </p:spPr>
      </p:pic>
      <p:pic>
        <p:nvPicPr>
          <p:cNvPr id="6" name="图片 5" descr="反白稿校标组合-3">
            <a:extLst>
              <a:ext uri="{FF2B5EF4-FFF2-40B4-BE49-F238E27FC236}">
                <a16:creationId xmlns:a16="http://schemas.microsoft.com/office/drawing/2014/main" id="{A68A896C-AB06-14C5-0338-CACCA8FCF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95" y="283210"/>
            <a:ext cx="1639570" cy="4127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E98189C-3ECD-C2A6-4A18-ABA5ABAE5771}"/>
              </a:ext>
            </a:extLst>
          </p:cNvPr>
          <p:cNvSpPr/>
          <p:nvPr/>
        </p:nvSpPr>
        <p:spPr bwMode="auto">
          <a:xfrm>
            <a:off x="2150504" y="2571750"/>
            <a:ext cx="48429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0S"/>
              </a:rPr>
              <a:t>感 谢 各 位 批 评 指 正</a:t>
            </a:r>
          </a:p>
        </p:txBody>
      </p:sp>
    </p:spTree>
    <p:extLst>
      <p:ext uri="{BB962C8B-B14F-4D97-AF65-F5344CB8AC3E}">
        <p14:creationId xmlns:p14="http://schemas.microsoft.com/office/powerpoint/2010/main" val="38450063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第一PPT，www.1ppt.com">
  <a:themeElements>
    <a:clrScheme name="蓝色清新答辩1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304371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汉仪雅酷黑 65W">
      <a:majorFont>
        <a:latin typeface="汉仪旗黑-50S"/>
        <a:ea typeface="汉仪雅酷黑 65W"/>
        <a:cs typeface="Arial"/>
      </a:majorFont>
      <a:minorFont>
        <a:latin typeface="汉仪旗黑-50S"/>
        <a:ea typeface="汉仪旗黑-50S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汉仪旗黑-50S"/>
        <a:font script="Hebr" typeface="汉仪旗黑-50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S"/>
        <a:font script="Uigh" typeface="Microsoft Uighur"/>
        <a:font script="Geor" typeface="Sylfaen"/>
      </a:majorFont>
      <a:min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汉仪旗黑-50S"/>
        <a:font script="Hebr" typeface="汉仪旗黑-50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S"/>
        <a:font script="Uigh" typeface="Microsoft Uighur"/>
        <a:font script="Geor" typeface="Sylfaen"/>
      </a:majorFont>
      <a:min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397</TotalTime>
  <Words>1254</Words>
  <Application>Microsoft Office PowerPoint</Application>
  <PresentationFormat>全屏显示(16:9)</PresentationFormat>
  <Paragraphs>127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汉仪雅酷黑 65W</vt:lpstr>
      <vt:lpstr>思源宋体 CN Heavy</vt:lpstr>
      <vt:lpstr>微软雅黑</vt:lpstr>
      <vt:lpstr>Arial</vt:lpstr>
      <vt:lpstr>Helvetica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高级答辩</dc:title>
  <dc:creator>第一PPT</dc:creator>
  <cp:keywords>www.1ppt.com</cp:keywords>
  <dc:description>www.1ppt.com</dc:description>
  <cp:lastModifiedBy>GameAcc WForstBreeze</cp:lastModifiedBy>
  <cp:revision>118</cp:revision>
  <dcterms:created xsi:type="dcterms:W3CDTF">2021-12-15T02:56:00Z</dcterms:created>
  <dcterms:modified xsi:type="dcterms:W3CDTF">2026-06-01T13:15:28Z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7501E53067CF461DAEE7FC70FAA99DA6_13</vt:lpwstr>
  </property>
  <property fmtid="{D5CDD505-2E9C-101B-9397-08002B2CF9AE}" pid="3" name="KSOProductBuildVer">
    <vt:lpwstr>2052-12.1.0.25865</vt:lpwstr>
  </property>
  <property fmtid="{D5CDD505-2E9C-101B-9397-08002B2CF9AE}" pid="4" name="KSOTemplateUUID">
    <vt:lpwstr>v1.0_mb_nCm6L9xiEG7jF5Ub3wU6/A==</vt:lpwstr>
  </property>
</Properties>
</file>